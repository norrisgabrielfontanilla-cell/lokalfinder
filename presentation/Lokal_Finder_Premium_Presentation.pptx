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236a587-64a0-6361-2bd7-49a5b7ead8ef}">
          <p14:sldIdLst>
            <p14:sldId id="256"/>
          </p14:sldIdLst>
        </p14:section>
        <p14:section name="The Story" id="{80ae9bd7-280f-ab3d-6d49-9aca05e5ecc1}">
          <p14:sldIdLst>
            <p14:sldId id="257"/>
            <p14:sldId id="258"/>
          </p14:sldIdLst>
        </p14:section>
        <p14:section name="The Product" id="{7b0e8af2-7b75-6543-e36a-ca241fa24754}">
          <p14:sldIdLst>
            <p14:sldId id="259"/>
            <p14:sldId id="260"/>
            <p14:sldId id="261"/>
            <p14:sldId id="262"/>
          </p14:sldIdLst>
        </p14:section>
        <p14:section name="The Opportunity" id="{e699742b-c196-71f0-a85f-67da4152f0f4}">
          <p14:sldIdLst>
            <p14:sldId id="263"/>
          </p14:sldIdLst>
        </p14:section>
        <p14:section name="The Evidence" id="{4df8dccd-8b87-8cd3-6baa-608f4bc44fc5}">
          <p14:sldIdLst>
            <p14:sldId id="264"/>
            <p14:sldId id="265"/>
          </p14:sldIdLst>
        </p14:section>
        <p14:section name="The Business" id="{7d9cdd27-22f0-9f01-940c-ef85e7edeac4}">
          <p14:sldIdLst>
            <p14:sldId id="266"/>
            <p14:sldId id="267"/>
          </p14:sldIdLst>
        </p14:section>
        <p14:section name="The Path" id="{917f3ee6-7657-dedb-f70a-b3a8e19fd56d}">
          <p14:sldIdLst>
            <p14:sldId id="268"/>
            <p14:sldId id="269"/>
          </p14:sldIdLst>
        </p14:section>
        <p14:section name="The Vision" id="{f2a55d49-3196-b840-af0f-072c9bf7c49d}">
          <p14:sldIdLst>
            <p14:sldId id="270"/>
          </p14:sldIdLst>
        </p14:section>
        <p14:section name="The Close" id="{add19b78-d81d-4f44-4cc8-9842e9a8b91a}">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Automated checks</c:v>
                </c:pt>
              </c:strCache>
            </c:strRef>
          </c:tx>
          <c:spPr>
            <a:solidFill>
              <a:srgbClr val="3FD39B"/>
            </a:solidFill>
            <a:effectLst/>
          </c:spPr>
          <c:invertIfNegative val="0"/>
          <c:dLbls>
            <c:numFmt formatCode="#,##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3FD39B"/>
              </a:solidFill>
              <a:effectLst/>
            </c:spPr>
          </c:dPt>
          <c:dPt>
            <c:idx val="1"/>
            <c:invertIfNegative val="0"/>
            <c:bubble3D val="0"/>
            <c:spPr>
              <a:solidFill>
                <a:srgbClr val="3FD39B"/>
              </a:solidFill>
              <a:effectLst/>
            </c:spPr>
          </c:dPt>
          <c:dPt>
            <c:idx val="2"/>
            <c:invertIfNegative val="0"/>
            <c:bubble3D val="0"/>
            <c:spPr>
              <a:solidFill>
                <a:srgbClr val="3FD39B"/>
              </a:solidFill>
              <a:effectLst/>
            </c:spPr>
          </c:dPt>
          <c:dPt>
            <c:idx val="3"/>
            <c:invertIfNegative val="0"/>
            <c:bubble3D val="0"/>
            <c:spPr>
              <a:solidFill>
                <a:srgbClr val="3FD39B"/>
              </a:solidFill>
              <a:effectLst/>
            </c:spPr>
          </c:dPt>
          <c:dPt>
            <c:idx val="4"/>
            <c:invertIfNegative val="0"/>
            <c:bubble3D val="0"/>
            <c:spPr>
              <a:solidFill>
                <a:srgbClr val="3FD39B"/>
              </a:solidFill>
              <a:effectLst/>
            </c:spPr>
          </c:dPt>
          <c:dPt>
            <c:idx val="5"/>
            <c:invertIfNegative val="0"/>
            <c:bubble3D val="0"/>
            <c:spPr>
              <a:solidFill>
                <a:srgbClr val="3FD39B"/>
              </a:solidFill>
              <a:effectLst/>
            </c:spPr>
          </c:dPt>
          <c:dPt>
            <c:idx val="6"/>
            <c:invertIfNegative val="0"/>
            <c:bubble3D val="0"/>
            <c:spPr>
              <a:solidFill>
                <a:srgbClr val="F59E0B"/>
              </a:solidFill>
              <a:effectLst/>
            </c:spPr>
          </c:dPt>
          <c:cat>
            <c:multiLvlStrRef>
              <c:f>Sheet1!$A$2:$A$8</c:f>
              <c:multiLvlStrCache>
                <c:ptCount val="7"/>
                <c:lvl>
                  <c:pt idx="0">
                    <c:v>v77</c:v>
                  </c:pt>
                  <c:pt idx="1">
                    <c:v>v79</c:v>
                  </c:pt>
                  <c:pt idx="2">
                    <c:v>v80</c:v>
                  </c:pt>
                  <c:pt idx="3">
                    <c:v>v83</c:v>
                  </c:pt>
                  <c:pt idx="4">
                    <c:v>v84</c:v>
                  </c:pt>
                  <c:pt idx="5">
                    <c:v>v85</c:v>
                  </c:pt>
                  <c:pt idx="6">
                    <c:v>v86</c:v>
                  </c:pt>
                </c:lvl>
              </c:multiLvlStrCache>
            </c:multiLvlStrRef>
          </c:cat>
          <c:val>
            <c:numRef>
              <c:f>Sheet1!$B$2:$B$8</c:f>
              <c:numCache>
                <c:formatCode>General</c:formatCode>
                <c:ptCount val="7"/>
                <c:pt idx="0">
                  <c:v>550</c:v>
                </c:pt>
                <c:pt idx="1">
                  <c:v>731</c:v>
                </c:pt>
                <c:pt idx="2">
                  <c:v>905</c:v>
                </c:pt>
                <c:pt idx="3">
                  <c:v>1260</c:v>
                </c:pt>
                <c:pt idx="4">
                  <c:v>1293</c:v>
                </c:pt>
                <c:pt idx="5">
                  <c:v>1453</c:v>
                </c:pt>
                <c:pt idx="6">
                  <c:v>1651</c:v>
                </c:pt>
              </c:numCache>
            </c:numRef>
          </c:val>
        </c:ser>
        <c:dLbls>
          <c:numFmt formatCode="#,##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gapWidth val="38"/>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CFE8DC"/>
                </a:solidFill>
                <a:latin typeface="+mn-lt"/>
              </a:defRPr>
            </a:pPr>
            <a:endParaRPr lang="en-US"/>
          </a:p>
        </c:txPr>
        <c:crossAx val="2094734552"/>
        <c:crosses val="autoZero"/>
        <c:auto val="1"/>
        <c:lblAlgn val="ctr"/>
        <c:noMultiLvlLbl val="1"/>
      </c:catAx>
      <c:valAx>
        <c:axId val="2094734552"/>
        <c:scaling>
          <c:orientation val="minMax"/>
          <c:max val="19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30 seconds)
Lokal Finder is a neighborhood marketplace. The idea in one line: order from, and sell to, the people nearby.
What you are looking at: the headline is the product's own tagline from the Lokal Finder website ("Everything local. One place."). The skyline is original artwork made for this deck in the brand colors: it is an illustration, not a photograph and not a picture of any real building. The two lit windows joined by a dotted line stand for one neighbor ordering from another. The phone is the real Lokal Finder home screen, captured from the actual app with demo data.
Say: "I want to show you what Lokal Finder is, what we have actually seen so far, what we still have to prove, and how we plan to find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EVERYDAY PROBLEM (about 1 minute)
The founder's core proposition, stated as the intended use case and not as a claim about every customer: a resident who wants dinner may be able to order it from a nearby neighbor instead of going downstairs, or instead of relying only on large delivery platforms.
Walk the picture: one tower. You are in one window. A neighbor who sells food is a few floors away (route 3). The alternatives are to go downstairs and out (route 1), or to order from a platform that is built to cover a whole city (route 2).
Be careful with the claim: we are not saying large platforms are bad, or that every condominium has neighbors who sell food. We are saying there is a convenience gap we want to test.
The tower is original artwork made for this deck, not a photograph and not a real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INSIGHT (about 1 minute)
The logic is simple, and it is a hypothesis, not a result.
1. Residents need convenient access to food.
2. Nearby sellers may have products they can offer.
3. Discovery and reliable ordering can connect the two.
What has to be true: enough residents want food from nearby sellers; enough sellers have something worth ordering; and ordering is reliable enough that people come back.
Be explicit that we are not claiming every condominium has enough demand or enough sellers. The next slides show how we are testing this and what we have learned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(about 1 minute)
Lokal Finder is a neighborhood-focused discovery and ordering platform.
For a resident: find a seller nearby, order in a few taps, and follow the order to your door. The screen on the right is the real home screen of the app, captured from the actual build with demo data: search, categories, and nearby stores marked open.
For a seller: a storefront and an order desk in the same app (next slides).
Payment note, stated plainly: today the customer pays the seller directly, in cash or by GCash. The app records the order and the payment method; it does not process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WORKS (about 1 minute)
The workflow below is the one the product actually implements.
1. Discover: the home screen lists nearby stores by category and shows who is open.
2. Browse: a store page shows the menu, prices and opening hours.
3. Order: the customer adds items, gives a unit number and contact number, and chooses cash or GCash. The seller is paid directly.
4. Receive: the order moves through Placed, Accepted, Preparing, On the way and Delivered, and the customer can chat with the seller. The seller delivers; the app does not run couriers.
One difference from the generic four-step story: the app also supports scheduled bookings for services (cleaning, aircon, laundry) with a date and time slot instead of a cart. Those verticals exist in the product; the stores shown for them in the demo are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EXPERIENCE (about 1.5 minutes)
This is one installable web app with three sides. Everything on screen exists in the current build; the data inside is demo data.
Residents: the order tracker. A customer follows the order through Placed, Accepted, Preparing, On the way and Delivered, and can chat with the seller. There is also a community feed where stores and neighbors post, and an order history.
Sellers: the order desk. Orders arrive in one list with Accept and Decline. A seller can update status, switch menu items on and off, post to the feed, and see recorded sales. Stores can apply on their own and are approved by the team. Sign-in is a PIN and stays signed in for 30 days.
The Lokal Finder team: the admin console. It approves new stores, shows activity per store, and holds the condo launch pipeline (seven stages from Researching to Live). The pipeline screen here shows sample condos so no real community is implied.
Also in the product but not shown: scheduled bookings for services (date and time slots) for cleaning, aircon and laundry. Those categories exist in the app, but no real store has been onboarded in them; the stores in the demo are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(about 1 minute; skip if the audience is not technical)
The point for a business audience: Lokal Finder is cheap to run and disciplined to change.
The app: one installable web app, written by hand with no framework and no build step. There is no application server to operate. (Trade-off to be honest about: everything lives in one large file, which is fast to ship and will need to be split up as the team grows.)
The data: Firebase Realtime Database, called directly from the app. Hosting is GitHub Pages.
The release line: every change goes through automated tests that drive the real app in a headless browser, against an in-memory copy of the database, so a test can never touch real data. Only if everything passes is the new version published.
The switches: a settings file lets the team ship a feature switched off (dark), then turn it on for admins first, then for everyone, and turn it off again without a new release. The condo features were shipped this way.
The chart: automated checks grew from 550 (13 suites) to 1,651 (22 suites) across the releases shown. The numbers come from the project's own records. As a test of the tests, the team deliberately broke the latest release in 126 ways: 122 were caught and 4 were harmless equivalents.
What this does not mean: tests do not prove demand, and the app has not been tested on every real phone. Security hardening is on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INITIAL MARKET (about 1 minute)
Why condominiums and dense residential communities are a logical place to start. These are strategic hypotheses, not proven customer demand, and no market-size estimate is claimed.
1. Proximity: the nearest seller can be a few floors away, not across the city.
2. Concentration: many households live in one place.
3. Convenience: an order can go door to door without leaving the building.
4. Access: neighbors who sell from home or a small kitchen can be found without needing a storefront.
The rings are the brand's ripple motif: you in the middle, your tower, your community, and only later other communities. Mint dots are residents and amber dots are sellers. It is a schematic, not a map.
The one verified fact about where: the pilot community is GRASS Residences in Quezon City (the app lists five towers). No other community has been launched, and no condominium partnership or access agreement is claimed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TRACTION (about 1.5 minutes)
Lead with the number, then immediately say what it is and what it is not.
About ₱23,000 in sales over several months through the earlier web application, even though notifications were not working reliably. This is a founder-reported figure, not independently audited.
It is sales, not profit, and it is not Lokal Finder's revenue. It is not a count of customers or orders either. We are not claiming order counts, retention, conversion, monthly growth, or numbers of customers or sellers, because they have not been measured.
Availability, as reported by the founder: the current app is available on Google Play. App Store approval was still pending as of October 2026. (We looked in the project files for any newer evidence on either store and found none, so please confirm the current status before presenting, and update this slide if it has changed.)
What this does establish: some real sales happened through the earlier version. What it does not establish: repeatable or scalable demand. The next slide separates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HAVE LEARNED (about 1 minute)
Credible and analytical, not promotional. Three columns, three levels of confidence.
Demonstrated: real sales happened through the earlier web app (about ₱23,000, founder-reported); real stores listed their own menus and prices; and the order flow works in the product, which is verified by 1,651 automated checks. (The automated checks prove the software behaves as designed, not that customers want it.)
Believed possible, the founder's view: residents will choose nearby sellers for everyday food; one platform can serve several kinds of local service; a launch playbook can repeat across communities.
Needs validation: repeat ordering and retention; reliable alerts for sellers and customers; the economics for sellers and for Lokal Finder; and demand in a second community.
Close on the line at the bottom: the sales so far show the concept can work, not that demand is repeatable or scalable.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MODEL (about 1.5 minutes)
Start with what is true today, then separate what is built from what is only proposed.
Today: a resident pays the seller directly, in cash or by GCash. Lokal Finder helps the two find each other, place the order and follow it, but the payment does not pass through Lokal Finder. No revenue stream is confirmed as operating today.
Four ways Lokal Finder could earn, with honest status:
1. Transaction commission: built into the admin tools. A percentage can be set per seller (the default is 0%) and is recorded on delivered orders. It is recorded, not collected, and not active.
2. Seller plans or service fees: a proposal. A monthly plan or a per-order fee for tools beyond the basic listing. Nothing is charged.
3. Paid business visibility: early tooling only. Admins can mark a store as Featured; there is no paid placement.
4. Local advertising partnerships: a proposal. Not started.
We are not showing margins, take rates, profitability or revenue projections because none of them has been measured. The principle: add a revenue stream only when it improves the marketplace for both sides, never just because it is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COMPETITIVE LANDSCAPE (about 1 minute)
Compare intended positioning, not proven superiority.
The map has two simple axes: how structured the ordering is (menus, status, tracking versus chats, posts and direct messages) and how wide the reach is (one community versus a whole city). Large delivery platforms are structured and city-wide. Informal neighborhood selling is close to home but manual. Lokal Finder is trying to be structured and community-sized. That position is the hypothesis, and it is marked To prove.
On the right, the five differences we aim for: hyperlocal discovery, nearby sellers, community convenience, seller accessibility and ordering convenience. Each is an intention, not a measured advantage.
We are deliberately not quoting any competitor's prices, fees or features, and we do not claim superiority. What Lokal Finder must still prove is that the difference is big enough to win repeat orders and keep sellers.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GROWTH STRATEGY (about 1 minute)
A disciplined sequence, not an expansion map. Start by validating one residential community, measure performance, improve the product and operations, write down how a launch works, and only then expand to comparable communities, and only when the evidence supports it.
Where we are: step one and two. The pilot community is GRASS Residences in Quezon City. The proposed gate before stage five is repeat ordering shown, sellers staying active, and the economics understood. These criteria are proposals for the team to agree, not targets that have been set.
What is already built to make launching the next community cheaper (verified in the product): a directory of condominiums, a seven-stage launch pipeline (Researching, In talks, Next up, Launching, Live, On hold, Closed), separate community rooms so each condo has its own stores, menus and orders, and an admin-only switch so a community can be tried before customers can enter it. The screen on the right is the customer Condos list with sample condos.
What we are not claiming: no second community is live, and no condominium partnership or access agreement is claimed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(about 1 minute)
Six steps in order, all labeled as plans. Nothing here is a completed achievement and no dates or numeric targets are committed.
Now: improve reliability and notifications (alerts must reach sellers and customers; today delivery of closed-app alerts is not verified), and measure actual usage and repeat ordering (the product has no analytics layer yet, so this is real work).
Next: validate seller and customer economics (what an order is worth to each side), and improve acquisition and retention (more first orders, more second orders).
Later: build a repeatable launch process (a written, tested checklist for opening a new community).
When evidence supports it: expand to comparable communities.
Also planned on the engineering side, behind the scenes and not shown as a step: security hardening and moving the database to a paid plan. The team treats these as top priority.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VISION (about 45 seconds)
Ambitious, but grounded in what the product is and what has been shown.
The ambition, in plain words: make it easier for residents to discover and buy from nearby sellers, and help local businesses reach the customers already in their community.
The picture: the pin in the middle is a resident; around it are the categories the product is built for. Food is the wedge and the only category that has real stores in the pilot. Cleaning, aircon and laundry are built (including scheduled bookings with date and time slots) and are waiting for real sellers; the stores shown for them in the demo are demo data. The website also mentions housekeeping, services and local retail as possibilities.
The principle at the bottom matters: food first, and everything else only when it earns its place. A long-term vision is not a validated business model, and this deck does not present it as one.
The skyline is original artwork, not a photograph.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(about 30 seconds)
End on the purpose, not on "thank you".
Lokal Finder is building the easiest way to buy from, and sell to, the people nearby. Why it matters: a convenient meal and a small livelihood can be a few floors apart, and today they are hard to connect.
What we do next is deliberately modest: one community first, prove repeat ordering, then repeat it.
There is no investment ask in this deck. If the audience is partners, the natural next conversation is about a community, or a group of sellers, to learn with. If the audience is investors, the natural next conversation is about what evidence would justify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LF_DARK-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LF_LIGHT-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LF_DARK_L-image-2.jpe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LF_LIGHT_L-image-2.jpe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F_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Lokal Finder logo mark">    </p:cNvPr>
          <p:cNvPicPr>
            <a:picLocks noChangeAspect="1"/>
          </p:cNvPicPr>
          <p:nvPr/>
        </p:nvPicPr>
        <p:blipFill>
          <a:blip r:embed="rId1"/>
          <a:stretch>
            <a:fillRect/>
          </a:stretch>
        </p:blipFill>
        <p:spPr>
          <a:xfrm>
            <a:off x="685800" y="6373368"/>
            <a:ext cx="237744" cy="274320"/>
          </a:xfrm>
          <a:prstGeom prst="rect">
            <a:avLst/>
          </a:prstGeom>
        </p:spPr>
      </p:pic>
      <p:sp>
        <p:nvSpPr>
          <p:cNvPr id="3" name="Text 0"/>
          <p:cNvSpPr/>
          <p:nvPr>
            <p:ph idx="101" type="title" hasCustomPrompt="1"/>
          </p:nvPr>
        </p:nvSpPr>
        <p:spPr>
          <a:xfrm>
            <a:off x="685800" y="841248"/>
            <a:ext cx="10820400" cy="1325880"/>
          </a:xfrm>
          <a:prstGeom prst="rect">
            <a:avLst/>
          </a:prstGeom>
          <a:noFill/>
          <a:ln/>
        </p:spPr>
        <p:txBody>
          <a:bodyPr wrap="square" rtlCol="0"/>
          <a:lstStyle>
            <a:lvl1pPr algn="l" indent="0" marL="0">
              <a:lnSpc>
                <a:spcPct val="95000"/>
              </a:lnSpc>
              <a:buNone/>
              <a:defRPr lang="en-US" sz="4000" b="1" dirty="0">
                <a:solidFill>
                  <a:schemeClr val="bg1"/>
                </a:solidFill>
                <a:latin typeface="+mj-lt" pitchFamily="34" charset="0"/>
                <a:ea typeface="+mj-lt" pitchFamily="34" charset="-122"/>
                <a:cs typeface="+mj-lt" pitchFamily="34" charset="-120"/>
              </a:defRPr>
            </a:lvl1pPr>
          </a:lstStyle>
          <a:p>
            <a:pPr algn="l" indent="0" marL="0">
              <a:lnSpc>
                <a:spcPct val="95000"/>
              </a:lnSpc>
              <a:buNone/>
            </a:pPr>
            <a:endParaRPr lang="en-US" sz="4000" dirty="0"/>
          </a:p>
        </p:txBody>
      </p:sp>
      <p:sp>
        <p:nvSpPr>
          <p:cNvPr id="25" name="Slide Number Placeholder 0"/>
          <p:cNvSpPr>
            <a:spLocks noGrp="1"/>
          </p:cNvSpPr>
          <p:nvPr>
            <p:ph type="sldNum" sz="quarter" idx="4294967295"/>
          </p:nvPr>
        </p:nvSpPr>
        <p:spPr>
          <a:xfrm>
            <a:off x="10957560" y="6373368"/>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accent5"/>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F_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Lokal Finder logo mark">    </p:cNvPr>
          <p:cNvPicPr>
            <a:picLocks noChangeAspect="1"/>
          </p:cNvPicPr>
          <p:nvPr/>
        </p:nvPicPr>
        <p:blipFill>
          <a:blip r:embed="rId1"/>
          <a:stretch>
            <a:fillRect/>
          </a:stretch>
        </p:blipFill>
        <p:spPr>
          <a:xfrm>
            <a:off x="685800" y="6373368"/>
            <a:ext cx="237744" cy="274320"/>
          </a:xfrm>
          <a:prstGeom prst="rect">
            <a:avLst/>
          </a:prstGeom>
        </p:spPr>
      </p:pic>
      <p:sp>
        <p:nvSpPr>
          <p:cNvPr id="3" name="Text 0"/>
          <p:cNvSpPr/>
          <p:nvPr>
            <p:ph idx="101" type="title" hasCustomPrompt="1"/>
          </p:nvPr>
        </p:nvSpPr>
        <p:spPr>
          <a:xfrm>
            <a:off x="685800" y="841248"/>
            <a:ext cx="10820400" cy="1325880"/>
          </a:xfrm>
          <a:prstGeom prst="rect">
            <a:avLst/>
          </a:prstGeom>
          <a:noFill/>
          <a:ln/>
        </p:spPr>
        <p:txBody>
          <a:bodyPr wrap="square" rtlCol="0"/>
          <a:lstStyle>
            <a:lvl1pPr algn="l" indent="0" marL="0">
              <a:lnSpc>
                <a:spcPct val="95000"/>
              </a:lnSpc>
              <a:buNone/>
              <a:defRPr lang="en-US" sz="4000" b="1" dirty="0">
                <a:solidFill>
                  <a:schemeClr val="tx1"/>
                </a:solidFill>
                <a:latin typeface="+mj-lt" pitchFamily="34" charset="0"/>
                <a:ea typeface="+mj-lt" pitchFamily="34" charset="-122"/>
                <a:cs typeface="+mj-lt" pitchFamily="34" charset="-120"/>
              </a:defRPr>
            </a:lvl1pPr>
          </a:lstStyle>
          <a:p>
            <a:pPr algn="l" indent="0" marL="0">
              <a:lnSpc>
                <a:spcPct val="95000"/>
              </a:lnSpc>
              <a:buNone/>
            </a:pPr>
            <a:endParaRPr lang="en-US" sz="4000" dirty="0"/>
          </a:p>
        </p:txBody>
      </p:sp>
      <p:sp>
        <p:nvSpPr>
          <p:cNvPr id="25" name="Slide Number Placeholder 0"/>
          <p:cNvSpPr>
            <a:spLocks noGrp="1"/>
          </p:cNvSpPr>
          <p:nvPr>
            <p:ph type="sldNum" sz="quarter" idx="4294967295"/>
          </p:nvPr>
        </p:nvSpPr>
        <p:spPr>
          <a:xfrm>
            <a:off x="10957560" y="6373368"/>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accent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F_DARK_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Lokal Finder logo mark">    </p:cNvPr>
          <p:cNvPicPr>
            <a:picLocks noChangeAspect="1"/>
          </p:cNvPicPr>
          <p:nvPr/>
        </p:nvPicPr>
        <p:blipFill>
          <a:blip r:embed="rId1"/>
          <a:stretch>
            <a:fillRect/>
          </a:stretch>
        </p:blipFill>
        <p:spPr>
          <a:xfrm>
            <a:off x="685800" y="6373368"/>
            <a:ext cx="237744" cy="274320"/>
          </a:xfrm>
          <a:prstGeom prst="rect">
            <a:avLst/>
          </a:prstGeom>
        </p:spPr>
      </p:pic>
      <p:sp>
        <p:nvSpPr>
          <p:cNvPr id="3" name="Text 0"/>
          <p:cNvSpPr/>
          <p:nvPr>
            <p:ph idx="101" type="title" hasCustomPrompt="1"/>
          </p:nvPr>
        </p:nvSpPr>
        <p:spPr>
          <a:xfrm>
            <a:off x="685800" y="841248"/>
            <a:ext cx="6492240" cy="1325880"/>
          </a:xfrm>
          <a:prstGeom prst="rect">
            <a:avLst/>
          </a:prstGeom>
          <a:noFill/>
          <a:ln/>
        </p:spPr>
        <p:txBody>
          <a:bodyPr wrap="square" rtlCol="0"/>
          <a:lstStyle>
            <a:lvl1pPr algn="l" indent="0" marL="0">
              <a:lnSpc>
                <a:spcPct val="95000"/>
              </a:lnSpc>
              <a:buNone/>
              <a:defRPr lang="en-US" sz="4000" b="1" dirty="0">
                <a:solidFill>
                  <a:schemeClr val="bg1"/>
                </a:solidFill>
                <a:latin typeface="+mj-lt" pitchFamily="34" charset="0"/>
                <a:ea typeface="+mj-lt" pitchFamily="34" charset="-122"/>
                <a:cs typeface="+mj-lt" pitchFamily="34" charset="-120"/>
              </a:defRPr>
            </a:lvl1pPr>
          </a:lstStyle>
          <a:p>
            <a:pPr algn="l" indent="0" marL="0">
              <a:lnSpc>
                <a:spcPct val="95000"/>
              </a:lnSpc>
              <a:buNone/>
            </a:pPr>
            <a:endParaRPr lang="en-US" sz="4000" dirty="0"/>
          </a:p>
        </p:txBody>
      </p:sp>
      <p:sp>
        <p:nvSpPr>
          <p:cNvPr id="25" name="Slide Number Placeholder 0"/>
          <p:cNvSpPr>
            <a:spLocks noGrp="1"/>
          </p:cNvSpPr>
          <p:nvPr>
            <p:ph type="sldNum" sz="quarter" idx="4294967295"/>
          </p:nvPr>
        </p:nvSpPr>
        <p:spPr>
          <a:xfrm>
            <a:off x="10957560" y="6373368"/>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accent5"/>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F_LIGHT_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Lokal Finder logo mark">    </p:cNvPr>
          <p:cNvPicPr>
            <a:picLocks noChangeAspect="1"/>
          </p:cNvPicPr>
          <p:nvPr/>
        </p:nvPicPr>
        <p:blipFill>
          <a:blip r:embed="rId1"/>
          <a:stretch>
            <a:fillRect/>
          </a:stretch>
        </p:blipFill>
        <p:spPr>
          <a:xfrm>
            <a:off x="685800" y="6373368"/>
            <a:ext cx="237744" cy="274320"/>
          </a:xfrm>
          <a:prstGeom prst="rect">
            <a:avLst/>
          </a:prstGeom>
        </p:spPr>
      </p:pic>
      <p:sp>
        <p:nvSpPr>
          <p:cNvPr id="3" name="Text 0"/>
          <p:cNvSpPr/>
          <p:nvPr>
            <p:ph idx="101" type="title" hasCustomPrompt="1"/>
          </p:nvPr>
        </p:nvSpPr>
        <p:spPr>
          <a:xfrm>
            <a:off x="685800" y="841248"/>
            <a:ext cx="6492240" cy="1325880"/>
          </a:xfrm>
          <a:prstGeom prst="rect">
            <a:avLst/>
          </a:prstGeom>
          <a:noFill/>
          <a:ln/>
        </p:spPr>
        <p:txBody>
          <a:bodyPr wrap="square" rtlCol="0"/>
          <a:lstStyle>
            <a:lvl1pPr algn="l" indent="0" marL="0">
              <a:lnSpc>
                <a:spcPct val="95000"/>
              </a:lnSpc>
              <a:buNone/>
              <a:defRPr lang="en-US" sz="4000" b="1" dirty="0">
                <a:solidFill>
                  <a:schemeClr val="tx1"/>
                </a:solidFill>
                <a:latin typeface="+mj-lt" pitchFamily="34" charset="0"/>
                <a:ea typeface="+mj-lt" pitchFamily="34" charset="-122"/>
                <a:cs typeface="+mj-lt" pitchFamily="34" charset="-120"/>
              </a:defRPr>
            </a:lvl1pPr>
          </a:lstStyle>
          <a:p>
            <a:pPr algn="l" indent="0" marL="0">
              <a:lnSpc>
                <a:spcPct val="95000"/>
              </a:lnSpc>
              <a:buNone/>
            </a:pPr>
            <a:endParaRPr lang="en-US" sz="4000" dirty="0"/>
          </a:p>
        </p:txBody>
      </p:sp>
      <p:sp>
        <p:nvSpPr>
          <p:cNvPr id="25" name="Slide Number Placeholder 0"/>
          <p:cNvSpPr>
            <a:spLocks noGrp="1"/>
          </p:cNvSpPr>
          <p:nvPr>
            <p:ph type="sldNum" sz="quarter" idx="4294967295"/>
          </p:nvPr>
        </p:nvSpPr>
        <p:spPr>
          <a:xfrm>
            <a:off x="10957560" y="6373368"/>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accent5"/>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LF_ART">
    <p:bg>
      <p:bgPr>
        <a:solidFill>
          <a:srgbClr val="06120C"/>
        </a:solidFill>
      </p:bgPr>
    </p:bg>
    <p:spTree>
      <p:nvGrpSpPr>
        <p:cNvPr id="1" name=""/>
        <p:cNvGrpSpPr/>
        <p:nvPr/>
      </p:nvGrpSpPr>
      <p:grpSpPr>
        <a:xfrm>
          <a:off x="0" y="0"/>
          <a:ext cx="0" cy="0"/>
          <a:chOff x="0" y="0"/>
          <a:chExt cx="0" cy="0"/>
        </a:xfrm>
      </p:grpSpPr>
      <p:pic>
        <p:nvPicPr>
          <p:cNvPr id="2" name="Image 0" descr="Lokal Finder logo mark">    </p:cNvPr>
          <p:cNvPicPr>
            <a:picLocks noChangeAspect="1"/>
          </p:cNvPicPr>
          <p:nvPr/>
        </p:nvPicPr>
        <p:blipFill>
          <a:blip r:embed="rId1"/>
          <a:stretch>
            <a:fillRect/>
          </a:stretch>
        </p:blipFill>
        <p:spPr>
          <a:xfrm>
            <a:off x="685800" y="6373368"/>
            <a:ext cx="237744" cy="274320"/>
          </a:xfrm>
          <a:prstGeom prst="rect">
            <a:avLst/>
          </a:prstGeom>
        </p:spPr>
      </p:pic>
      <p:sp>
        <p:nvSpPr>
          <p:cNvPr id="3" name="Text 0"/>
          <p:cNvSpPr/>
          <p:nvPr>
            <p:ph idx="101" type="title" hasCustomPrompt="1"/>
          </p:nvPr>
        </p:nvSpPr>
        <p:spPr>
          <a:xfrm>
            <a:off x="685800" y="841248"/>
            <a:ext cx="10820400" cy="1325880"/>
          </a:xfrm>
          <a:prstGeom prst="rect">
            <a:avLst/>
          </a:prstGeom>
          <a:noFill/>
          <a:ln/>
        </p:spPr>
        <p:txBody>
          <a:bodyPr wrap="square" rtlCol="0"/>
          <a:lstStyle>
            <a:lvl1pPr algn="l" indent="0" marL="0">
              <a:lnSpc>
                <a:spcPct val="95000"/>
              </a:lnSpc>
              <a:buNone/>
              <a:defRPr lang="en-US" sz="4000" b="1" dirty="0">
                <a:solidFill>
                  <a:schemeClr val="bg1"/>
                </a:solidFill>
                <a:latin typeface="+mj-lt" pitchFamily="34" charset="0"/>
                <a:ea typeface="+mj-lt" pitchFamily="34" charset="-122"/>
                <a:cs typeface="+mj-lt" pitchFamily="34" charset="-120"/>
              </a:defRPr>
            </a:lvl1pPr>
          </a:lstStyle>
          <a:p>
            <a:pPr algn="l" indent="0" marL="0">
              <a:lnSpc>
                <a:spcPct val="95000"/>
              </a:lnSpc>
              <a:buNone/>
            </a:pPr>
            <a:endParaRPr lang="en-US" sz="4000" dirty="0"/>
          </a:p>
        </p:txBody>
      </p:sp>
      <p:sp>
        <p:nvSpPr>
          <p:cNvPr id="25" name="Slide Number Placeholder 0"/>
          <p:cNvSpPr>
            <a:spLocks noGrp="1"/>
          </p:cNvSpPr>
          <p:nvPr>
            <p:ph type="sldNum" sz="quarter" idx="4294967295"/>
          </p:nvPr>
        </p:nvSpPr>
        <p:spPr>
          <a:xfrm>
            <a:off x="10957560" y="6373368"/>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FFFFFF"/>
                </a:solidFill>
                <a:latin typeface="Calibri"/>
                <a:ea typeface="Calibri"/>
                <a:cs typeface="Calibri"/>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F_VISION">
    <p:bg>
      <p:bgPr>
        <a:solidFill>
          <a:srgbClr val="06120C"/>
        </a:solidFill>
      </p:bgPr>
    </p:bg>
    <p:spTree>
      <p:nvGrpSpPr>
        <p:cNvPr id="1" name=""/>
        <p:cNvGrpSpPr/>
        <p:nvPr/>
      </p:nvGrpSpPr>
      <p:grpSpPr>
        <a:xfrm>
          <a:off x="0" y="0"/>
          <a:ext cx="0" cy="0"/>
          <a:chOff x="0" y="0"/>
          <a:chExt cx="0" cy="0"/>
        </a:xfrm>
      </p:grpSpPr>
      <p:pic>
        <p:nvPicPr>
          <p:cNvPr id="2" name="Image 0" descr="Lokal Finder logo mark">    </p:cNvPr>
          <p:cNvPicPr>
            <a:picLocks noChangeAspect="1"/>
          </p:cNvPicPr>
          <p:nvPr/>
        </p:nvPicPr>
        <p:blipFill>
          <a:blip r:embed="rId1"/>
          <a:stretch>
            <a:fillRect/>
          </a:stretch>
        </p:blipFill>
        <p:spPr>
          <a:xfrm>
            <a:off x="685800" y="6373368"/>
            <a:ext cx="237744" cy="274320"/>
          </a:xfrm>
          <a:prstGeom prst="rect">
            <a:avLst/>
          </a:prstGeom>
        </p:spPr>
      </p:pic>
      <p:sp>
        <p:nvSpPr>
          <p:cNvPr id="3" name="Text 0"/>
          <p:cNvSpPr/>
          <p:nvPr>
            <p:ph idx="101" type="title" hasCustomPrompt="1"/>
          </p:nvPr>
        </p:nvSpPr>
        <p:spPr>
          <a:xfrm>
            <a:off x="685800" y="868680"/>
            <a:ext cx="6766560" cy="1828800"/>
          </a:xfrm>
          <a:prstGeom prst="rect">
            <a:avLst/>
          </a:prstGeom>
          <a:noFill/>
          <a:ln/>
        </p:spPr>
        <p:txBody>
          <a:bodyPr wrap="square" rtlCol="0"/>
          <a:lstStyle>
            <a:lvl1pPr algn="l" indent="0" marL="0">
              <a:lnSpc>
                <a:spcPct val="90000"/>
              </a:lnSpc>
              <a:buNone/>
              <a:defRPr lang="en-US" sz="5600" b="1" dirty="0">
                <a:solidFill>
                  <a:schemeClr val="bg1"/>
                </a:solidFill>
                <a:latin typeface="+mj-lt" pitchFamily="34" charset="0"/>
                <a:ea typeface="+mj-lt" pitchFamily="34" charset="-122"/>
                <a:cs typeface="+mj-lt" pitchFamily="34" charset="-120"/>
              </a:defRPr>
            </a:lvl1pPr>
          </a:lstStyle>
          <a:p>
            <a:pPr algn="l" indent="0" marL="0">
              <a:lnSpc>
                <a:spcPct val="90000"/>
              </a:lnSpc>
              <a:buNone/>
            </a:pPr>
            <a:endParaRPr lang="en-US" sz="5600" dirty="0"/>
          </a:p>
        </p:txBody>
      </p:sp>
      <p:sp>
        <p:nvSpPr>
          <p:cNvPr id="25" name="Slide Number Placeholder 0"/>
          <p:cNvSpPr>
            <a:spLocks noGrp="1"/>
          </p:cNvSpPr>
          <p:nvPr>
            <p:ph type="sldNum" sz="quarter" idx="4294967295"/>
          </p:nvPr>
        </p:nvSpPr>
        <p:spPr>
          <a:xfrm>
            <a:off x="10957560" y="6373368"/>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FFFFFF"/>
                </a:solidFill>
                <a:latin typeface="Calibri"/>
                <a:ea typeface="Calibri"/>
                <a:cs typeface="Calibri"/>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LF_COVER">
    <p:bg>
      <p:bgPr>
        <a:solidFill>
          <a:srgbClr val="06120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2377440"/>
            <a:ext cx="7223760" cy="2194560"/>
          </a:xfrm>
          <a:prstGeom prst="rect">
            <a:avLst/>
          </a:prstGeom>
          <a:noFill/>
          <a:ln/>
        </p:spPr>
        <p:txBody>
          <a:bodyPr wrap="square" rtlCol="0"/>
          <a:lstStyle>
            <a:lvl1pPr algn="l" indent="0" marL="0">
              <a:lnSpc>
                <a:spcPct val="90000"/>
              </a:lnSpc>
              <a:buNone/>
              <a:defRPr lang="en-US" sz="7000" b="1" dirty="0">
                <a:solidFill>
                  <a:schemeClr val="bg1"/>
                </a:solidFill>
                <a:latin typeface="+mj-lt" pitchFamily="34" charset="0"/>
                <a:ea typeface="+mj-lt" pitchFamily="34" charset="-122"/>
                <a:cs typeface="+mj-lt" pitchFamily="34" charset="-120"/>
              </a:defRPr>
            </a:lvl1pPr>
          </a:lstStyle>
          <a:p>
            <a:pPr algn="l" indent="0" marL="0">
              <a:lnSpc>
                <a:spcPct val="90000"/>
              </a:lnSpc>
              <a:buNone/>
            </a:pPr>
            <a:endParaRPr lang="en-US" sz="70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LF_CLOSE">
    <p:bg>
      <p:bgPr>
        <a:solidFill>
          <a:srgbClr val="06120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80160" y="2011680"/>
            <a:ext cx="9631680" cy="1737360"/>
          </a:xfrm>
          <a:prstGeom prst="rect">
            <a:avLst/>
          </a:prstGeom>
          <a:noFill/>
          <a:ln/>
        </p:spPr>
        <p:txBody>
          <a:bodyPr wrap="square" rtlCol="0"/>
          <a:lstStyle>
            <a:lvl1pPr algn="ctr" indent="0" marL="0">
              <a:lnSpc>
                <a:spcPct val="92000"/>
              </a:lnSpc>
              <a:buNone/>
              <a:defRPr lang="en-US" sz="6600" b="1" dirty="0">
                <a:solidFill>
                  <a:schemeClr val="bg1"/>
                </a:solidFill>
                <a:latin typeface="+mj-lt" pitchFamily="34" charset="0"/>
                <a:ea typeface="+mj-lt" pitchFamily="34" charset="-122"/>
                <a:cs typeface="+mj-lt" pitchFamily="34" charset="-120"/>
              </a:defRPr>
            </a:lvl1pPr>
          </a:lstStyle>
          <a:p>
            <a:pPr algn="ctr" indent="0" marL="0">
              <a:lnSpc>
                <a:spcPct val="92000"/>
              </a:lnSpc>
              <a:buNone/>
            </a:pPr>
            <a:endParaRPr lang="en-US" sz="6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7560" y="6373368"/>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accent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8.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5.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5" Type="http://schemas.openxmlformats.org/officeDocument/2006/relationships/chart" Target="/ppt/charts/chart1.xm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1.png"/><Relationship Id="rId4" Type="http://schemas.openxmlformats.org/officeDocument/2006/relationships/image" Target="../media/image-9-1.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7.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png"/><Relationship Id="rId3" Type="http://schemas.openxmlformats.org/officeDocument/2006/relationships/slideLayout" Target="../slideLayouts/slideLayout9.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Artwork" descr="Illustration (not a photograph): a night skyline of residential towers with lit windows. A dotted line links two lit windows, and ripple rings spread from one of them, like an order passing between neighbors.">    </p:cNvPr>
          <p:cNvPicPr>
            <a:picLocks noChangeAspect="1"/>
          </p:cNvPicPr>
          <p:nvPr/>
        </p:nvPicPr>
        <p:blipFill>
          <a:blip r:embed="rId1"/>
          <a:stretch>
            <a:fillRect/>
          </a:stretch>
        </p:blipFill>
        <p:spPr>
          <a:xfrm>
            <a:off x="0" y="0"/>
            <a:ext cx="12192000" cy="6858000"/>
          </a:xfrm>
          <a:prstGeom prst="rect">
            <a:avLst/>
          </a:prstGeom>
        </p:spPr>
      </p:pic>
      <p:pic>
        <p:nvPicPr>
          <p:cNvPr id="3" name="Logo" descr="Lokal Finder logo">    </p:cNvPr>
          <p:cNvPicPr>
            <a:picLocks noChangeAspect="1"/>
          </p:cNvPicPr>
          <p:nvPr/>
        </p:nvPicPr>
        <p:blipFill>
          <a:blip r:embed="rId2"/>
          <a:stretch>
            <a:fillRect/>
          </a:stretch>
        </p:blipFill>
        <p:spPr>
          <a:xfrm>
            <a:off x="685800" y="566928"/>
            <a:ext cx="2331720" cy="642179"/>
          </a:xfrm>
          <a:prstGeom prst="rect">
            <a:avLst/>
          </a:prstGeom>
        </p:spPr>
      </p:pic>
      <p:sp>
        <p:nvSpPr>
          <p:cNvPr id="4" name="Eyebrow"/>
          <p:cNvSpPr txBox="1"/>
          <p:nvPr/>
        </p:nvSpPr>
        <p:spPr>
          <a:xfrm>
            <a:off x="713232" y="1993392"/>
            <a:ext cx="5943600" cy="274320"/>
          </a:xfrm>
          <a:prstGeom prst="rect">
            <a:avLst/>
          </a:prstGeom>
          <a:noFill/>
          <a:ln/>
        </p:spPr>
        <p:txBody>
          <a:bodyPr wrap="square" lIns="0" tIns="0" rIns="0" bIns="0" rtlCol="0" anchor="t"/>
          <a:lstStyle/>
          <a:p>
            <a:pPr algn="l" indent="0" marL="0">
              <a:buNone/>
            </a:pPr>
            <a:r>
              <a:rPr lang="en-US" sz="1300" b="1" spc="300" kern="0" dirty="0">
                <a:solidFill>
                  <a:srgbClr val="3FD39B"/>
                </a:solidFill>
              </a:rPr>
              <a:t>COMMUNITY COMMERCE, REIMAGINED</a:t>
            </a:r>
            <a:endParaRPr lang="en-US" sz="1300" dirty="0"/>
          </a:p>
        </p:txBody>
      </p:sp>
      <p:sp>
        <p:nvSpPr>
          <p:cNvPr id="5" name="Title"/>
          <p:cNvSpPr/>
          <p:nvPr>
            <p:ph idx="100" type="title" hasCustomPrompt="1"/>
          </p:nvPr>
        </p:nvSpPr>
        <p:spPr>
          <a:xfrm>
            <a:off x="685800" y="2377440"/>
            <a:ext cx="7223760" cy="2194560"/>
          </a:xfrm>
          <a:prstGeom prst="rect">
            <a:avLst/>
          </a:prstGeom>
          <a:noFill/>
          <a:ln/>
        </p:spPr>
        <p:txBody>
          <a:bodyPr wrap="square" lIns="0" tIns="0" rIns="0" bIns="0" rtlCol="0" anchor="t"/>
          <a:lstStyle/>
          <a:p>
            <a:pPr algn="l" indent="0" marL="0">
              <a:lnSpc>
                <a:spcPct val="90000"/>
              </a:lnSpc>
              <a:buNone/>
            </a:pPr>
            <a:r>
              <a:rPr lang="en-US" sz="7000" b="1" dirty="0">
                <a:solidFill>
                  <a:schemeClr val="bg1"/>
                </a:solidFill>
                <a:latin typeface="+mj-lt" pitchFamily="34" charset="0"/>
                <a:ea typeface="+mj-lt" pitchFamily="34" charset="-122"/>
                <a:cs typeface="+mj-lt" pitchFamily="34" charset="-120"/>
              </a:rPr>
              <a:t>Everything local.</a:t>
            </a:r>
            <a:endParaRPr lang="en-US" sz="7000" dirty="0"/>
          </a:p>
          <a:p>
            <a:pPr algn="l" indent="0" marL="0">
              <a:lnSpc>
                <a:spcPct val="90000"/>
              </a:lnSpc>
              <a:buNone/>
            </a:pPr>
            <a:r>
              <a:rPr lang="en-US" sz="7000" b="1" i="1" dirty="0">
                <a:solidFill>
                  <a:srgbClr val="3FD39B"/>
                </a:solidFill>
                <a:latin typeface="+mj-lt" pitchFamily="34" charset="0"/>
                <a:ea typeface="+mj-lt" pitchFamily="34" charset="-122"/>
                <a:cs typeface="+mj-lt" pitchFamily="34" charset="-120"/>
              </a:rPr>
              <a:t>One place.</a:t>
            </a:r>
            <a:endParaRPr lang="en-US" sz="7000" dirty="0"/>
          </a:p>
        </p:txBody>
      </p:sp>
      <p:sp>
        <p:nvSpPr>
          <p:cNvPr id="6" name="Subline"/>
          <p:cNvSpPr txBox="1"/>
          <p:nvPr/>
        </p:nvSpPr>
        <p:spPr>
          <a:xfrm>
            <a:off x="713232" y="4681728"/>
            <a:ext cx="6217920" cy="457200"/>
          </a:xfrm>
          <a:prstGeom prst="rect">
            <a:avLst/>
          </a:prstGeom>
          <a:noFill/>
          <a:ln/>
        </p:spPr>
        <p:txBody>
          <a:bodyPr wrap="square" lIns="0" tIns="0" rIns="0" bIns="0" rtlCol="0" anchor="t"/>
          <a:lstStyle/>
          <a:p>
            <a:pPr algn="l" indent="0" marL="0">
              <a:buNone/>
            </a:pPr>
            <a:r>
              <a:rPr lang="en-US" sz="2200" dirty="0">
                <a:solidFill>
                  <a:srgbClr val="E2E5E4"/>
                </a:solidFill>
              </a:rPr>
              <a:t>Order from, and sell to, the people nearby.</a:t>
            </a:r>
            <a:endParaRPr lang="en-US" sz="2200" dirty="0"/>
          </a:p>
        </p:txBody>
      </p:sp>
      <p:pic>
        <p:nvPicPr>
          <p:cNvPr id="7" name="Phone" descr="The Lokal Finder home screen: search, store categories and nearby stores (real app screen, demo data).">    </p:cNvPr>
          <p:cNvPicPr>
            <a:picLocks noChangeAspect="1"/>
          </p:cNvPicPr>
          <p:nvPr/>
        </p:nvPicPr>
        <p:blipFill>
          <a:blip r:embed="rId3"/>
          <a:stretch>
            <a:fillRect/>
          </a:stretch>
        </p:blipFill>
        <p:spPr>
          <a:xfrm>
            <a:off x="7676609" y="1490804"/>
            <a:ext cx="3437702" cy="536719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par>
                                <p:cTn id="8" presetID="10" presetClass="entr" presetSubtype="0" fill="hold" grpId="0" nodeType="withEffect">
                                  <p:stCondLst>
                                    <p:cond delay="5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42" presetClass="entr" presetSubtype="0" fill="hold" grpId="0" nodeType="withEffect">
                                  <p:stCondLst>
                                    <p:cond delay="750"/>
                                  </p:stCondLst>
                                  <p:childTnLst>
                                    <p:set>
                                      <p:cBhvr>
                                        <p:cTn id="12" dur="1" fill="hold">
                                          <p:stCondLst>
                                            <p:cond delay="0"/>
                                          </p:stCondLst>
                                        </p:cTn>
                                        <p:tgtEl>
                                          <p:spTgt spid="5"/>
                                        </p:tgtEl>
                                        <p:attrNameLst>
                                          <p:attrName>style.visibility</p:attrName>
                                        </p:attrNameLst>
                                      </p:cBhvr>
                                      <p:to>
                                        <p:strVal val="visible"/>
                                      </p:to>
                                    </p:set>
                                    <p:anim calcmode="lin" valueType="num">
                                      <p:cBhvr>
                                        <p:cTn id="13" dur="700" fill="hold"/>
                                        <p:tgtEl>
                                          <p:spTgt spid="5"/>
                                        </p:tgtEl>
                                        <p:attrNameLst>
                                          <p:attrName>ppt_y</p:attrName>
                                        </p:attrNameLst>
                                      </p:cBhvr>
                                      <p:tavLst>
                                        <p:tav tm="0">
                                          <p:val>
                                            <p:strVal val="#ppt_y+.05"/>
                                          </p:val>
                                        </p:tav>
                                        <p:tav tm="100000">
                                          <p:val>
                                            <p:strVal val="#ppt_y"/>
                                          </p:val>
                                        </p:tav>
                                      </p:tavLst>
                                    </p:anim>
                                    <p:animEffect transition="in" filter="fade">
                                      <p:cBhvr>
                                        <p:cTn id="14" dur="700"/>
                                        <p:tgtEl>
                                          <p:spTgt spid="5"/>
                                        </p:tgtEl>
                                      </p:cBhvr>
                                    </p:animEffect>
                                  </p:childTnLst>
                                </p:cTn>
                              </p:par>
                              <p:par>
                                <p:cTn id="15" presetID="42" presetClass="entr" presetSubtype="0" fill="hold" nodeType="withEffect">
                                  <p:stCondLst>
                                    <p:cond delay="1000"/>
                                  </p:stCondLst>
                                  <p:childTnLst>
                                    <p:set>
                                      <p:cBhvr>
                                        <p:cTn id="16" dur="1" fill="hold">
                                          <p:stCondLst>
                                            <p:cond delay="0"/>
                                          </p:stCondLst>
                                        </p:cTn>
                                        <p:tgtEl>
                                          <p:spTgt spid="7"/>
                                        </p:tgtEl>
                                        <p:attrNameLst>
                                          <p:attrName>style.visibility</p:attrName>
                                        </p:attrNameLst>
                                      </p:cBhvr>
                                      <p:to>
                                        <p:strVal val="visible"/>
                                      </p:to>
                                    </p:set>
                                    <p:anim calcmode="lin" valueType="num">
                                      <p:cBhvr>
                                        <p:cTn id="17" dur="850" fill="hold"/>
                                        <p:tgtEl>
                                          <p:spTgt spid="7"/>
                                        </p:tgtEl>
                                        <p:attrNameLst>
                                          <p:attrName>ppt_y</p:attrName>
                                        </p:attrNameLst>
                                      </p:cBhvr>
                                      <p:tavLst>
                                        <p:tav tm="0">
                                          <p:val>
                                            <p:strVal val="#ppt_y+.05"/>
                                          </p:val>
                                        </p:tav>
                                        <p:tav tm="100000">
                                          <p:val>
                                            <p:strVal val="#ppt_y"/>
                                          </p:val>
                                        </p:tav>
                                      </p:tavLst>
                                    </p:anim>
                                    <p:animEffect transition="in" filter="fade">
                                      <p:cBhvr>
                                        <p:cTn id="18" dur="850"/>
                                        <p:tgtEl>
                                          <p:spTgt spid="7"/>
                                        </p:tgtEl>
                                      </p:cBhvr>
                                    </p:animEffect>
                                  </p:childTnLst>
                                </p:cTn>
                              </p:par>
                              <p:par>
                                <p:cTn id="19" presetID="10" presetClass="entr" presetSubtype="0" fill="hold" grpId="0" nodeType="withEffect">
                                  <p:stCondLst>
                                    <p:cond delay="135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Tower artwork" descr="Illustration (not a photograph): a residential tower at night. One window is marked for the resident, another a few floors below for a neighbor who sells.">    </p:cNvPr>
          <p:cNvPicPr>
            <a:picLocks noChangeAspect="1"/>
          </p:cNvPicPr>
          <p:nvPr/>
        </p:nvPicPr>
        <p:blipFill>
          <a:blip r:embed="rId1"/>
          <a:stretch>
            <a:fillRect/>
          </a:stretch>
        </p:blipFill>
        <p:spPr>
          <a:xfrm>
            <a:off x="7620000" y="0"/>
            <a:ext cx="4572000" cy="6858000"/>
          </a:xfrm>
          <a:prstGeom prst="rect">
            <a:avLst/>
          </a:prstGeom>
        </p:spPr>
      </p:pic>
      <p:sp>
        <p:nvSpPr>
          <p:cNvPr id="3" name="Route 1"/>
          <p:cNvSpPr/>
          <p:nvPr/>
        </p:nvSpPr>
        <p:spPr>
          <a:xfrm>
            <a:off x="8607552" y="2265363"/>
            <a:ext cx="2904363" cy="4019994"/>
          </a:xfrm>
          <a:custGeom>
            <a:avLst/>
            <a:gdLst/>
            <a:ahLst/>
            <a:cxnLst/>
            <a:rect l="l" t="t" r="r" b="b"/>
            <a:pathLst>
              <a:path w="2904363" h="4019994">
                <a:moveTo>
                  <a:pt x="0" y="0"/>
                </a:moveTo>
                <a:lnTo>
                  <a:pt x="0" y="4019994"/>
                </a:lnTo>
                <a:lnTo>
                  <a:pt x="2904363" y="4019994"/>
                </a:lnTo>
              </a:path>
            </a:pathLst>
          </a:custGeom>
          <a:noFill/>
          <a:ln w="25400">
            <a:solidFill>
              <a:schemeClr val="bg1"/>
            </a:solidFill>
            <a:prstDash val="dash"/>
            <a:tailEnd type="triangle"/>
          </a:ln>
        </p:spPr>
      </p:sp>
      <p:sp>
        <p:nvSpPr>
          <p:cNvPr id="4" name="Route 2"/>
          <p:cNvSpPr/>
          <p:nvPr/>
        </p:nvSpPr>
        <p:spPr>
          <a:xfrm>
            <a:off x="10665866" y="914400"/>
            <a:ext cx="1175614" cy="1350963"/>
          </a:xfrm>
          <a:custGeom>
            <a:avLst/>
            <a:gdLst/>
            <a:ahLst/>
            <a:cxnLst/>
            <a:rect l="l" t="t" r="r" b="b"/>
            <a:pathLst>
              <a:path w="1175614" h="1350963">
                <a:moveTo>
                  <a:pt x="1175614" y="0"/>
                </a:moveTo>
                <a:quadBezTo>
                  <a:pt x="141074" y="27019"/>
                  <a:pt x="0" y="1350963"/>
                </a:quadBezTo>
              </a:path>
            </a:pathLst>
          </a:custGeom>
          <a:noFill/>
          <a:ln w="25400">
            <a:solidFill>
              <a:schemeClr val="bg1"/>
            </a:solidFill>
            <a:prstDash val="sysDot"/>
            <a:tailEnd type="triangle"/>
          </a:ln>
        </p:spPr>
      </p:sp>
      <p:sp>
        <p:nvSpPr>
          <p:cNvPr id="5" name="Route 3"/>
          <p:cNvSpPr/>
          <p:nvPr/>
        </p:nvSpPr>
        <p:spPr>
          <a:xfrm>
            <a:off x="10294620" y="2522030"/>
            <a:ext cx="0" cy="1331341"/>
          </a:xfrm>
          <a:prstGeom prst="line">
            <a:avLst/>
          </a:prstGeom>
          <a:noFill/>
          <a:ln w="38100">
            <a:solidFill>
              <a:schemeClr val="accent3"/>
            </a:solidFill>
            <a:prstDash val="dash"/>
            <a:headEnd type="oval"/>
            <a:tailEnd type="oval"/>
          </a:ln>
        </p:spPr>
      </p:sp>
      <p:sp>
        <p:nvSpPr>
          <p:cNvPr id="6" name="Route 1 number"/>
          <p:cNvSpPr/>
          <p:nvPr/>
        </p:nvSpPr>
        <p:spPr>
          <a:xfrm>
            <a:off x="8424672" y="5029200"/>
            <a:ext cx="365760" cy="365760"/>
          </a:xfrm>
          <a:prstGeom prst="ellipse">
            <a:avLst/>
          </a:prstGeom>
          <a:solidFill>
            <a:schemeClr val="bg1"/>
          </a:solidFill>
          <a:ln/>
        </p:spPr>
        <p:txBody>
          <a:bodyPr wrap="square" lIns="0" tIns="0" rIns="0" bIns="0" rtlCol="0" anchor="ctr"/>
          <a:lstStyle/>
          <a:p>
            <a:pPr algn="ctr" indent="0" marL="0">
              <a:buNone/>
            </a:pPr>
            <a:r>
              <a:rPr lang="en-US" sz="1500" b="1" dirty="0">
                <a:solidFill>
                  <a:schemeClr val="tx1"/>
                </a:solidFill>
              </a:rPr>
              <a:t>1</a:t>
            </a:r>
            <a:endParaRPr lang="en-US" sz="1500" dirty="0"/>
          </a:p>
        </p:txBody>
      </p:sp>
      <p:sp>
        <p:nvSpPr>
          <p:cNvPr id="7" name="Route 2 number"/>
          <p:cNvSpPr/>
          <p:nvPr/>
        </p:nvSpPr>
        <p:spPr>
          <a:xfrm>
            <a:off x="11430000" y="731520"/>
            <a:ext cx="365760" cy="365760"/>
          </a:xfrm>
          <a:prstGeom prst="ellipse">
            <a:avLst/>
          </a:prstGeom>
          <a:solidFill>
            <a:schemeClr val="bg1"/>
          </a:solidFill>
          <a:ln/>
        </p:spPr>
        <p:txBody>
          <a:bodyPr wrap="square" lIns="0" tIns="0" rIns="0" bIns="0" rtlCol="0" anchor="ctr"/>
          <a:lstStyle/>
          <a:p>
            <a:pPr algn="ctr" indent="0" marL="0">
              <a:buNone/>
            </a:pPr>
            <a:r>
              <a:rPr lang="en-US" sz="1500" b="1" dirty="0">
                <a:solidFill>
                  <a:schemeClr val="tx1"/>
                </a:solidFill>
              </a:rPr>
              <a:t>2</a:t>
            </a:r>
            <a:endParaRPr lang="en-US" sz="1500" dirty="0"/>
          </a:p>
        </p:txBody>
      </p:sp>
      <p:sp>
        <p:nvSpPr>
          <p:cNvPr id="8" name="Route 3 number"/>
          <p:cNvSpPr/>
          <p:nvPr/>
        </p:nvSpPr>
        <p:spPr>
          <a:xfrm>
            <a:off x="10678668" y="3004820"/>
            <a:ext cx="365760" cy="365760"/>
          </a:xfrm>
          <a:prstGeom prst="ellipse">
            <a:avLst/>
          </a:prstGeom>
          <a:solidFill>
            <a:schemeClr val="accent3"/>
          </a:solidFill>
          <a:ln/>
        </p:spPr>
        <p:txBody>
          <a:bodyPr wrap="square" lIns="0" tIns="0" rIns="0" bIns="0" rtlCol="0" anchor="ctr"/>
          <a:lstStyle/>
          <a:p>
            <a:pPr algn="ctr" indent="0" marL="0">
              <a:buNone/>
            </a:pPr>
            <a:r>
              <a:rPr lang="en-US" sz="1500" b="1" dirty="0">
                <a:solidFill>
                  <a:schemeClr val="tx1"/>
                </a:solidFill>
              </a:rPr>
              <a:t>3</a:t>
            </a:r>
            <a:endParaRPr lang="en-US" sz="1500" dirty="0"/>
          </a:p>
        </p:txBody>
      </p:sp>
      <p:sp>
        <p:nvSpPr>
          <p:cNvPr id="9" name="Tag You"/>
          <p:cNvSpPr/>
          <p:nvPr/>
        </p:nvSpPr>
        <p:spPr>
          <a:xfrm>
            <a:off x="7665720" y="2109915"/>
            <a:ext cx="603504" cy="310896"/>
          </a:xfrm>
          <a:prstGeom prst="roundRect">
            <a:avLst>
              <a:gd name="adj" fmla="val 50000"/>
            </a:avLst>
          </a:prstGeom>
          <a:solidFill>
            <a:srgbClr val="3FD39B"/>
          </a:solidFill>
          <a:ln/>
        </p:spPr>
        <p:txBody>
          <a:bodyPr wrap="square" lIns="0" tIns="0" rIns="0" bIns="0" rtlCol="0" anchor="ctr"/>
          <a:lstStyle/>
          <a:p>
            <a:pPr algn="ctr" indent="0" marL="0">
              <a:buNone/>
            </a:pPr>
            <a:r>
              <a:rPr lang="en-US" sz="1200" b="1" spc="200" kern="0" dirty="0">
                <a:solidFill>
                  <a:schemeClr val="tx1"/>
                </a:solidFill>
              </a:rPr>
              <a:t>YOU</a:t>
            </a:r>
            <a:endParaRPr lang="en-US" sz="1200" dirty="0"/>
          </a:p>
        </p:txBody>
      </p:sp>
      <p:sp>
        <p:nvSpPr>
          <p:cNvPr id="10" name="Tag Seller"/>
          <p:cNvSpPr/>
          <p:nvPr/>
        </p:nvSpPr>
        <p:spPr>
          <a:xfrm>
            <a:off x="7665720" y="3954590"/>
            <a:ext cx="786384"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spc="200" kern="0" dirty="0">
                <a:solidFill>
                  <a:schemeClr val="tx1"/>
                </a:solidFill>
              </a:rPr>
              <a:t>SELLER</a:t>
            </a:r>
            <a:endParaRPr lang="en-US" sz="1200" dirty="0"/>
          </a:p>
        </p:txBody>
      </p:sp>
      <p:sp>
        <p:nvSpPr>
          <p:cNvPr id="11" name="Eyebrow"/>
          <p:cNvSpPr txBox="1"/>
          <p:nvPr/>
        </p:nvSpPr>
        <p:spPr>
          <a:xfrm>
            <a:off x="685800" y="502920"/>
            <a:ext cx="7315200" cy="274320"/>
          </a:xfrm>
          <a:prstGeom prst="rect">
            <a:avLst/>
          </a:prstGeom>
          <a:noFill/>
          <a:ln/>
        </p:spPr>
        <p:txBody>
          <a:bodyPr wrap="square" lIns="0" tIns="0" rIns="0" bIns="0" rtlCol="0" anchor="t"/>
          <a:lstStyle/>
          <a:p>
            <a:pPr algn="l" indent="0" marL="0">
              <a:buNone/>
            </a:pPr>
            <a:r>
              <a:rPr lang="en-US" sz="1300" b="1" spc="300" kern="0" dirty="0">
                <a:solidFill>
                  <a:schemeClr val="accent1"/>
                </a:solidFill>
              </a:rPr>
              <a:t>THE EVERYDAY PROBLEM</a:t>
            </a:r>
            <a:endParaRPr lang="en-US" sz="1300" dirty="0"/>
          </a:p>
        </p:txBody>
      </p:sp>
      <p:sp>
        <p:nvSpPr>
          <p:cNvPr id="12" name="Text 0"/>
          <p:cNvSpPr/>
          <p:nvPr>
            <p:ph idx="101" type="title" hasCustomPrompt="1"/>
          </p:nvPr>
        </p:nvSpPr>
        <p:spPr>
          <a:xfrm>
            <a:off x="685800" y="841248"/>
            <a:ext cx="6492240" cy="1325880"/>
          </a:xfrm>
          <a:prstGeom prst="rect">
            <a:avLst/>
          </a:prstGeom>
          <a:noFill/>
          <a:ln/>
        </p:spPr>
        <p:txBody>
          <a:bodyPr wrap="square" lIns="0" tIns="0" rIns="0" bIns="0" rtlCol="0" anchor="t"/>
          <a:lstStyle/>
          <a:p>
            <a:pPr algn="l" indent="0" marL="0">
              <a:lnSpc>
                <a:spcPct val="95000"/>
              </a:lnSpc>
              <a:buNone/>
            </a:pPr>
            <a:r>
              <a:rPr lang="en-US" sz="4000" b="1" dirty="0">
                <a:solidFill>
                  <a:schemeClr val="tx1"/>
                </a:solidFill>
                <a:latin typeface="+mj-lt" pitchFamily="34" charset="0"/>
                <a:ea typeface="+mj-lt" pitchFamily="34" charset="-122"/>
                <a:cs typeface="+mj-lt" pitchFamily="34" charset="-120"/>
              </a:rPr>
              <a:t>Getting dinner shouldn’t mean going </a:t>
            </a:r>
            <a:pPr algn="l" indent="0" marL="0">
              <a:lnSpc>
                <a:spcPct val="95000"/>
              </a:lnSpc>
              <a:buNone/>
            </a:pPr>
            <a:r>
              <a:rPr lang="en-US" sz="4000" b="1" i="1" dirty="0">
                <a:solidFill>
                  <a:schemeClr val="accent1"/>
                </a:solidFill>
                <a:latin typeface="+mj-lt" pitchFamily="34" charset="0"/>
                <a:ea typeface="+mj-lt" pitchFamily="34" charset="-122"/>
                <a:cs typeface="+mj-lt" pitchFamily="34" charset="-120"/>
              </a:rPr>
              <a:t>downstairs.</a:t>
            </a:r>
            <a:endParaRPr lang="en-US" sz="4000" dirty="0"/>
          </a:p>
        </p:txBody>
      </p:sp>
      <p:sp>
        <p:nvSpPr>
          <p:cNvPr id="13" name="Lede"/>
          <p:cNvSpPr txBox="1"/>
          <p:nvPr/>
        </p:nvSpPr>
        <p:spPr>
          <a:xfrm>
            <a:off x="685800" y="2331720"/>
            <a:ext cx="6126480" cy="1188720"/>
          </a:xfrm>
          <a:prstGeom prst="rect">
            <a:avLst/>
          </a:prstGeom>
          <a:noFill/>
          <a:ln/>
        </p:spPr>
        <p:txBody>
          <a:bodyPr wrap="square" lIns="0" tIns="0" rIns="0" bIns="0" rtlCol="0" anchor="t"/>
          <a:lstStyle/>
          <a:p>
            <a:pPr algn="l" indent="0" marL="0">
              <a:lnSpc>
                <a:spcPct val="108000"/>
              </a:lnSpc>
              <a:buNone/>
            </a:pPr>
            <a:r>
              <a:rPr lang="en-US" sz="2000" dirty="0">
                <a:solidFill>
                  <a:srgbClr val="354F41"/>
                </a:solidFill>
              </a:rPr>
              <a:t>Residents either head down and out, or lean on delivery platforms built for an entire city. Neither starts with the neighbor who may be cooking a few floors away.</a:t>
            </a:r>
            <a:endParaRPr lang="en-US" sz="2000" dirty="0"/>
          </a:p>
        </p:txBody>
      </p:sp>
      <p:sp>
        <p:nvSpPr>
          <p:cNvPr id="14" name="Row 1 number"/>
          <p:cNvSpPr/>
          <p:nvPr/>
        </p:nvSpPr>
        <p:spPr>
          <a:xfrm>
            <a:off x="713232" y="3867912"/>
            <a:ext cx="420624" cy="420624"/>
          </a:xfrm>
          <a:prstGeom prst="ellipse">
            <a:avLst/>
          </a:prstGeom>
          <a:solidFill>
            <a:schemeClr val="tx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5" name="Row 1"/>
          <p:cNvSpPr txBox="1"/>
          <p:nvPr/>
        </p:nvSpPr>
        <p:spPr>
          <a:xfrm>
            <a:off x="1325880" y="3822192"/>
            <a:ext cx="5486400" cy="640080"/>
          </a:xfrm>
          <a:prstGeom prst="rect">
            <a:avLst/>
          </a:prstGeom>
          <a:noFill/>
          <a:ln/>
        </p:spPr>
        <p:txBody>
          <a:bodyPr wrap="square" lIns="0" tIns="0" rIns="0" bIns="0" rtlCol="0" anchor="t"/>
          <a:lstStyle/>
          <a:p>
            <a:pPr algn="l" indent="0" marL="0">
              <a:lnSpc>
                <a:spcPct val="102000"/>
              </a:lnSpc>
              <a:buNone/>
            </a:pPr>
            <a:r>
              <a:rPr lang="en-US" sz="1800" b="1" dirty="0">
                <a:solidFill>
                  <a:schemeClr val="tx1"/>
                </a:solidFill>
              </a:rPr>
              <a:t>Go downstairs and out</a:t>
            </a:r>
            <a:endParaRPr lang="en-US" sz="1800" dirty="0"/>
          </a:p>
          <a:p>
            <a:pPr algn="l" indent="0" marL="0">
              <a:lnSpc>
                <a:spcPct val="102000"/>
              </a:lnSpc>
              <a:buNone/>
            </a:pPr>
            <a:r>
              <a:rPr lang="en-US" sz="1500" dirty="0">
                <a:solidFill>
                  <a:srgbClr val="4A6B5A"/>
                </a:solidFill>
              </a:rPr>
              <a:t>Leave the unit, walk, queue, carry it back.</a:t>
            </a:r>
            <a:endParaRPr lang="en-US" sz="1800" dirty="0"/>
          </a:p>
        </p:txBody>
      </p:sp>
      <p:sp>
        <p:nvSpPr>
          <p:cNvPr id="16" name="Row 2 number"/>
          <p:cNvSpPr/>
          <p:nvPr/>
        </p:nvSpPr>
        <p:spPr>
          <a:xfrm>
            <a:off x="713232" y="4654296"/>
            <a:ext cx="420624" cy="420624"/>
          </a:xfrm>
          <a:prstGeom prst="ellipse">
            <a:avLst/>
          </a:prstGeom>
          <a:solidFill>
            <a:schemeClr val="tx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7" name="Row 2"/>
          <p:cNvSpPr txBox="1"/>
          <p:nvPr/>
        </p:nvSpPr>
        <p:spPr>
          <a:xfrm>
            <a:off x="1325880" y="4608576"/>
            <a:ext cx="5486400" cy="640080"/>
          </a:xfrm>
          <a:prstGeom prst="rect">
            <a:avLst/>
          </a:prstGeom>
          <a:noFill/>
          <a:ln/>
        </p:spPr>
        <p:txBody>
          <a:bodyPr wrap="square" lIns="0" tIns="0" rIns="0" bIns="0" rtlCol="0" anchor="t"/>
          <a:lstStyle/>
          <a:p>
            <a:pPr algn="l" indent="0" marL="0">
              <a:lnSpc>
                <a:spcPct val="102000"/>
              </a:lnSpc>
              <a:buNone/>
            </a:pPr>
            <a:r>
              <a:rPr lang="en-US" sz="1800" b="1" dirty="0">
                <a:solidFill>
                  <a:schemeClr val="tx1"/>
                </a:solidFill>
              </a:rPr>
              <a:t>Use a large delivery platform</a:t>
            </a:r>
            <a:endParaRPr lang="en-US" sz="1800" dirty="0"/>
          </a:p>
          <a:p>
            <a:pPr algn="l" indent="0" marL="0">
              <a:lnSpc>
                <a:spcPct val="102000"/>
              </a:lnSpc>
              <a:buNone/>
            </a:pPr>
            <a:r>
              <a:rPr lang="en-US" sz="1500" dirty="0">
                <a:solidFill>
                  <a:srgbClr val="4A6B5A"/>
                </a:solidFill>
              </a:rPr>
              <a:t>Built to reach a whole city.</a:t>
            </a:r>
            <a:endParaRPr lang="en-US" sz="1800" dirty="0"/>
          </a:p>
        </p:txBody>
      </p:sp>
      <p:sp>
        <p:nvSpPr>
          <p:cNvPr id="18" name="Row 3 card"/>
          <p:cNvSpPr/>
          <p:nvPr/>
        </p:nvSpPr>
        <p:spPr>
          <a:xfrm>
            <a:off x="548640" y="5321808"/>
            <a:ext cx="6400800" cy="731520"/>
          </a:xfrm>
          <a:prstGeom prst="roundRect">
            <a:avLst>
              <a:gd name="adj" fmla="val 17500"/>
            </a:avLst>
          </a:prstGeom>
          <a:solidFill>
            <a:schemeClr val="accent2">
              <a:alpha val="12000"/>
            </a:schemeClr>
          </a:solidFill>
          <a:ln w="12700">
            <a:solidFill>
              <a:schemeClr val="accent2">
                <a:alpha val="60000"/>
              </a:schemeClr>
            </a:solidFill>
            <a:prstDash val="solid"/>
          </a:ln>
        </p:spPr>
      </p:sp>
      <p:sp>
        <p:nvSpPr>
          <p:cNvPr id="19" name="Row 3 number"/>
          <p:cNvSpPr/>
          <p:nvPr/>
        </p:nvSpPr>
        <p:spPr>
          <a:xfrm>
            <a:off x="713232" y="5440680"/>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20" name="Row 3"/>
          <p:cNvSpPr txBox="1"/>
          <p:nvPr/>
        </p:nvSpPr>
        <p:spPr>
          <a:xfrm>
            <a:off x="1325880" y="5394960"/>
            <a:ext cx="5486400" cy="640080"/>
          </a:xfrm>
          <a:prstGeom prst="rect">
            <a:avLst/>
          </a:prstGeom>
          <a:noFill/>
          <a:ln/>
        </p:spPr>
        <p:txBody>
          <a:bodyPr wrap="square" lIns="0" tIns="0" rIns="0" bIns="0" rtlCol="0" anchor="t"/>
          <a:lstStyle/>
          <a:p>
            <a:pPr algn="l" indent="0" marL="0">
              <a:lnSpc>
                <a:spcPct val="102000"/>
              </a:lnSpc>
              <a:buNone/>
            </a:pPr>
            <a:r>
              <a:rPr lang="en-US" sz="1800" b="1" dirty="0">
                <a:solidFill>
                  <a:schemeClr val="tx1"/>
                </a:solidFill>
              </a:rPr>
              <a:t>Order from a neighbor</a:t>
            </a:r>
            <a:endParaRPr lang="en-US" sz="1800" dirty="0"/>
          </a:p>
          <a:p>
            <a:pPr algn="l" indent="0" marL="0">
              <a:lnSpc>
                <a:spcPct val="102000"/>
              </a:lnSpc>
              <a:buNone/>
            </a:pPr>
            <a:r>
              <a:rPr lang="en-US" sz="1500" dirty="0">
                <a:solidFill>
                  <a:schemeClr val="tx2"/>
                </a:solidFill>
              </a:rPr>
              <a:t>The use case Lokal Finder is built for.</a:t>
            </a:r>
            <a:endParaRPr lang="en-US" sz="1800" dirty="0"/>
          </a:p>
        </p:txBody>
      </p:sp>
      <p:sp>
        <p:nvSpPr>
          <p:cNvPr id="21" name="Footnote"/>
          <p:cNvSpPr txBox="1"/>
          <p:nvPr/>
        </p:nvSpPr>
        <p:spPr>
          <a:xfrm>
            <a:off x="1115568" y="6382512"/>
            <a:ext cx="9692640" cy="274320"/>
          </a:xfrm>
          <a:prstGeom prst="rect">
            <a:avLst/>
          </a:prstGeom>
          <a:noFill/>
          <a:ln/>
        </p:spPr>
        <p:txBody>
          <a:bodyPr wrap="square" lIns="0" tIns="0" rIns="0" bIns="0" rtlCol="0" anchor="ctr"/>
          <a:lstStyle/>
          <a:p>
            <a:pPr algn="l" indent="0" marL="0">
              <a:buNone/>
            </a:pPr>
            <a:r>
              <a:rPr lang="en-US" sz="1200" dirty="0">
                <a:solidFill>
                  <a:srgbClr val="4A6B5A"/>
                </a:solidFill>
              </a:rPr>
              <a:t>Intended use case, not a claim about every customer or every condominium.</a:t>
            </a:r>
            <a:endParaRPr lang="en-US" sz="1200" dirty="0"/>
          </a:p>
        </p:txBody>
      </p:sp>
      <p:sp>
        <p:nvSpPr>
          <p:cNvPr id="25" name="Slide Number Placeholder 0"/>
          <p:cNvSpPr>
            <a:spLocks noGrp="1"/>
          </p:cNvSpPr>
          <p:nvPr>
            <p:ph type="sldNum" sz="quarter" idx="4294967295"/>
          </p:nvPr>
        </p:nvSpPr>
        <p:spPr>
          <a:xfrm>
            <a:off x="10957560" y="6373368"/>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accent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12"/>
                                        </p:tgtEl>
                                        <p:attrNameLst>
                                          <p:attrName>style.visibility</p:attrName>
                                        </p:attrNameLst>
                                      </p:cBhvr>
                                      <p:to>
                                        <p:strVal val="visible"/>
                                      </p:to>
                                    </p:set>
                                    <p:anim calcmode="lin" valueType="num">
                                      <p:cBhvr>
                                        <p:cTn id="10" dur="550" fill="hold"/>
                                        <p:tgtEl>
                                          <p:spTgt spid="12"/>
                                        </p:tgtEl>
                                        <p:attrNameLst>
                                          <p:attrName>ppt_y</p:attrName>
                                        </p:attrNameLst>
                                      </p:cBhvr>
                                      <p:tavLst>
                                        <p:tav tm="0">
                                          <p:val>
                                            <p:strVal val="#ppt_y+.05"/>
                                          </p:val>
                                        </p:tav>
                                        <p:tav tm="100000">
                                          <p:val>
                                            <p:strVal val="#ppt_y"/>
                                          </p:val>
                                        </p:tav>
                                      </p:tavLst>
                                    </p:anim>
                                    <p:animEffect transition="in" filter="fade">
                                      <p:cBhvr>
                                        <p:cTn id="11" dur="550"/>
                                        <p:tgtEl>
                                          <p:spTgt spid="12"/>
                                        </p:tgtEl>
                                      </p:cBhvr>
                                    </p:animEffect>
                                  </p:childTnLst>
                                </p:cTn>
                              </p:par>
                              <p:par>
                                <p:cTn id="12" presetID="10" presetClass="entr" presetSubtype="0" fill="hold" grpId="0" nodeType="withEffect">
                                  <p:stCondLst>
                                    <p:cond delay="55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par>
                                <p:cTn id="15" presetID="42" presetClass="entr" presetSubtype="0" fill="hold" grpId="0" nodeType="withEffect">
                                  <p:stCondLst>
                                    <p:cond delay="900"/>
                                  </p:stCondLst>
                                  <p:childTnLst>
                                    <p:set>
                                      <p:cBhvr>
                                        <p:cTn id="16" dur="1" fill="hold">
                                          <p:stCondLst>
                                            <p:cond delay="0"/>
                                          </p:stCondLst>
                                        </p:cTn>
                                        <p:tgtEl>
                                          <p:spTgt spid="14"/>
                                        </p:tgtEl>
                                        <p:attrNameLst>
                                          <p:attrName>style.visibility</p:attrName>
                                        </p:attrNameLst>
                                      </p:cBhvr>
                                      <p:to>
                                        <p:strVal val="visible"/>
                                      </p:to>
                                    </p:set>
                                    <p:anim calcmode="lin" valueType="num">
                                      <p:cBhvr>
                                        <p:cTn id="17" dur="550" fill="hold"/>
                                        <p:tgtEl>
                                          <p:spTgt spid="14"/>
                                        </p:tgtEl>
                                        <p:attrNameLst>
                                          <p:attrName>ppt_y</p:attrName>
                                        </p:attrNameLst>
                                      </p:cBhvr>
                                      <p:tavLst>
                                        <p:tav tm="0">
                                          <p:val>
                                            <p:strVal val="#ppt_y+.05"/>
                                          </p:val>
                                        </p:tav>
                                        <p:tav tm="100000">
                                          <p:val>
                                            <p:strVal val="#ppt_y"/>
                                          </p:val>
                                        </p:tav>
                                      </p:tavLst>
                                    </p:anim>
                                    <p:animEffect transition="in" filter="fade">
                                      <p:cBhvr>
                                        <p:cTn id="18" dur="550"/>
                                        <p:tgtEl>
                                          <p:spTgt spid="14"/>
                                        </p:tgtEl>
                                      </p:cBhvr>
                                    </p:animEffect>
                                  </p:childTnLst>
                                </p:cTn>
                              </p:par>
                              <p:par>
                                <p:cTn id="19" presetID="42" presetClass="entr" presetSubtype="0" fill="hold" grpId="0" nodeType="withEffect">
                                  <p:stCondLst>
                                    <p:cond delay="900"/>
                                  </p:stCondLst>
                                  <p:childTnLst>
                                    <p:set>
                                      <p:cBhvr>
                                        <p:cTn id="20" dur="1" fill="hold">
                                          <p:stCondLst>
                                            <p:cond delay="0"/>
                                          </p:stCondLst>
                                        </p:cTn>
                                        <p:tgtEl>
                                          <p:spTgt spid="15"/>
                                        </p:tgtEl>
                                        <p:attrNameLst>
                                          <p:attrName>style.visibility</p:attrName>
                                        </p:attrNameLst>
                                      </p:cBhvr>
                                      <p:to>
                                        <p:strVal val="visible"/>
                                      </p:to>
                                    </p:set>
                                    <p:anim calcmode="lin" valueType="num">
                                      <p:cBhvr>
                                        <p:cTn id="21" dur="550" fill="hold"/>
                                        <p:tgtEl>
                                          <p:spTgt spid="15"/>
                                        </p:tgtEl>
                                        <p:attrNameLst>
                                          <p:attrName>ppt_y</p:attrName>
                                        </p:attrNameLst>
                                      </p:cBhvr>
                                      <p:tavLst>
                                        <p:tav tm="0">
                                          <p:val>
                                            <p:strVal val="#ppt_y+.05"/>
                                          </p:val>
                                        </p:tav>
                                        <p:tav tm="100000">
                                          <p:val>
                                            <p:strVal val="#ppt_y"/>
                                          </p:val>
                                        </p:tav>
                                      </p:tavLst>
                                    </p:anim>
                                    <p:animEffect transition="in" filter="fade">
                                      <p:cBhvr>
                                        <p:cTn id="22" dur="550"/>
                                        <p:tgtEl>
                                          <p:spTgt spid="15"/>
                                        </p:tgtEl>
                                      </p:cBhvr>
                                    </p:animEffect>
                                  </p:childTnLst>
                                </p:cTn>
                              </p:par>
                              <p:par>
                                <p:cTn id="23" presetID="22" presetClass="entr" presetSubtype="1" fill="hold" grpId="0" nodeType="withEffect">
                                  <p:stCondLst>
                                    <p:cond delay="900"/>
                                  </p:stCondLst>
                                  <p:childTnLst>
                                    <p:set>
                                      <p:cBhvr>
                                        <p:cTn id="24" dur="1" fill="hold">
                                          <p:stCondLst>
                                            <p:cond delay="0"/>
                                          </p:stCondLst>
                                        </p:cTn>
                                        <p:tgtEl>
                                          <p:spTgt spid="3"/>
                                        </p:tgtEl>
                                        <p:attrNameLst>
                                          <p:attrName>style.visibility</p:attrName>
                                        </p:attrNameLst>
                                      </p:cBhvr>
                                      <p:to>
                                        <p:strVal val="visible"/>
                                      </p:to>
                                    </p:set>
                                    <p:animEffect transition="in" filter="wipe(up)">
                                      <p:cBhvr>
                                        <p:cTn id="25" dur="900"/>
                                        <p:tgtEl>
                                          <p:spTgt spid="3"/>
                                        </p:tgtEl>
                                      </p:cBhvr>
                                    </p:animEffect>
                                  </p:childTnLst>
                                </p:cTn>
                              </p:par>
                              <p:par>
                                <p:cTn id="26" presetID="10" presetClass="entr" presetSubtype="0" fill="hold" grpId="0" nodeType="withEffect">
                                  <p:stCondLst>
                                    <p:cond delay="100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par>
                                <p:cTn id="29" presetID="10" presetClass="entr" presetSubtype="0" fill="hold" grpId="0" nodeType="withEffect">
                                  <p:stCondLst>
                                    <p:cond delay="100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par>
                                <p:cTn id="32" presetID="42" presetClass="entr" presetSubtype="0" fill="hold" grpId="0" nodeType="withEffect">
                                  <p:stCondLst>
                                    <p:cond delay="1350"/>
                                  </p:stCondLst>
                                  <p:childTnLst>
                                    <p:set>
                                      <p:cBhvr>
                                        <p:cTn id="33" dur="1" fill="hold">
                                          <p:stCondLst>
                                            <p:cond delay="0"/>
                                          </p:stCondLst>
                                        </p:cTn>
                                        <p:tgtEl>
                                          <p:spTgt spid="16"/>
                                        </p:tgtEl>
                                        <p:attrNameLst>
                                          <p:attrName>style.visibility</p:attrName>
                                        </p:attrNameLst>
                                      </p:cBhvr>
                                      <p:to>
                                        <p:strVal val="visible"/>
                                      </p:to>
                                    </p:set>
                                    <p:anim calcmode="lin" valueType="num">
                                      <p:cBhvr>
                                        <p:cTn id="34" dur="550" fill="hold"/>
                                        <p:tgtEl>
                                          <p:spTgt spid="16"/>
                                        </p:tgtEl>
                                        <p:attrNameLst>
                                          <p:attrName>ppt_y</p:attrName>
                                        </p:attrNameLst>
                                      </p:cBhvr>
                                      <p:tavLst>
                                        <p:tav tm="0">
                                          <p:val>
                                            <p:strVal val="#ppt_y+.05"/>
                                          </p:val>
                                        </p:tav>
                                        <p:tav tm="100000">
                                          <p:val>
                                            <p:strVal val="#ppt_y"/>
                                          </p:val>
                                        </p:tav>
                                      </p:tavLst>
                                    </p:anim>
                                    <p:animEffect transition="in" filter="fade">
                                      <p:cBhvr>
                                        <p:cTn id="35" dur="550"/>
                                        <p:tgtEl>
                                          <p:spTgt spid="16"/>
                                        </p:tgtEl>
                                      </p:cBhvr>
                                    </p:animEffect>
                                  </p:childTnLst>
                                </p:cTn>
                              </p:par>
                              <p:par>
                                <p:cTn id="36" presetID="42" presetClass="entr" presetSubtype="0" fill="hold" grpId="0" nodeType="withEffect">
                                  <p:stCondLst>
                                    <p:cond delay="1350"/>
                                  </p:stCondLst>
                                  <p:childTnLst>
                                    <p:set>
                                      <p:cBhvr>
                                        <p:cTn id="37" dur="1" fill="hold">
                                          <p:stCondLst>
                                            <p:cond delay="0"/>
                                          </p:stCondLst>
                                        </p:cTn>
                                        <p:tgtEl>
                                          <p:spTgt spid="17"/>
                                        </p:tgtEl>
                                        <p:attrNameLst>
                                          <p:attrName>style.visibility</p:attrName>
                                        </p:attrNameLst>
                                      </p:cBhvr>
                                      <p:to>
                                        <p:strVal val="visible"/>
                                      </p:to>
                                    </p:set>
                                    <p:anim calcmode="lin" valueType="num">
                                      <p:cBhvr>
                                        <p:cTn id="38" dur="550" fill="hold"/>
                                        <p:tgtEl>
                                          <p:spTgt spid="17"/>
                                        </p:tgtEl>
                                        <p:attrNameLst>
                                          <p:attrName>ppt_y</p:attrName>
                                        </p:attrNameLst>
                                      </p:cBhvr>
                                      <p:tavLst>
                                        <p:tav tm="0">
                                          <p:val>
                                            <p:strVal val="#ppt_y+.05"/>
                                          </p:val>
                                        </p:tav>
                                        <p:tav tm="100000">
                                          <p:val>
                                            <p:strVal val="#ppt_y"/>
                                          </p:val>
                                        </p:tav>
                                      </p:tavLst>
                                    </p:anim>
                                    <p:animEffect transition="in" filter="fade">
                                      <p:cBhvr>
                                        <p:cTn id="39" dur="550"/>
                                        <p:tgtEl>
                                          <p:spTgt spid="17"/>
                                        </p:tgtEl>
                                      </p:cBhvr>
                                    </p:animEffect>
                                  </p:childTnLst>
                                </p:cTn>
                              </p:par>
                              <p:par>
                                <p:cTn id="40" presetID="22" presetClass="entr" presetSubtype="8" fill="hold" grpId="0" nodeType="withEffect">
                                  <p:stCondLst>
                                    <p:cond delay="1350"/>
                                  </p:stCondLst>
                                  <p:childTnLst>
                                    <p:set>
                                      <p:cBhvr>
                                        <p:cTn id="41" dur="1" fill="hold">
                                          <p:stCondLst>
                                            <p:cond delay="0"/>
                                          </p:stCondLst>
                                        </p:cTn>
                                        <p:tgtEl>
                                          <p:spTgt spid="4"/>
                                        </p:tgtEl>
                                        <p:attrNameLst>
                                          <p:attrName>style.visibility</p:attrName>
                                        </p:attrNameLst>
                                      </p:cBhvr>
                                      <p:to>
                                        <p:strVal val="visible"/>
                                      </p:to>
                                    </p:set>
                                    <p:animEffect transition="in" filter="wipe(left)">
                                      <p:cBhvr>
                                        <p:cTn id="42" dur="800"/>
                                        <p:tgtEl>
                                          <p:spTgt spid="4"/>
                                        </p:tgtEl>
                                      </p:cBhvr>
                                    </p:animEffect>
                                  </p:childTnLst>
                                </p:cTn>
                              </p:par>
                              <p:par>
                                <p:cTn id="43" presetID="10" presetClass="entr" presetSubtype="0" fill="hold" grpId="0" nodeType="withEffect">
                                  <p:stCondLst>
                                    <p:cond delay="135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p:tgtEl>
                                          <p:spTgt spid="7"/>
                                        </p:tgtEl>
                                      </p:cBhvr>
                                    </p:animEffect>
                                  </p:childTnLst>
                                </p:cTn>
                              </p:par>
                              <p:par>
                                <p:cTn id="46" presetID="42" presetClass="entr" presetSubtype="0" fill="hold" grpId="0" nodeType="withEffect">
                                  <p:stCondLst>
                                    <p:cond delay="1800"/>
                                  </p:stCondLst>
                                  <p:childTnLst>
                                    <p:set>
                                      <p:cBhvr>
                                        <p:cTn id="47" dur="1" fill="hold">
                                          <p:stCondLst>
                                            <p:cond delay="0"/>
                                          </p:stCondLst>
                                        </p:cTn>
                                        <p:tgtEl>
                                          <p:spTgt spid="18"/>
                                        </p:tgtEl>
                                        <p:attrNameLst>
                                          <p:attrName>style.visibility</p:attrName>
                                        </p:attrNameLst>
                                      </p:cBhvr>
                                      <p:to>
                                        <p:strVal val="visible"/>
                                      </p:to>
                                    </p:set>
                                    <p:anim calcmode="lin" valueType="num">
                                      <p:cBhvr>
                                        <p:cTn id="48" dur="550" fill="hold"/>
                                        <p:tgtEl>
                                          <p:spTgt spid="18"/>
                                        </p:tgtEl>
                                        <p:attrNameLst>
                                          <p:attrName>ppt_y</p:attrName>
                                        </p:attrNameLst>
                                      </p:cBhvr>
                                      <p:tavLst>
                                        <p:tav tm="0">
                                          <p:val>
                                            <p:strVal val="#ppt_y+.05"/>
                                          </p:val>
                                        </p:tav>
                                        <p:tav tm="100000">
                                          <p:val>
                                            <p:strVal val="#ppt_y"/>
                                          </p:val>
                                        </p:tav>
                                      </p:tavLst>
                                    </p:anim>
                                    <p:animEffect transition="in" filter="fade">
                                      <p:cBhvr>
                                        <p:cTn id="49" dur="550"/>
                                        <p:tgtEl>
                                          <p:spTgt spid="18"/>
                                        </p:tgtEl>
                                      </p:cBhvr>
                                    </p:animEffect>
                                  </p:childTnLst>
                                </p:cTn>
                              </p:par>
                              <p:par>
                                <p:cTn id="50" presetID="42" presetClass="entr" presetSubtype="0" fill="hold" grpId="0" nodeType="withEffect">
                                  <p:stCondLst>
                                    <p:cond delay="1800"/>
                                  </p:stCondLst>
                                  <p:childTnLst>
                                    <p:set>
                                      <p:cBhvr>
                                        <p:cTn id="51" dur="1" fill="hold">
                                          <p:stCondLst>
                                            <p:cond delay="0"/>
                                          </p:stCondLst>
                                        </p:cTn>
                                        <p:tgtEl>
                                          <p:spTgt spid="19"/>
                                        </p:tgtEl>
                                        <p:attrNameLst>
                                          <p:attrName>style.visibility</p:attrName>
                                        </p:attrNameLst>
                                      </p:cBhvr>
                                      <p:to>
                                        <p:strVal val="visible"/>
                                      </p:to>
                                    </p:set>
                                    <p:anim calcmode="lin" valueType="num">
                                      <p:cBhvr>
                                        <p:cTn id="52" dur="550" fill="hold"/>
                                        <p:tgtEl>
                                          <p:spTgt spid="19"/>
                                        </p:tgtEl>
                                        <p:attrNameLst>
                                          <p:attrName>ppt_y</p:attrName>
                                        </p:attrNameLst>
                                      </p:cBhvr>
                                      <p:tavLst>
                                        <p:tav tm="0">
                                          <p:val>
                                            <p:strVal val="#ppt_y+.05"/>
                                          </p:val>
                                        </p:tav>
                                        <p:tav tm="100000">
                                          <p:val>
                                            <p:strVal val="#ppt_y"/>
                                          </p:val>
                                        </p:tav>
                                      </p:tavLst>
                                    </p:anim>
                                    <p:animEffect transition="in" filter="fade">
                                      <p:cBhvr>
                                        <p:cTn id="53" dur="550"/>
                                        <p:tgtEl>
                                          <p:spTgt spid="19"/>
                                        </p:tgtEl>
                                      </p:cBhvr>
                                    </p:animEffect>
                                  </p:childTnLst>
                                </p:cTn>
                              </p:par>
                              <p:par>
                                <p:cTn id="54" presetID="42" presetClass="entr" presetSubtype="0" fill="hold" grpId="0" nodeType="withEffect">
                                  <p:stCondLst>
                                    <p:cond delay="1800"/>
                                  </p:stCondLst>
                                  <p:childTnLst>
                                    <p:set>
                                      <p:cBhvr>
                                        <p:cTn id="55" dur="1" fill="hold">
                                          <p:stCondLst>
                                            <p:cond delay="0"/>
                                          </p:stCondLst>
                                        </p:cTn>
                                        <p:tgtEl>
                                          <p:spTgt spid="20"/>
                                        </p:tgtEl>
                                        <p:attrNameLst>
                                          <p:attrName>style.visibility</p:attrName>
                                        </p:attrNameLst>
                                      </p:cBhvr>
                                      <p:to>
                                        <p:strVal val="visible"/>
                                      </p:to>
                                    </p:set>
                                    <p:anim calcmode="lin" valueType="num">
                                      <p:cBhvr>
                                        <p:cTn id="56" dur="550" fill="hold"/>
                                        <p:tgtEl>
                                          <p:spTgt spid="20"/>
                                        </p:tgtEl>
                                        <p:attrNameLst>
                                          <p:attrName>ppt_y</p:attrName>
                                        </p:attrNameLst>
                                      </p:cBhvr>
                                      <p:tavLst>
                                        <p:tav tm="0">
                                          <p:val>
                                            <p:strVal val="#ppt_y+.05"/>
                                          </p:val>
                                        </p:tav>
                                        <p:tav tm="100000">
                                          <p:val>
                                            <p:strVal val="#ppt_y"/>
                                          </p:val>
                                        </p:tav>
                                      </p:tavLst>
                                    </p:anim>
                                    <p:animEffect transition="in" filter="fade">
                                      <p:cBhvr>
                                        <p:cTn id="57" dur="550"/>
                                        <p:tgtEl>
                                          <p:spTgt spid="20"/>
                                        </p:tgtEl>
                                      </p:cBhvr>
                                    </p:animEffect>
                                  </p:childTnLst>
                                </p:cTn>
                              </p:par>
                              <p:par>
                                <p:cTn id="58" presetID="22" presetClass="entr" presetSubtype="1" fill="hold" grpId="0" nodeType="withEffect">
                                  <p:stCondLst>
                                    <p:cond delay="1850"/>
                                  </p:stCondLst>
                                  <p:childTnLst>
                                    <p:set>
                                      <p:cBhvr>
                                        <p:cTn id="59" dur="1" fill="hold">
                                          <p:stCondLst>
                                            <p:cond delay="0"/>
                                          </p:stCondLst>
                                        </p:cTn>
                                        <p:tgtEl>
                                          <p:spTgt spid="5"/>
                                        </p:tgtEl>
                                        <p:attrNameLst>
                                          <p:attrName>style.visibility</p:attrName>
                                        </p:attrNameLst>
                                      </p:cBhvr>
                                      <p:to>
                                        <p:strVal val="visible"/>
                                      </p:to>
                                    </p:set>
                                    <p:animEffect transition="in" filter="wipe(up)">
                                      <p:cBhvr>
                                        <p:cTn id="60" dur="600"/>
                                        <p:tgtEl>
                                          <p:spTgt spid="5"/>
                                        </p:tgtEl>
                                      </p:cBhvr>
                                    </p:animEffect>
                                  </p:childTnLst>
                                </p:cTn>
                              </p:par>
                              <p:par>
                                <p:cTn id="61" presetID="10" presetClass="entr" presetSubtype="0" fill="hold" grpId="0" nodeType="withEffect">
                                  <p:stCondLst>
                                    <p:cond delay="1900"/>
                                  </p:stCondLst>
                                  <p:childTnLst>
                                    <p:set>
                                      <p:cBhvr>
                                        <p:cTn id="62" dur="1" fill="hold">
                                          <p:stCondLst>
                                            <p:cond delay="0"/>
                                          </p:stCondLst>
                                        </p:cTn>
                                        <p:tgtEl>
                                          <p:spTgt spid="8"/>
                                        </p:tgtEl>
                                        <p:attrNameLst>
                                          <p:attrName>style.visibility</p:attrName>
                                        </p:attrNameLst>
                                      </p:cBhvr>
                                      <p:to>
                                        <p:strVal val="visible"/>
                                      </p:to>
                                    </p:set>
                                    <p:animEffect transition="in" filter="fade">
                                      <p:cBhvr>
                                        <p:cTn id="63" dur="500"/>
                                        <p:tgtEl>
                                          <p:spTgt spid="8"/>
                                        </p:tgtEl>
                                      </p:cBhvr>
                                    </p:animEffect>
                                  </p:childTnLst>
                                </p:cTn>
                              </p:par>
                              <p:par>
                                <p:cTn id="64" presetID="10" presetClass="entr" presetSubtype="0" fill="hold" grpId="0" nodeType="withEffect">
                                  <p:stCondLst>
                                    <p:cond delay="1900"/>
                                  </p:stCondLst>
                                  <p:childTnLst>
                                    <p:set>
                                      <p:cBhvr>
                                        <p:cTn id="65" dur="1" fill="hold">
                                          <p:stCondLst>
                                            <p:cond delay="0"/>
                                          </p:stCondLst>
                                        </p:cTn>
                                        <p:tgtEl>
                                          <p:spTgt spid="10"/>
                                        </p:tgtEl>
                                        <p:attrNameLst>
                                          <p:attrName>style.visibility</p:attrName>
                                        </p:attrNameLst>
                                      </p:cBhvr>
                                      <p:to>
                                        <p:strVal val="visible"/>
                                      </p:to>
                                    </p:set>
                                    <p:animEffect transition="in" filter="fade">
                                      <p:cBhvr>
                                        <p:cTn id="66" dur="500"/>
                                        <p:tgtEl>
                                          <p:spTgt spid="10"/>
                                        </p:tgtEl>
                                      </p:cBhvr>
                                    </p:animEffect>
                                  </p:childTnLst>
                                </p:cTn>
                              </p:par>
                              <p:par>
                                <p:cTn id="67" presetID="10" presetClass="entr" presetSubtype="0" fill="hold" grpId="0" nodeType="withEffect">
                                  <p:stCondLst>
                                    <p:cond delay="230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animBg="1"/>
      <p:bldP spid="15" grpId="0"/>
      <p:bldP spid="3" grpId="0" animBg="1"/>
      <p:bldP spid="6" grpId="0" animBg="1"/>
      <p:bldP spid="9" grpId="0" animBg="1"/>
      <p:bldP spid="16" grpId="0" animBg="1"/>
      <p:bldP spid="17" grpId="0"/>
      <p:bldP spid="4" grpId="0" animBg="1"/>
      <p:bldP spid="7" grpId="0" animBg="1"/>
      <p:bldP spid="18" grpId="0" animBg="1"/>
      <p:bldP spid="19" grpId="0" animBg="1"/>
      <p:bldP spid="20" grpId="0"/>
      <p:bldP spid="5" grpId="0" animBg="1"/>
      <p:bldP spid="8" grpId="0" animBg="1"/>
      <p:bldP spid="10" grpId="0" animBg="1"/>
      <p:bldP spid="21"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685800" y="502920"/>
            <a:ext cx="7315200" cy="274320"/>
          </a:xfrm>
          <a:prstGeom prst="rect">
            <a:avLst/>
          </a:prstGeom>
          <a:noFill/>
          <a:ln/>
        </p:spPr>
        <p:txBody>
          <a:bodyPr wrap="square" lIns="0" tIns="0" rIns="0" bIns="0" rtlCol="0" anchor="t"/>
          <a:lstStyle/>
          <a:p>
            <a:pPr algn="l" indent="0" marL="0">
              <a:buNone/>
            </a:pPr>
            <a:r>
              <a:rPr lang="en-US" sz="1300" b="1" spc="300" kern="0" dirty="0">
                <a:solidFill>
                  <a:srgbClr val="3FD39B"/>
                </a:solidFill>
              </a:rPr>
              <a:t>THE INSIGHT</a:t>
            </a:r>
            <a:endParaRPr lang="en-US" sz="1300" dirty="0"/>
          </a:p>
        </p:txBody>
      </p:sp>
      <p:sp>
        <p:nvSpPr>
          <p:cNvPr id="3" name="Text 0"/>
          <p:cNvSpPr/>
          <p:nvPr>
            <p:ph idx="101" type="title" hasCustomPrompt="1"/>
          </p:nvPr>
        </p:nvSpPr>
        <p:spPr>
          <a:xfrm>
            <a:off x="685800" y="841248"/>
            <a:ext cx="10820400" cy="1325880"/>
          </a:xfrm>
          <a:prstGeom prst="rect">
            <a:avLst/>
          </a:prstGeom>
          <a:noFill/>
          <a:ln/>
        </p:spPr>
        <p:txBody>
          <a:bodyPr wrap="square" lIns="0" tIns="0" rIns="0" bIns="0" rtlCol="0" anchor="t"/>
          <a:lstStyle/>
          <a:p>
            <a:pPr algn="l" indent="0" marL="0">
              <a:lnSpc>
                <a:spcPct val="95000"/>
              </a:lnSpc>
              <a:buNone/>
            </a:pPr>
            <a:r>
              <a:rPr lang="en-US" sz="4000" b="1" dirty="0">
                <a:solidFill>
                  <a:schemeClr val="bg1"/>
                </a:solidFill>
                <a:latin typeface="+mj-lt" pitchFamily="34" charset="0"/>
                <a:ea typeface="+mj-lt" pitchFamily="34" charset="-122"/>
                <a:cs typeface="+mj-lt" pitchFamily="34" charset="-120"/>
              </a:rPr>
              <a:t>Neighbors who want it. </a:t>
            </a:r>
            <a:pPr algn="l" indent="0" marL="0">
              <a:lnSpc>
                <a:spcPct val="95000"/>
              </a:lnSpc>
              <a:buNone/>
            </a:pPr>
            <a:r>
              <a:rPr lang="en-US" sz="4000" b="1" i="1" dirty="0">
                <a:solidFill>
                  <a:srgbClr val="3FD39B"/>
                </a:solidFill>
                <a:latin typeface="+mj-lt" pitchFamily="34" charset="0"/>
                <a:ea typeface="+mj-lt" pitchFamily="34" charset="-122"/>
                <a:cs typeface="+mj-lt" pitchFamily="34" charset="-120"/>
              </a:rPr>
              <a:t>Neighbors who have it.</a:t>
            </a:r>
            <a:endParaRPr lang="en-US" sz="4000" dirty="0"/>
          </a:p>
        </p:txBody>
      </p:sp>
      <p:sp>
        <p:nvSpPr>
          <p:cNvPr id="4" name="Circle residents"/>
          <p:cNvSpPr/>
          <p:nvPr/>
        </p:nvSpPr>
        <p:spPr>
          <a:xfrm>
            <a:off x="777240" y="2446020"/>
            <a:ext cx="3611880" cy="3611880"/>
          </a:xfrm>
          <a:prstGeom prst="ellipse">
            <a:avLst/>
          </a:prstGeom>
          <a:solidFill>
            <a:schemeClr val="accent2">
              <a:alpha val="28000"/>
            </a:schemeClr>
          </a:solidFill>
          <a:ln w="19050">
            <a:solidFill>
              <a:srgbClr val="3FD39B">
                <a:alpha val="80000"/>
              </a:srgbClr>
            </a:solidFill>
            <a:prstDash val="solid"/>
          </a:ln>
        </p:spPr>
      </p:sp>
      <p:sp>
        <p:nvSpPr>
          <p:cNvPr id="5" name="Circle sellers"/>
          <p:cNvSpPr/>
          <p:nvPr/>
        </p:nvSpPr>
        <p:spPr>
          <a:xfrm>
            <a:off x="3154680" y="2446020"/>
            <a:ext cx="3611880" cy="3611880"/>
          </a:xfrm>
          <a:prstGeom prst="ellipse">
            <a:avLst/>
          </a:prstGeom>
          <a:solidFill>
            <a:schemeClr val="accent3">
              <a:alpha val="28000"/>
            </a:schemeClr>
          </a:solidFill>
          <a:ln w="19050">
            <a:solidFill>
              <a:schemeClr val="accent3">
                <a:alpha val="85000"/>
              </a:schemeClr>
            </a:solidFill>
            <a:prstDash val="solid"/>
          </a:ln>
        </p:spPr>
      </p:sp>
      <p:sp>
        <p:nvSpPr>
          <p:cNvPr id="6" name="Label residents"/>
          <p:cNvSpPr txBox="1"/>
          <p:nvPr/>
        </p:nvSpPr>
        <p:spPr>
          <a:xfrm>
            <a:off x="960120" y="3749040"/>
            <a:ext cx="1737360" cy="1097280"/>
          </a:xfrm>
          <a:prstGeom prst="rect">
            <a:avLst/>
          </a:prstGeom>
          <a:noFill/>
          <a:ln/>
        </p:spPr>
        <p:txBody>
          <a:bodyPr wrap="square" lIns="0" tIns="0" rIns="0" bIns="0" rtlCol="0" anchor="t"/>
          <a:lstStyle/>
          <a:p>
            <a:pPr algn="ctr" indent="0" marL="0">
              <a:buNone/>
            </a:pPr>
            <a:r>
              <a:rPr lang="en-US" sz="2200" b="1" dirty="0">
                <a:solidFill>
                  <a:schemeClr val="bg1"/>
                </a:solidFill>
              </a:rPr>
              <a:t>Residents</a:t>
            </a:r>
            <a:endParaRPr lang="en-US" sz="2200" dirty="0"/>
          </a:p>
          <a:p>
            <a:pPr algn="ctr" indent="0" marL="0">
              <a:buNone/>
            </a:pPr>
            <a:r>
              <a:rPr lang="en-US" sz="1500" dirty="0">
                <a:solidFill>
                  <a:srgbClr val="E2E5E4"/>
                </a:solidFill>
              </a:rPr>
              <a:t>Need convenient access to food</a:t>
            </a:r>
            <a:endParaRPr lang="en-US" sz="2200" dirty="0"/>
          </a:p>
        </p:txBody>
      </p:sp>
      <p:sp>
        <p:nvSpPr>
          <p:cNvPr id="7" name="Label sellers"/>
          <p:cNvSpPr txBox="1"/>
          <p:nvPr/>
        </p:nvSpPr>
        <p:spPr>
          <a:xfrm>
            <a:off x="4846320" y="3749040"/>
            <a:ext cx="1737360" cy="1097280"/>
          </a:xfrm>
          <a:prstGeom prst="rect">
            <a:avLst/>
          </a:prstGeom>
          <a:noFill/>
          <a:ln/>
        </p:spPr>
        <p:txBody>
          <a:bodyPr wrap="square" lIns="0" tIns="0" rIns="0" bIns="0" rtlCol="0" anchor="t"/>
          <a:lstStyle/>
          <a:p>
            <a:pPr algn="ctr" indent="0" marL="0">
              <a:buNone/>
            </a:pPr>
            <a:r>
              <a:rPr lang="en-US" sz="2200" b="1" dirty="0">
                <a:solidFill>
                  <a:schemeClr val="bg1"/>
                </a:solidFill>
              </a:rPr>
              <a:t>Nearby sellers</a:t>
            </a:r>
            <a:endParaRPr lang="en-US" sz="2200" dirty="0"/>
          </a:p>
          <a:p>
            <a:pPr algn="ctr" indent="0" marL="0">
              <a:buNone/>
            </a:pPr>
            <a:r>
              <a:rPr lang="en-US" sz="1500" dirty="0">
                <a:solidFill>
                  <a:srgbClr val="E2E5E4"/>
                </a:solidFill>
              </a:rPr>
              <a:t>Have products they can offer</a:t>
            </a:r>
            <a:endParaRPr lang="en-US" sz="2200" dirty="0"/>
          </a:p>
        </p:txBody>
      </p:sp>
      <p:pic>
        <p:nvPicPr>
          <p:cNvPr id="8" name="Pin icon" descr="Location pin">    </p:cNvPr>
          <p:cNvPicPr>
            <a:picLocks noChangeAspect="1"/>
          </p:cNvPicPr>
          <p:nvPr/>
        </p:nvPicPr>
        <p:blipFill>
          <a:blip r:embed="rId1"/>
          <a:stretch>
            <a:fillRect/>
          </a:stretch>
        </p:blipFill>
        <p:spPr>
          <a:xfrm>
            <a:off x="3552444" y="3355848"/>
            <a:ext cx="438912" cy="438912"/>
          </a:xfrm>
          <a:prstGeom prst="rect">
            <a:avLst/>
          </a:prstGeom>
        </p:spPr>
      </p:pic>
      <p:sp>
        <p:nvSpPr>
          <p:cNvPr id="9" name="Label overlap"/>
          <p:cNvSpPr txBox="1"/>
          <p:nvPr/>
        </p:nvSpPr>
        <p:spPr>
          <a:xfrm>
            <a:off x="3113532" y="3867912"/>
            <a:ext cx="1316736" cy="914400"/>
          </a:xfrm>
          <a:prstGeom prst="rect">
            <a:avLst/>
          </a:prstGeom>
          <a:noFill/>
          <a:ln/>
        </p:spPr>
        <p:txBody>
          <a:bodyPr wrap="square" lIns="0" tIns="0" rIns="0" bIns="0" rtlCol="0" anchor="t"/>
          <a:lstStyle/>
          <a:p>
            <a:pPr algn="ctr" indent="0" marL="0">
              <a:buNone/>
            </a:pPr>
            <a:r>
              <a:rPr lang="en-US" sz="1600" b="1" dirty="0">
                <a:solidFill>
                  <a:schemeClr val="bg1"/>
                </a:solidFill>
              </a:rPr>
              <a:t>Lokal Finder</a:t>
            </a:r>
            <a:endParaRPr lang="en-US" sz="1600" dirty="0"/>
          </a:p>
          <a:p>
            <a:pPr algn="ctr" indent="0" marL="0">
              <a:buNone/>
            </a:pPr>
            <a:r>
              <a:rPr lang="en-US" sz="1300" dirty="0">
                <a:solidFill>
                  <a:srgbClr val="E7EAE8"/>
                </a:solidFill>
              </a:rPr>
              <a:t>discovery + reliable ordering</a:t>
            </a:r>
            <a:endParaRPr lang="en-US" sz="1600" dirty="0"/>
          </a:p>
        </p:txBody>
      </p:sp>
      <p:sp>
        <p:nvSpPr>
          <p:cNvPr id="10" name="Tag hypothesis"/>
          <p:cNvSpPr/>
          <p:nvPr/>
        </p:nvSpPr>
        <p:spPr>
          <a:xfrm>
            <a:off x="7589520" y="2468880"/>
            <a:ext cx="3337560"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spc="100" kern="0" dirty="0">
                <a:solidFill>
                  <a:schemeClr val="tx1"/>
                </a:solidFill>
              </a:rPr>
              <a:t>HYPOTHESIS, NOT A PROVEN FACT</a:t>
            </a:r>
            <a:endParaRPr lang="en-US" sz="1200" dirty="0"/>
          </a:p>
        </p:txBody>
      </p:sp>
      <p:sp>
        <p:nvSpPr>
          <p:cNvPr id="11" name="Hypothesis"/>
          <p:cNvSpPr txBox="1"/>
          <p:nvPr/>
        </p:nvSpPr>
        <p:spPr>
          <a:xfrm>
            <a:off x="7589520" y="2971800"/>
            <a:ext cx="3931920" cy="1188720"/>
          </a:xfrm>
          <a:prstGeom prst="rect">
            <a:avLst/>
          </a:prstGeom>
          <a:noFill/>
          <a:ln/>
        </p:spPr>
        <p:txBody>
          <a:bodyPr wrap="square" lIns="0" tIns="0" rIns="0" bIns="0" rtlCol="0" anchor="t"/>
          <a:lstStyle/>
          <a:p>
            <a:pPr algn="l" indent="0" marL="0">
              <a:lnSpc>
                <a:spcPct val="108000"/>
              </a:lnSpc>
              <a:buNone/>
            </a:pPr>
            <a:r>
              <a:rPr lang="en-US" sz="2000" dirty="0">
                <a:solidFill>
                  <a:schemeClr val="bg1"/>
                </a:solidFill>
                <a:latin typeface="+mj-lt" pitchFamily="34" charset="0"/>
                <a:ea typeface="+mj-lt" pitchFamily="34" charset="-122"/>
                <a:cs typeface="+mj-lt" pitchFamily="34" charset="-120"/>
              </a:rPr>
              <a:t>If finding and ordering from a neighbor is easy and reliable, residents will order, and sellers will keep selling.</a:t>
            </a:r>
            <a:endParaRPr lang="en-US" sz="2000" dirty="0"/>
          </a:p>
        </p:txBody>
      </p:sp>
      <p:sp>
        <p:nvSpPr>
          <p:cNvPr id="12" name="Must be true label"/>
          <p:cNvSpPr txBox="1"/>
          <p:nvPr/>
        </p:nvSpPr>
        <p:spPr>
          <a:xfrm>
            <a:off x="7589520" y="4498848"/>
            <a:ext cx="3931920" cy="274320"/>
          </a:xfrm>
          <a:prstGeom prst="rect">
            <a:avLst/>
          </a:prstGeom>
          <a:noFill/>
          <a:ln/>
        </p:spPr>
        <p:txBody>
          <a:bodyPr wrap="square" lIns="0" tIns="0" rIns="0" bIns="0" rtlCol="0" anchor="t"/>
          <a:lstStyle/>
          <a:p>
            <a:pPr algn="l" indent="0" marL="0">
              <a:buNone/>
            </a:pPr>
            <a:r>
              <a:rPr lang="en-US" sz="1300" b="1" spc="300" kern="0" dirty="0">
                <a:solidFill>
                  <a:srgbClr val="3FD39B"/>
                </a:solidFill>
              </a:rPr>
              <a:t>WHAT MUST BE TRUE</a:t>
            </a:r>
            <a:endParaRPr lang="en-US" sz="1300" dirty="0"/>
          </a:p>
        </p:txBody>
      </p:sp>
      <p:sp>
        <p:nvSpPr>
          <p:cNvPr id="13" name="Must 1 number"/>
          <p:cNvSpPr/>
          <p:nvPr/>
        </p:nvSpPr>
        <p:spPr>
          <a:xfrm>
            <a:off x="7589520" y="4937760"/>
            <a:ext cx="274320" cy="274320"/>
          </a:xfrm>
          <a:prstGeom prst="ellipse">
            <a:avLst/>
          </a:prstGeom>
          <a:solidFill>
            <a:srgbClr val="3FD39B"/>
          </a:solid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14" name="Must 1"/>
          <p:cNvSpPr txBox="1"/>
          <p:nvPr/>
        </p:nvSpPr>
        <p:spPr>
          <a:xfrm>
            <a:off x="8001000" y="4910328"/>
            <a:ext cx="3520440" cy="310896"/>
          </a:xfrm>
          <a:prstGeom prst="rect">
            <a:avLst/>
          </a:prstGeom>
          <a:noFill/>
          <a:ln/>
        </p:spPr>
        <p:txBody>
          <a:bodyPr wrap="square" lIns="0" tIns="0" rIns="0" bIns="0" rtlCol="0" anchor="t"/>
          <a:lstStyle/>
          <a:p>
            <a:pPr algn="l" indent="0" marL="0">
              <a:buNone/>
            </a:pPr>
            <a:r>
              <a:rPr lang="en-US" sz="1500" dirty="0">
                <a:solidFill>
                  <a:srgbClr val="EBEEED"/>
                </a:solidFill>
              </a:rPr>
              <a:t>Enough residents want nearby food.</a:t>
            </a:r>
            <a:endParaRPr lang="en-US" sz="1500" dirty="0"/>
          </a:p>
        </p:txBody>
      </p:sp>
      <p:sp>
        <p:nvSpPr>
          <p:cNvPr id="15" name="Must 2 number"/>
          <p:cNvSpPr/>
          <p:nvPr/>
        </p:nvSpPr>
        <p:spPr>
          <a:xfrm>
            <a:off x="7589520" y="5394960"/>
            <a:ext cx="274320" cy="274320"/>
          </a:xfrm>
          <a:prstGeom prst="ellipse">
            <a:avLst/>
          </a:prstGeom>
          <a:solidFill>
            <a:srgbClr val="3FD39B"/>
          </a:solid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6" name="Must 2"/>
          <p:cNvSpPr txBox="1"/>
          <p:nvPr/>
        </p:nvSpPr>
        <p:spPr>
          <a:xfrm>
            <a:off x="8001000" y="5367528"/>
            <a:ext cx="3520440" cy="310896"/>
          </a:xfrm>
          <a:prstGeom prst="rect">
            <a:avLst/>
          </a:prstGeom>
          <a:noFill/>
          <a:ln/>
        </p:spPr>
        <p:txBody>
          <a:bodyPr wrap="square" lIns="0" tIns="0" rIns="0" bIns="0" rtlCol="0" anchor="t"/>
          <a:lstStyle/>
          <a:p>
            <a:pPr algn="l" indent="0" marL="0">
              <a:buNone/>
            </a:pPr>
            <a:r>
              <a:rPr lang="en-US" sz="1500" dirty="0">
                <a:solidFill>
                  <a:srgbClr val="EBEEED"/>
                </a:solidFill>
              </a:rPr>
              <a:t>Enough sellers have something to offer.</a:t>
            </a:r>
            <a:endParaRPr lang="en-US" sz="1500" dirty="0"/>
          </a:p>
        </p:txBody>
      </p:sp>
      <p:sp>
        <p:nvSpPr>
          <p:cNvPr id="17" name="Must 3 number"/>
          <p:cNvSpPr/>
          <p:nvPr/>
        </p:nvSpPr>
        <p:spPr>
          <a:xfrm>
            <a:off x="7589520" y="5852160"/>
            <a:ext cx="274320" cy="274320"/>
          </a:xfrm>
          <a:prstGeom prst="ellipse">
            <a:avLst/>
          </a:prstGeom>
          <a:solidFill>
            <a:srgbClr val="3FD39B"/>
          </a:solid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8" name="Must 3"/>
          <p:cNvSpPr txBox="1"/>
          <p:nvPr/>
        </p:nvSpPr>
        <p:spPr>
          <a:xfrm>
            <a:off x="8001000" y="5824728"/>
            <a:ext cx="3520440" cy="310896"/>
          </a:xfrm>
          <a:prstGeom prst="rect">
            <a:avLst/>
          </a:prstGeom>
          <a:noFill/>
          <a:ln/>
        </p:spPr>
        <p:txBody>
          <a:bodyPr wrap="square" lIns="0" tIns="0" rIns="0" bIns="0" rtlCol="0" anchor="t"/>
          <a:lstStyle/>
          <a:p>
            <a:pPr algn="l" indent="0" marL="0">
              <a:buNone/>
            </a:pPr>
            <a:r>
              <a:rPr lang="en-US" sz="1500" dirty="0">
                <a:solidFill>
                  <a:srgbClr val="EBEEED"/>
                </a:solidFill>
              </a:rPr>
              <a:t>Ordering is reliable enough to repeat.</a:t>
            </a:r>
            <a:endParaRPr lang="en-US" sz="1500" dirty="0"/>
          </a:p>
        </p:txBody>
      </p:sp>
      <p:sp>
        <p:nvSpPr>
          <p:cNvPr id="19" name="Footnote"/>
          <p:cNvSpPr txBox="1"/>
          <p:nvPr/>
        </p:nvSpPr>
        <p:spPr>
          <a:xfrm>
            <a:off x="1115568" y="6382512"/>
            <a:ext cx="9692640" cy="274320"/>
          </a:xfrm>
          <a:prstGeom prst="rect">
            <a:avLst/>
          </a:prstGeom>
          <a:noFill/>
          <a:ln/>
        </p:spPr>
        <p:txBody>
          <a:bodyPr wrap="square" lIns="0" tIns="0" rIns="0" bIns="0" rtlCol="0" anchor="ctr"/>
          <a:lstStyle/>
          <a:p>
            <a:pPr algn="l" indent="0" marL="0">
              <a:buNone/>
            </a:pPr>
            <a:r>
              <a:rPr lang="en-US" sz="1200" dirty="0">
                <a:solidFill>
                  <a:schemeClr val="accent5"/>
                </a:solidFill>
              </a:rPr>
              <a:t>We do not assume every condominium has enough demand. This is what Lokal Finder is designed to test.</a:t>
            </a:r>
            <a:endParaRPr lang="en-US" sz="1200" dirty="0"/>
          </a:p>
        </p:txBody>
      </p:sp>
      <p:sp>
        <p:nvSpPr>
          <p:cNvPr id="25" name="Slide Number Placeholder 0"/>
          <p:cNvSpPr>
            <a:spLocks noGrp="1"/>
          </p:cNvSpPr>
          <p:nvPr>
            <p:ph type="sldNum" sz="quarter" idx="4294967295"/>
          </p:nvPr>
        </p:nvSpPr>
        <p:spPr>
          <a:xfrm>
            <a:off x="10957560" y="6373368"/>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accent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3"/>
                                        </p:tgtEl>
                                        <p:attrNameLst>
                                          <p:attrName>style.visibility</p:attrName>
                                        </p:attrNameLst>
                                      </p:cBhvr>
                                      <p:to>
                                        <p:strVal val="visible"/>
                                      </p:to>
                                    </p:set>
                                    <p:anim calcmode="lin" valueType="num">
                                      <p:cBhvr>
                                        <p:cTn id="10" dur="550" fill="hold"/>
                                        <p:tgtEl>
                                          <p:spTgt spid="3"/>
                                        </p:tgtEl>
                                        <p:attrNameLst>
                                          <p:attrName>ppt_y</p:attrName>
                                        </p:attrNameLst>
                                      </p:cBhvr>
                                      <p:tavLst>
                                        <p:tav tm="0">
                                          <p:val>
                                            <p:strVal val="#ppt_y+.05"/>
                                          </p:val>
                                        </p:tav>
                                        <p:tav tm="100000">
                                          <p:val>
                                            <p:strVal val="#ppt_y"/>
                                          </p:val>
                                        </p:tav>
                                      </p:tavLst>
                                    </p:anim>
                                    <p:animEffect transition="in" filter="fade">
                                      <p:cBhvr>
                                        <p:cTn id="11" dur="550"/>
                                        <p:tgtEl>
                                          <p:spTgt spid="3"/>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700"/>
                                        <p:tgtEl>
                                          <p:spTgt spid="4"/>
                                        </p:tgtEl>
                                      </p:cBhvr>
                                    </p:animEffect>
                                  </p:childTnLst>
                                </p:cTn>
                              </p:par>
                              <p:par>
                                <p:cTn id="15" presetID="10" presetClass="entr" presetSubtype="0" fill="hold" grpId="0" nodeType="withEffect">
                                  <p:stCondLst>
                                    <p:cond delay="50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700"/>
                                        <p:tgtEl>
                                          <p:spTgt spid="6"/>
                                        </p:tgtEl>
                                      </p:cBhvr>
                                    </p:animEffect>
                                  </p:childTnLst>
                                </p:cTn>
                              </p:par>
                              <p:par>
                                <p:cTn id="18" presetID="10" presetClass="entr" presetSubtype="0" fill="hold" grpId="0" nodeType="withEffect">
                                  <p:stCondLst>
                                    <p:cond delay="85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700"/>
                                        <p:tgtEl>
                                          <p:spTgt spid="5"/>
                                        </p:tgtEl>
                                      </p:cBhvr>
                                    </p:animEffect>
                                  </p:childTnLst>
                                </p:cTn>
                              </p:par>
                              <p:par>
                                <p:cTn id="21" presetID="10" presetClass="entr" presetSubtype="0" fill="hold" grpId="0" nodeType="withEffect">
                                  <p:stCondLst>
                                    <p:cond delay="85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700"/>
                                        <p:tgtEl>
                                          <p:spTgt spid="7"/>
                                        </p:tgtEl>
                                      </p:cBhvr>
                                    </p:animEffect>
                                  </p:childTnLst>
                                </p:cTn>
                              </p:par>
                              <p:par>
                                <p:cTn id="24" presetID="10" presetClass="entr" presetSubtype="0" fill="hold" grpId="0" nodeType="withEffect">
                                  <p:stCondLst>
                                    <p:cond delay="90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42" presetClass="entr" presetSubtype="0" fill="hold" grpId="0" nodeType="withEffect">
                                  <p:stCondLst>
                                    <p:cond delay="110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50" fill="hold"/>
                                        <p:tgtEl>
                                          <p:spTgt spid="11"/>
                                        </p:tgtEl>
                                        <p:attrNameLst>
                                          <p:attrName>ppt_y</p:attrName>
                                        </p:attrNameLst>
                                      </p:cBhvr>
                                      <p:tavLst>
                                        <p:tav tm="0">
                                          <p:val>
                                            <p:strVal val="#ppt_y+.05"/>
                                          </p:val>
                                        </p:tav>
                                        <p:tav tm="100000">
                                          <p:val>
                                            <p:strVal val="#ppt_y"/>
                                          </p:val>
                                        </p:tav>
                                      </p:tavLst>
                                    </p:anim>
                                    <p:animEffect transition="in" filter="fade">
                                      <p:cBhvr>
                                        <p:cTn id="30" dur="550"/>
                                        <p:tgtEl>
                                          <p:spTgt spid="11"/>
                                        </p:tgtEl>
                                      </p:cBhvr>
                                    </p:animEffect>
                                  </p:childTnLst>
                                </p:cTn>
                              </p:par>
                              <p:par>
                                <p:cTn id="31" presetID="42" presetClass="entr" presetSubtype="0" fill="hold" nodeType="withEffect">
                                  <p:stCondLst>
                                    <p:cond delay="1300"/>
                                  </p:stCondLst>
                                  <p:childTnLst>
                                    <p:set>
                                      <p:cBhvr>
                                        <p:cTn id="32" dur="1" fill="hold">
                                          <p:stCondLst>
                                            <p:cond delay="0"/>
                                          </p:stCondLst>
                                        </p:cTn>
                                        <p:tgtEl>
                                          <p:spTgt spid="8"/>
                                        </p:tgtEl>
                                        <p:attrNameLst>
                                          <p:attrName>style.visibility</p:attrName>
                                        </p:attrNameLst>
                                      </p:cBhvr>
                                      <p:to>
                                        <p:strVal val="visible"/>
                                      </p:to>
                                    </p:set>
                                    <p:anim calcmode="lin" valueType="num">
                                      <p:cBhvr>
                                        <p:cTn id="33" dur="550" fill="hold"/>
                                        <p:tgtEl>
                                          <p:spTgt spid="8"/>
                                        </p:tgtEl>
                                        <p:attrNameLst>
                                          <p:attrName>ppt_y</p:attrName>
                                        </p:attrNameLst>
                                      </p:cBhvr>
                                      <p:tavLst>
                                        <p:tav tm="0">
                                          <p:val>
                                            <p:strVal val="#ppt_y+.05"/>
                                          </p:val>
                                        </p:tav>
                                        <p:tav tm="100000">
                                          <p:val>
                                            <p:strVal val="#ppt_y"/>
                                          </p:val>
                                        </p:tav>
                                      </p:tavLst>
                                    </p:anim>
                                    <p:animEffect transition="in" filter="fade">
                                      <p:cBhvr>
                                        <p:cTn id="34" dur="550"/>
                                        <p:tgtEl>
                                          <p:spTgt spid="8"/>
                                        </p:tgtEl>
                                      </p:cBhvr>
                                    </p:animEffect>
                                  </p:childTnLst>
                                </p:cTn>
                              </p:par>
                              <p:par>
                                <p:cTn id="35" presetID="42" presetClass="entr" presetSubtype="0" fill="hold" grpId="0" nodeType="withEffect">
                                  <p:stCondLst>
                                    <p:cond delay="1300"/>
                                  </p:stCondLst>
                                  <p:childTnLst>
                                    <p:set>
                                      <p:cBhvr>
                                        <p:cTn id="36" dur="1" fill="hold">
                                          <p:stCondLst>
                                            <p:cond delay="0"/>
                                          </p:stCondLst>
                                        </p:cTn>
                                        <p:tgtEl>
                                          <p:spTgt spid="9"/>
                                        </p:tgtEl>
                                        <p:attrNameLst>
                                          <p:attrName>style.visibility</p:attrName>
                                        </p:attrNameLst>
                                      </p:cBhvr>
                                      <p:to>
                                        <p:strVal val="visible"/>
                                      </p:to>
                                    </p:set>
                                    <p:anim calcmode="lin" valueType="num">
                                      <p:cBhvr>
                                        <p:cTn id="37" dur="550" fill="hold"/>
                                        <p:tgtEl>
                                          <p:spTgt spid="9"/>
                                        </p:tgtEl>
                                        <p:attrNameLst>
                                          <p:attrName>ppt_y</p:attrName>
                                        </p:attrNameLst>
                                      </p:cBhvr>
                                      <p:tavLst>
                                        <p:tav tm="0">
                                          <p:val>
                                            <p:strVal val="#ppt_y+.05"/>
                                          </p:val>
                                        </p:tav>
                                        <p:tav tm="100000">
                                          <p:val>
                                            <p:strVal val="#ppt_y"/>
                                          </p:val>
                                        </p:tav>
                                      </p:tavLst>
                                    </p:anim>
                                    <p:animEffect transition="in" filter="fade">
                                      <p:cBhvr>
                                        <p:cTn id="38" dur="550"/>
                                        <p:tgtEl>
                                          <p:spTgt spid="9"/>
                                        </p:tgtEl>
                                      </p:cBhvr>
                                    </p:animEffect>
                                  </p:childTnLst>
                                </p:cTn>
                              </p:par>
                              <p:par>
                                <p:cTn id="39" presetID="10" presetClass="entr" presetSubtype="0" fill="hold" grpId="0" nodeType="withEffect">
                                  <p:stCondLst>
                                    <p:cond delay="145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par>
                                <p:cTn id="42" presetID="42" presetClass="entr" presetSubtype="0" fill="hold" grpId="0" nodeType="withEffect">
                                  <p:stCondLst>
                                    <p:cond delay="1550"/>
                                  </p:stCondLst>
                                  <p:childTnLst>
                                    <p:set>
                                      <p:cBhvr>
                                        <p:cTn id="43" dur="1" fill="hold">
                                          <p:stCondLst>
                                            <p:cond delay="0"/>
                                          </p:stCondLst>
                                        </p:cTn>
                                        <p:tgtEl>
                                          <p:spTgt spid="13"/>
                                        </p:tgtEl>
                                        <p:attrNameLst>
                                          <p:attrName>style.visibility</p:attrName>
                                        </p:attrNameLst>
                                      </p:cBhvr>
                                      <p:to>
                                        <p:strVal val="visible"/>
                                      </p:to>
                                    </p:set>
                                    <p:anim calcmode="lin" valueType="num">
                                      <p:cBhvr>
                                        <p:cTn id="44" dur="550" fill="hold"/>
                                        <p:tgtEl>
                                          <p:spTgt spid="13"/>
                                        </p:tgtEl>
                                        <p:attrNameLst>
                                          <p:attrName>ppt_y</p:attrName>
                                        </p:attrNameLst>
                                      </p:cBhvr>
                                      <p:tavLst>
                                        <p:tav tm="0">
                                          <p:val>
                                            <p:strVal val="#ppt_y+.05"/>
                                          </p:val>
                                        </p:tav>
                                        <p:tav tm="100000">
                                          <p:val>
                                            <p:strVal val="#ppt_y"/>
                                          </p:val>
                                        </p:tav>
                                      </p:tavLst>
                                    </p:anim>
                                    <p:animEffect transition="in" filter="fade">
                                      <p:cBhvr>
                                        <p:cTn id="45" dur="550"/>
                                        <p:tgtEl>
                                          <p:spTgt spid="13"/>
                                        </p:tgtEl>
                                      </p:cBhvr>
                                    </p:animEffect>
                                  </p:childTnLst>
                                </p:cTn>
                              </p:par>
                              <p:par>
                                <p:cTn id="46" presetID="42" presetClass="entr" presetSubtype="0" fill="hold" grpId="0" nodeType="withEffect">
                                  <p:stCondLst>
                                    <p:cond delay="1550"/>
                                  </p:stCondLst>
                                  <p:childTnLst>
                                    <p:set>
                                      <p:cBhvr>
                                        <p:cTn id="47" dur="1" fill="hold">
                                          <p:stCondLst>
                                            <p:cond delay="0"/>
                                          </p:stCondLst>
                                        </p:cTn>
                                        <p:tgtEl>
                                          <p:spTgt spid="14"/>
                                        </p:tgtEl>
                                        <p:attrNameLst>
                                          <p:attrName>style.visibility</p:attrName>
                                        </p:attrNameLst>
                                      </p:cBhvr>
                                      <p:to>
                                        <p:strVal val="visible"/>
                                      </p:to>
                                    </p:set>
                                    <p:anim calcmode="lin" valueType="num">
                                      <p:cBhvr>
                                        <p:cTn id="48" dur="550" fill="hold"/>
                                        <p:tgtEl>
                                          <p:spTgt spid="14"/>
                                        </p:tgtEl>
                                        <p:attrNameLst>
                                          <p:attrName>ppt_y</p:attrName>
                                        </p:attrNameLst>
                                      </p:cBhvr>
                                      <p:tavLst>
                                        <p:tav tm="0">
                                          <p:val>
                                            <p:strVal val="#ppt_y+.05"/>
                                          </p:val>
                                        </p:tav>
                                        <p:tav tm="100000">
                                          <p:val>
                                            <p:strVal val="#ppt_y"/>
                                          </p:val>
                                        </p:tav>
                                      </p:tavLst>
                                    </p:anim>
                                    <p:animEffect transition="in" filter="fade">
                                      <p:cBhvr>
                                        <p:cTn id="49" dur="550"/>
                                        <p:tgtEl>
                                          <p:spTgt spid="14"/>
                                        </p:tgtEl>
                                      </p:cBhvr>
                                    </p:animEffect>
                                  </p:childTnLst>
                                </p:cTn>
                              </p:par>
                              <p:par>
                                <p:cTn id="50" presetID="42" presetClass="entr" presetSubtype="0" fill="hold" grpId="0" nodeType="withEffect">
                                  <p:stCondLst>
                                    <p:cond delay="1800"/>
                                  </p:stCondLst>
                                  <p:childTnLst>
                                    <p:set>
                                      <p:cBhvr>
                                        <p:cTn id="51" dur="1" fill="hold">
                                          <p:stCondLst>
                                            <p:cond delay="0"/>
                                          </p:stCondLst>
                                        </p:cTn>
                                        <p:tgtEl>
                                          <p:spTgt spid="15"/>
                                        </p:tgtEl>
                                        <p:attrNameLst>
                                          <p:attrName>style.visibility</p:attrName>
                                        </p:attrNameLst>
                                      </p:cBhvr>
                                      <p:to>
                                        <p:strVal val="visible"/>
                                      </p:to>
                                    </p:set>
                                    <p:anim calcmode="lin" valueType="num">
                                      <p:cBhvr>
                                        <p:cTn id="52" dur="550" fill="hold"/>
                                        <p:tgtEl>
                                          <p:spTgt spid="15"/>
                                        </p:tgtEl>
                                        <p:attrNameLst>
                                          <p:attrName>ppt_y</p:attrName>
                                        </p:attrNameLst>
                                      </p:cBhvr>
                                      <p:tavLst>
                                        <p:tav tm="0">
                                          <p:val>
                                            <p:strVal val="#ppt_y+.05"/>
                                          </p:val>
                                        </p:tav>
                                        <p:tav tm="100000">
                                          <p:val>
                                            <p:strVal val="#ppt_y"/>
                                          </p:val>
                                        </p:tav>
                                      </p:tavLst>
                                    </p:anim>
                                    <p:animEffect transition="in" filter="fade">
                                      <p:cBhvr>
                                        <p:cTn id="53" dur="550"/>
                                        <p:tgtEl>
                                          <p:spTgt spid="15"/>
                                        </p:tgtEl>
                                      </p:cBhvr>
                                    </p:animEffect>
                                  </p:childTnLst>
                                </p:cTn>
                              </p:par>
                              <p:par>
                                <p:cTn id="54" presetID="42" presetClass="entr" presetSubtype="0" fill="hold" grpId="0" nodeType="withEffect">
                                  <p:stCondLst>
                                    <p:cond delay="1800"/>
                                  </p:stCondLst>
                                  <p:childTnLst>
                                    <p:set>
                                      <p:cBhvr>
                                        <p:cTn id="55" dur="1" fill="hold">
                                          <p:stCondLst>
                                            <p:cond delay="0"/>
                                          </p:stCondLst>
                                        </p:cTn>
                                        <p:tgtEl>
                                          <p:spTgt spid="16"/>
                                        </p:tgtEl>
                                        <p:attrNameLst>
                                          <p:attrName>style.visibility</p:attrName>
                                        </p:attrNameLst>
                                      </p:cBhvr>
                                      <p:to>
                                        <p:strVal val="visible"/>
                                      </p:to>
                                    </p:set>
                                    <p:anim calcmode="lin" valueType="num">
                                      <p:cBhvr>
                                        <p:cTn id="56" dur="550" fill="hold"/>
                                        <p:tgtEl>
                                          <p:spTgt spid="16"/>
                                        </p:tgtEl>
                                        <p:attrNameLst>
                                          <p:attrName>ppt_y</p:attrName>
                                        </p:attrNameLst>
                                      </p:cBhvr>
                                      <p:tavLst>
                                        <p:tav tm="0">
                                          <p:val>
                                            <p:strVal val="#ppt_y+.05"/>
                                          </p:val>
                                        </p:tav>
                                        <p:tav tm="100000">
                                          <p:val>
                                            <p:strVal val="#ppt_y"/>
                                          </p:val>
                                        </p:tav>
                                      </p:tavLst>
                                    </p:anim>
                                    <p:animEffect transition="in" filter="fade">
                                      <p:cBhvr>
                                        <p:cTn id="57" dur="550"/>
                                        <p:tgtEl>
                                          <p:spTgt spid="16"/>
                                        </p:tgtEl>
                                      </p:cBhvr>
                                    </p:animEffect>
                                  </p:childTnLst>
                                </p:cTn>
                              </p:par>
                              <p:par>
                                <p:cTn id="58" presetID="42" presetClass="entr" presetSubtype="0" fill="hold" grpId="0" nodeType="withEffect">
                                  <p:stCondLst>
                                    <p:cond delay="2050"/>
                                  </p:stCondLst>
                                  <p:childTnLst>
                                    <p:set>
                                      <p:cBhvr>
                                        <p:cTn id="59" dur="1" fill="hold">
                                          <p:stCondLst>
                                            <p:cond delay="0"/>
                                          </p:stCondLst>
                                        </p:cTn>
                                        <p:tgtEl>
                                          <p:spTgt spid="17"/>
                                        </p:tgtEl>
                                        <p:attrNameLst>
                                          <p:attrName>style.visibility</p:attrName>
                                        </p:attrNameLst>
                                      </p:cBhvr>
                                      <p:to>
                                        <p:strVal val="visible"/>
                                      </p:to>
                                    </p:set>
                                    <p:anim calcmode="lin" valueType="num">
                                      <p:cBhvr>
                                        <p:cTn id="60" dur="550" fill="hold"/>
                                        <p:tgtEl>
                                          <p:spTgt spid="17"/>
                                        </p:tgtEl>
                                        <p:attrNameLst>
                                          <p:attrName>ppt_y</p:attrName>
                                        </p:attrNameLst>
                                      </p:cBhvr>
                                      <p:tavLst>
                                        <p:tav tm="0">
                                          <p:val>
                                            <p:strVal val="#ppt_y+.05"/>
                                          </p:val>
                                        </p:tav>
                                        <p:tav tm="100000">
                                          <p:val>
                                            <p:strVal val="#ppt_y"/>
                                          </p:val>
                                        </p:tav>
                                      </p:tavLst>
                                    </p:anim>
                                    <p:animEffect transition="in" filter="fade">
                                      <p:cBhvr>
                                        <p:cTn id="61" dur="550"/>
                                        <p:tgtEl>
                                          <p:spTgt spid="17"/>
                                        </p:tgtEl>
                                      </p:cBhvr>
                                    </p:animEffect>
                                  </p:childTnLst>
                                </p:cTn>
                              </p:par>
                              <p:par>
                                <p:cTn id="62" presetID="42" presetClass="entr" presetSubtype="0" fill="hold" grpId="0" nodeType="withEffect">
                                  <p:stCondLst>
                                    <p:cond delay="2050"/>
                                  </p:stCondLst>
                                  <p:childTnLst>
                                    <p:set>
                                      <p:cBhvr>
                                        <p:cTn id="63" dur="1" fill="hold">
                                          <p:stCondLst>
                                            <p:cond delay="0"/>
                                          </p:stCondLst>
                                        </p:cTn>
                                        <p:tgtEl>
                                          <p:spTgt spid="18"/>
                                        </p:tgtEl>
                                        <p:attrNameLst>
                                          <p:attrName>style.visibility</p:attrName>
                                        </p:attrNameLst>
                                      </p:cBhvr>
                                      <p:to>
                                        <p:strVal val="visible"/>
                                      </p:to>
                                    </p:set>
                                    <p:anim calcmode="lin" valueType="num">
                                      <p:cBhvr>
                                        <p:cTn id="64" dur="550" fill="hold"/>
                                        <p:tgtEl>
                                          <p:spTgt spid="18"/>
                                        </p:tgtEl>
                                        <p:attrNameLst>
                                          <p:attrName>ppt_y</p:attrName>
                                        </p:attrNameLst>
                                      </p:cBhvr>
                                      <p:tavLst>
                                        <p:tav tm="0">
                                          <p:val>
                                            <p:strVal val="#ppt_y+.05"/>
                                          </p:val>
                                        </p:tav>
                                        <p:tav tm="100000">
                                          <p:val>
                                            <p:strVal val="#ppt_y"/>
                                          </p:val>
                                        </p:tav>
                                      </p:tavLst>
                                    </p:anim>
                                    <p:animEffect transition="in" filter="fade">
                                      <p:cBhvr>
                                        <p:cTn id="65" dur="550"/>
                                        <p:tgtEl>
                                          <p:spTgt spid="18"/>
                                        </p:tgtEl>
                                      </p:cBhvr>
                                    </p:animEffect>
                                  </p:childTnLst>
                                </p:cTn>
                              </p:par>
                              <p:par>
                                <p:cTn id="66" presetID="10" presetClass="entr" presetSubtype="0" fill="hold" grpId="0" nodeType="withEffect">
                                  <p:stCondLst>
                                    <p:cond delay="2400"/>
                                  </p:stCondLst>
                                  <p:childTnLst>
                                    <p:set>
                                      <p:cBhvr>
                                        <p:cTn id="67" dur="1" fill="hold">
                                          <p:stCondLst>
                                            <p:cond delay="0"/>
                                          </p:stCondLst>
                                        </p:cTn>
                                        <p:tgtEl>
                                          <p:spTgt spid="19"/>
                                        </p:tgtEl>
                                        <p:attrNameLst>
                                          <p:attrName>style.visibility</p:attrName>
                                        </p:attrNameLst>
                                      </p:cBhvr>
                                      <p:to>
                                        <p:strVal val="visible"/>
                                      </p:to>
                                    </p:set>
                                    <p:animEffect transition="in" filter="fade">
                                      <p:cBhvr>
                                        <p:cTn id="6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6" grpId="0"/>
      <p:bldP spid="5" grpId="0" animBg="1"/>
      <p:bldP spid="7" grpId="0"/>
      <p:bldP spid="10" grpId="0" animBg="1"/>
      <p:bldP spid="11" grpId="0"/>
      <p:bldP spid="9" grpId="0"/>
      <p:bldP spid="12" grpId="0"/>
      <p:bldP spid="13" grpId="0" animBg="1"/>
      <p:bldP spid="14" grpId="0"/>
      <p:bldP spid="15" grpId="0" animBg="1"/>
      <p:bldP spid="16" grpId="0"/>
      <p:bldP spid="17" grpId="0" animBg="1"/>
      <p:bldP spid="18" grpId="0"/>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685800" y="502920"/>
            <a:ext cx="7315200" cy="274320"/>
          </a:xfrm>
          <a:prstGeom prst="rect">
            <a:avLst/>
          </a:prstGeom>
          <a:noFill/>
          <a:ln/>
        </p:spPr>
        <p:txBody>
          <a:bodyPr wrap="square" lIns="0" tIns="0" rIns="0" bIns="0" rtlCol="0" anchor="t"/>
          <a:lstStyle/>
          <a:p>
            <a:pPr algn="l" indent="0" marL="0">
              <a:buNone/>
            </a:pPr>
            <a:r>
              <a:rPr lang="en-US" sz="1300" b="1" spc="300" kern="0" dirty="0">
                <a:solidFill>
                  <a:schemeClr val="accent1"/>
                </a:solidFill>
              </a:rPr>
              <a:t>THE SOLUTION</a:t>
            </a:r>
            <a:endParaRPr lang="en-US" sz="1300" dirty="0"/>
          </a:p>
        </p:txBody>
      </p:sp>
      <p:sp>
        <p:nvSpPr>
          <p:cNvPr id="3" name="Text 0"/>
          <p:cNvSpPr/>
          <p:nvPr>
            <p:ph idx="101" type="title" hasCustomPrompt="1"/>
          </p:nvPr>
        </p:nvSpPr>
        <p:spPr>
          <a:xfrm>
            <a:off x="685800" y="841248"/>
            <a:ext cx="6492240" cy="1325880"/>
          </a:xfrm>
          <a:prstGeom prst="rect">
            <a:avLst/>
          </a:prstGeom>
          <a:noFill/>
          <a:ln/>
        </p:spPr>
        <p:txBody>
          <a:bodyPr wrap="square" lIns="0" tIns="0" rIns="0" bIns="0" rtlCol="0" anchor="t"/>
          <a:lstStyle/>
          <a:p>
            <a:pPr algn="l" indent="0" marL="0">
              <a:lnSpc>
                <a:spcPct val="95000"/>
              </a:lnSpc>
              <a:buNone/>
            </a:pPr>
            <a:r>
              <a:rPr lang="en-US" sz="4000" b="1" dirty="0">
                <a:solidFill>
                  <a:schemeClr val="tx1"/>
                </a:solidFill>
                <a:latin typeface="+mj-lt" pitchFamily="34" charset="0"/>
                <a:ea typeface="+mj-lt" pitchFamily="34" charset="-122"/>
                <a:cs typeface="+mj-lt" pitchFamily="34" charset="-120"/>
              </a:rPr>
              <a:t>A marketplace for the neighborhood you </a:t>
            </a:r>
            <a:pPr algn="l" indent="0" marL="0">
              <a:lnSpc>
                <a:spcPct val="95000"/>
              </a:lnSpc>
              <a:buNone/>
            </a:pPr>
            <a:r>
              <a:rPr lang="en-US" sz="4000" b="1" i="1" dirty="0">
                <a:solidFill>
                  <a:schemeClr val="accent1"/>
                </a:solidFill>
                <a:latin typeface="+mj-lt" pitchFamily="34" charset="0"/>
                <a:ea typeface="+mj-lt" pitchFamily="34" charset="-122"/>
                <a:cs typeface="+mj-lt" pitchFamily="34" charset="-120"/>
              </a:rPr>
              <a:t>live in.</a:t>
            </a:r>
            <a:endParaRPr lang="en-US" sz="4000" dirty="0"/>
          </a:p>
        </p:txBody>
      </p:sp>
      <p:sp>
        <p:nvSpPr>
          <p:cNvPr id="4" name="Lede"/>
          <p:cNvSpPr txBox="1"/>
          <p:nvPr/>
        </p:nvSpPr>
        <p:spPr>
          <a:xfrm>
            <a:off x="685800" y="2331720"/>
            <a:ext cx="5577840" cy="1005840"/>
          </a:xfrm>
          <a:prstGeom prst="rect">
            <a:avLst/>
          </a:prstGeom>
          <a:noFill/>
          <a:ln/>
        </p:spPr>
        <p:txBody>
          <a:bodyPr wrap="square" lIns="0" tIns="0" rIns="0" bIns="0" rtlCol="0" anchor="t"/>
          <a:lstStyle/>
          <a:p>
            <a:pPr algn="l" indent="0" marL="0">
              <a:lnSpc>
                <a:spcPct val="108000"/>
              </a:lnSpc>
              <a:buNone/>
            </a:pPr>
            <a:r>
              <a:rPr lang="en-US" sz="1900" dirty="0">
                <a:solidFill>
                  <a:srgbClr val="354F41"/>
                </a:solidFill>
              </a:rPr>
              <a:t>Lokal Finder is a neighborhood-focused discovery and ordering platform: find a nearby seller, order, and follow it to your door.</a:t>
            </a:r>
            <a:endParaRPr lang="en-US" sz="1900" dirty="0"/>
          </a:p>
        </p:txBody>
      </p:sp>
      <p:sp>
        <p:nvSpPr>
          <p:cNvPr id="5" name="Step 1 badge disc"/>
          <p:cNvSpPr/>
          <p:nvPr/>
        </p:nvSpPr>
        <p:spPr>
          <a:xfrm>
            <a:off x="713232" y="3520440"/>
            <a:ext cx="585216" cy="585216"/>
          </a:xfrm>
          <a:prstGeom prst="ellipse">
            <a:avLst/>
          </a:prstGeom>
          <a:solidFill>
            <a:schemeClr val="accent1"/>
          </a:solidFill>
          <a:ln/>
        </p:spPr>
      </p:sp>
      <p:pic>
        <p:nvPicPr>
          <p:cNvPr id="6" name="Step 1 badge icon" descr="search icon">    </p:cNvPr>
          <p:cNvPicPr>
            <a:picLocks noChangeAspect="1"/>
          </p:cNvPicPr>
          <p:nvPr/>
        </p:nvPicPr>
        <p:blipFill>
          <a:blip r:embed="rId1"/>
          <a:stretch>
            <a:fillRect/>
          </a:stretch>
        </p:blipFill>
        <p:spPr>
          <a:xfrm>
            <a:off x="853684" y="3660892"/>
            <a:ext cx="304312" cy="304312"/>
          </a:xfrm>
          <a:prstGeom prst="rect">
            <a:avLst/>
          </a:prstGeom>
        </p:spPr>
      </p:pic>
      <p:sp>
        <p:nvSpPr>
          <p:cNvPr id="7" name="Step 1"/>
          <p:cNvSpPr txBox="1"/>
          <p:nvPr/>
        </p:nvSpPr>
        <p:spPr>
          <a:xfrm>
            <a:off x="1508760" y="3502152"/>
            <a:ext cx="4754880" cy="777240"/>
          </a:xfrm>
          <a:prstGeom prst="rect">
            <a:avLst/>
          </a:prstGeom>
          <a:noFill/>
          <a:ln/>
        </p:spPr>
        <p:txBody>
          <a:bodyPr wrap="square" lIns="0" tIns="0" rIns="0" bIns="0" rtlCol="0" anchor="t"/>
          <a:lstStyle/>
          <a:p>
            <a:pPr algn="l" indent="0" marL="0">
              <a:lnSpc>
                <a:spcPct val="102000"/>
              </a:lnSpc>
              <a:buNone/>
            </a:pPr>
            <a:r>
              <a:rPr lang="en-US" sz="2000" b="1" dirty="0">
                <a:solidFill>
                  <a:schemeClr val="tx1"/>
                </a:solidFill>
              </a:rPr>
              <a:t>Find a seller nearby</a:t>
            </a:r>
            <a:endParaRPr lang="en-US" sz="2000" dirty="0"/>
          </a:p>
          <a:p>
            <a:pPr algn="l" indent="0" marL="0">
              <a:lnSpc>
                <a:spcPct val="102000"/>
              </a:lnSpc>
              <a:buNone/>
            </a:pPr>
            <a:r>
              <a:rPr lang="en-US" sz="1500" dirty="0">
                <a:solidFill>
                  <a:srgbClr val="4A6B5A"/>
                </a:solidFill>
              </a:rPr>
              <a:t>Browse stores by category and see who is open right now.</a:t>
            </a:r>
            <a:endParaRPr lang="en-US" sz="2000" dirty="0"/>
          </a:p>
        </p:txBody>
      </p:sp>
      <p:sp>
        <p:nvSpPr>
          <p:cNvPr id="8" name="Step 2 badge disc"/>
          <p:cNvSpPr/>
          <p:nvPr/>
        </p:nvSpPr>
        <p:spPr>
          <a:xfrm>
            <a:off x="713232" y="4462272"/>
            <a:ext cx="585216" cy="585216"/>
          </a:xfrm>
          <a:prstGeom prst="ellipse">
            <a:avLst/>
          </a:prstGeom>
          <a:solidFill>
            <a:schemeClr val="accent1"/>
          </a:solidFill>
          <a:ln/>
        </p:spPr>
      </p:sp>
      <p:pic>
        <p:nvPicPr>
          <p:cNvPr id="9" name="Step 2 badge icon" descr="bag icon">    </p:cNvPr>
          <p:cNvPicPr>
            <a:picLocks noChangeAspect="1"/>
          </p:cNvPicPr>
          <p:nvPr/>
        </p:nvPicPr>
        <p:blipFill>
          <a:blip r:embed="rId2"/>
          <a:stretch>
            <a:fillRect/>
          </a:stretch>
        </p:blipFill>
        <p:spPr>
          <a:xfrm>
            <a:off x="853684" y="4602724"/>
            <a:ext cx="304312" cy="304312"/>
          </a:xfrm>
          <a:prstGeom prst="rect">
            <a:avLst/>
          </a:prstGeom>
        </p:spPr>
      </p:pic>
      <p:sp>
        <p:nvSpPr>
          <p:cNvPr id="10" name="Step 2"/>
          <p:cNvSpPr txBox="1"/>
          <p:nvPr/>
        </p:nvSpPr>
        <p:spPr>
          <a:xfrm>
            <a:off x="1508760" y="4443984"/>
            <a:ext cx="4754880" cy="777240"/>
          </a:xfrm>
          <a:prstGeom prst="rect">
            <a:avLst/>
          </a:prstGeom>
          <a:noFill/>
          <a:ln/>
        </p:spPr>
        <p:txBody>
          <a:bodyPr wrap="square" lIns="0" tIns="0" rIns="0" bIns="0" rtlCol="0" anchor="t"/>
          <a:lstStyle/>
          <a:p>
            <a:pPr algn="l" indent="0" marL="0">
              <a:lnSpc>
                <a:spcPct val="102000"/>
              </a:lnSpc>
              <a:buNone/>
            </a:pPr>
            <a:r>
              <a:rPr lang="en-US" sz="2000" b="1" dirty="0">
                <a:solidFill>
                  <a:schemeClr val="tx1"/>
                </a:solidFill>
              </a:rPr>
              <a:t>Order in a few taps</a:t>
            </a:r>
            <a:endParaRPr lang="en-US" sz="2000" dirty="0"/>
          </a:p>
          <a:p>
            <a:pPr algn="l" indent="0" marL="0">
              <a:lnSpc>
                <a:spcPct val="102000"/>
              </a:lnSpc>
              <a:buNone/>
            </a:pPr>
            <a:r>
              <a:rPr lang="en-US" sz="1500" dirty="0">
                <a:solidFill>
                  <a:srgbClr val="4A6B5A"/>
                </a:solidFill>
              </a:rPr>
              <a:t>Pick items, add your unit and number, pay cash or GCash.</a:t>
            </a:r>
            <a:endParaRPr lang="en-US" sz="2000" dirty="0"/>
          </a:p>
        </p:txBody>
      </p:sp>
      <p:sp>
        <p:nvSpPr>
          <p:cNvPr id="11" name="Step 3 badge disc"/>
          <p:cNvSpPr/>
          <p:nvPr/>
        </p:nvSpPr>
        <p:spPr>
          <a:xfrm>
            <a:off x="713232" y="5404104"/>
            <a:ext cx="585216" cy="585216"/>
          </a:xfrm>
          <a:prstGeom prst="ellipse">
            <a:avLst/>
          </a:prstGeom>
          <a:solidFill>
            <a:schemeClr val="accent1"/>
          </a:solidFill>
          <a:ln/>
        </p:spPr>
      </p:sp>
      <p:pic>
        <p:nvPicPr>
          <p:cNvPr id="12" name="Step 3 badge icon" descr="truck icon">    </p:cNvPr>
          <p:cNvPicPr>
            <a:picLocks noChangeAspect="1"/>
          </p:cNvPicPr>
          <p:nvPr/>
        </p:nvPicPr>
        <p:blipFill>
          <a:blip r:embed="rId3"/>
          <a:stretch>
            <a:fillRect/>
          </a:stretch>
        </p:blipFill>
        <p:spPr>
          <a:xfrm>
            <a:off x="853684" y="5544556"/>
            <a:ext cx="304312" cy="304312"/>
          </a:xfrm>
          <a:prstGeom prst="rect">
            <a:avLst/>
          </a:prstGeom>
        </p:spPr>
      </p:pic>
      <p:sp>
        <p:nvSpPr>
          <p:cNvPr id="13" name="Step 3"/>
          <p:cNvSpPr txBox="1"/>
          <p:nvPr/>
        </p:nvSpPr>
        <p:spPr>
          <a:xfrm>
            <a:off x="1508760" y="5385816"/>
            <a:ext cx="4754880" cy="777240"/>
          </a:xfrm>
          <a:prstGeom prst="rect">
            <a:avLst/>
          </a:prstGeom>
          <a:noFill/>
          <a:ln/>
        </p:spPr>
        <p:txBody>
          <a:bodyPr wrap="square" lIns="0" tIns="0" rIns="0" bIns="0" rtlCol="0" anchor="t"/>
          <a:lstStyle/>
          <a:p>
            <a:pPr algn="l" indent="0" marL="0">
              <a:lnSpc>
                <a:spcPct val="102000"/>
              </a:lnSpc>
              <a:buNone/>
            </a:pPr>
            <a:r>
              <a:rPr lang="en-US" sz="2000" b="1" dirty="0">
                <a:solidFill>
                  <a:schemeClr val="tx1"/>
                </a:solidFill>
              </a:rPr>
              <a:t>Follow it to your door</a:t>
            </a:r>
            <a:endParaRPr lang="en-US" sz="2000" dirty="0"/>
          </a:p>
          <a:p>
            <a:pPr algn="l" indent="0" marL="0">
              <a:lnSpc>
                <a:spcPct val="102000"/>
              </a:lnSpc>
              <a:buNone/>
            </a:pPr>
            <a:r>
              <a:rPr lang="en-US" sz="1500" dirty="0">
                <a:solidFill>
                  <a:srgbClr val="4A6B5A"/>
                </a:solidFill>
              </a:rPr>
              <a:t>Live status from the seller, with chat.</a:t>
            </a:r>
            <a:endParaRPr lang="en-US" sz="2000" dirty="0"/>
          </a:p>
        </p:txBody>
      </p:sp>
      <p:pic>
        <p:nvPicPr>
          <p:cNvPr id="14" name="Phone home" descr="The Lokal Finder home screen: a search box, store categories and nearby stores marked Open (real app screen, demo data).">    </p:cNvPr>
          <p:cNvPicPr>
            <a:picLocks noChangeAspect="1"/>
          </p:cNvPicPr>
          <p:nvPr/>
        </p:nvPicPr>
        <p:blipFill>
          <a:blip r:embed="rId4"/>
          <a:stretch>
            <a:fillRect/>
          </a:stretch>
        </p:blipFill>
        <p:spPr>
          <a:xfrm>
            <a:off x="6106175" y="1226843"/>
            <a:ext cx="3606769" cy="5631157"/>
          </a:xfrm>
          <a:prstGeom prst="rect">
            <a:avLst/>
          </a:prstGeom>
        </p:spPr>
      </p:pic>
      <p:sp>
        <p:nvSpPr>
          <p:cNvPr id="15" name="Mark Search dot"/>
          <p:cNvSpPr/>
          <p:nvPr/>
        </p:nvSpPr>
        <p:spPr>
          <a:xfrm>
            <a:off x="9168034" y="2524214"/>
            <a:ext cx="128016" cy="128016"/>
          </a:xfrm>
          <a:prstGeom prst="ellipse">
            <a:avLst/>
          </a:prstGeom>
          <a:solidFill>
            <a:schemeClr val="accent2"/>
          </a:solidFill>
          <a:ln w="15875">
            <a:solidFill>
              <a:schemeClr val="bg1"/>
            </a:solidFill>
            <a:prstDash val="solid"/>
          </a:ln>
        </p:spPr>
      </p:sp>
      <p:sp>
        <p:nvSpPr>
          <p:cNvPr id="16" name="Mark Search line"/>
          <p:cNvSpPr/>
          <p:nvPr/>
        </p:nvSpPr>
        <p:spPr>
          <a:xfrm>
            <a:off x="9296050" y="2588222"/>
            <a:ext cx="488030" cy="0"/>
          </a:xfrm>
          <a:prstGeom prst="line">
            <a:avLst/>
          </a:prstGeom>
          <a:noFill/>
          <a:ln w="12700">
            <a:solidFill>
              <a:schemeClr val="tx1">
                <a:alpha val="45000"/>
              </a:schemeClr>
            </a:solidFill>
            <a:prstDash val="solid"/>
          </a:ln>
        </p:spPr>
      </p:sp>
      <p:sp>
        <p:nvSpPr>
          <p:cNvPr id="17" name="Mark Search"/>
          <p:cNvSpPr txBox="1"/>
          <p:nvPr/>
        </p:nvSpPr>
        <p:spPr>
          <a:xfrm>
            <a:off x="9857232" y="2313902"/>
            <a:ext cx="1828800" cy="548640"/>
          </a:xfrm>
          <a:prstGeom prst="rect">
            <a:avLst/>
          </a:prstGeom>
          <a:noFill/>
          <a:ln/>
        </p:spPr>
        <p:txBody>
          <a:bodyPr wrap="square" lIns="0" tIns="0" rIns="0" bIns="0" rtlCol="0" anchor="ctr"/>
          <a:lstStyle/>
          <a:p>
            <a:pPr algn="l" indent="0" marL="0">
              <a:lnSpc>
                <a:spcPct val="95000"/>
              </a:lnSpc>
              <a:buNone/>
            </a:pPr>
            <a:r>
              <a:rPr lang="en-US" sz="1500" b="1" dirty="0">
                <a:solidFill>
                  <a:schemeClr val="tx1"/>
                </a:solidFill>
              </a:rPr>
              <a:t>Search your community</a:t>
            </a:r>
            <a:endParaRPr lang="en-US" sz="1500" dirty="0"/>
          </a:p>
        </p:txBody>
      </p:sp>
      <p:sp>
        <p:nvSpPr>
          <p:cNvPr id="18" name="Mark Category dot"/>
          <p:cNvSpPr/>
          <p:nvPr/>
        </p:nvSpPr>
        <p:spPr>
          <a:xfrm>
            <a:off x="9168034" y="3415298"/>
            <a:ext cx="128016" cy="128016"/>
          </a:xfrm>
          <a:prstGeom prst="ellipse">
            <a:avLst/>
          </a:prstGeom>
          <a:solidFill>
            <a:schemeClr val="accent2"/>
          </a:solidFill>
          <a:ln w="15875">
            <a:solidFill>
              <a:schemeClr val="bg1"/>
            </a:solidFill>
            <a:prstDash val="solid"/>
          </a:ln>
        </p:spPr>
      </p:sp>
      <p:sp>
        <p:nvSpPr>
          <p:cNvPr id="19" name="Mark Category line"/>
          <p:cNvSpPr/>
          <p:nvPr/>
        </p:nvSpPr>
        <p:spPr>
          <a:xfrm>
            <a:off x="9296050" y="3479306"/>
            <a:ext cx="488030" cy="0"/>
          </a:xfrm>
          <a:prstGeom prst="line">
            <a:avLst/>
          </a:prstGeom>
          <a:noFill/>
          <a:ln w="12700">
            <a:solidFill>
              <a:schemeClr val="tx1">
                <a:alpha val="45000"/>
              </a:schemeClr>
            </a:solidFill>
            <a:prstDash val="solid"/>
          </a:ln>
        </p:spPr>
      </p:sp>
      <p:sp>
        <p:nvSpPr>
          <p:cNvPr id="20" name="Mark Category"/>
          <p:cNvSpPr txBox="1"/>
          <p:nvPr/>
        </p:nvSpPr>
        <p:spPr>
          <a:xfrm>
            <a:off x="9857232" y="3204986"/>
            <a:ext cx="1828800" cy="548640"/>
          </a:xfrm>
          <a:prstGeom prst="rect">
            <a:avLst/>
          </a:prstGeom>
          <a:noFill/>
          <a:ln/>
        </p:spPr>
        <p:txBody>
          <a:bodyPr wrap="square" lIns="0" tIns="0" rIns="0" bIns="0" rtlCol="0" anchor="ctr"/>
          <a:lstStyle/>
          <a:p>
            <a:pPr algn="l" indent="0" marL="0">
              <a:lnSpc>
                <a:spcPct val="95000"/>
              </a:lnSpc>
              <a:buNone/>
            </a:pPr>
            <a:r>
              <a:rPr lang="en-US" sz="1500" b="1" dirty="0">
                <a:solidFill>
                  <a:schemeClr val="tx1"/>
                </a:solidFill>
              </a:rPr>
              <a:t>Browse by category</a:t>
            </a:r>
            <a:endParaRPr lang="en-US" sz="1500" dirty="0"/>
          </a:p>
        </p:txBody>
      </p:sp>
      <p:sp>
        <p:nvSpPr>
          <p:cNvPr id="21" name="Mark Open dot"/>
          <p:cNvSpPr/>
          <p:nvPr/>
        </p:nvSpPr>
        <p:spPr>
          <a:xfrm>
            <a:off x="9168034" y="5780914"/>
            <a:ext cx="128016" cy="128016"/>
          </a:xfrm>
          <a:prstGeom prst="ellipse">
            <a:avLst/>
          </a:prstGeom>
          <a:solidFill>
            <a:schemeClr val="accent2"/>
          </a:solidFill>
          <a:ln w="15875">
            <a:solidFill>
              <a:schemeClr val="bg1"/>
            </a:solidFill>
            <a:prstDash val="solid"/>
          </a:ln>
        </p:spPr>
      </p:sp>
      <p:sp>
        <p:nvSpPr>
          <p:cNvPr id="22" name="Mark Open line"/>
          <p:cNvSpPr/>
          <p:nvPr/>
        </p:nvSpPr>
        <p:spPr>
          <a:xfrm>
            <a:off x="9296050" y="5844922"/>
            <a:ext cx="488030" cy="0"/>
          </a:xfrm>
          <a:prstGeom prst="line">
            <a:avLst/>
          </a:prstGeom>
          <a:noFill/>
          <a:ln w="12700">
            <a:solidFill>
              <a:schemeClr val="tx1">
                <a:alpha val="45000"/>
              </a:schemeClr>
            </a:solidFill>
            <a:prstDash val="solid"/>
          </a:ln>
        </p:spPr>
      </p:sp>
      <p:sp>
        <p:nvSpPr>
          <p:cNvPr id="23" name="Mark Open"/>
          <p:cNvSpPr txBox="1"/>
          <p:nvPr/>
        </p:nvSpPr>
        <p:spPr>
          <a:xfrm>
            <a:off x="9857232" y="5570602"/>
            <a:ext cx="1828800" cy="548640"/>
          </a:xfrm>
          <a:prstGeom prst="rect">
            <a:avLst/>
          </a:prstGeom>
          <a:noFill/>
          <a:ln/>
        </p:spPr>
        <p:txBody>
          <a:bodyPr wrap="square" lIns="0" tIns="0" rIns="0" bIns="0" rtlCol="0" anchor="ctr"/>
          <a:lstStyle/>
          <a:p>
            <a:pPr algn="l" indent="0" marL="0">
              <a:lnSpc>
                <a:spcPct val="95000"/>
              </a:lnSpc>
              <a:buNone/>
            </a:pPr>
            <a:r>
              <a:rPr lang="en-US" sz="1500" b="1" dirty="0">
                <a:solidFill>
                  <a:schemeClr val="tx1"/>
                </a:solidFill>
              </a:rPr>
              <a:t>See who is open now</a:t>
            </a:r>
            <a:endParaRPr lang="en-US" sz="1500" dirty="0"/>
          </a:p>
        </p:txBody>
      </p:sp>
      <p:sp>
        <p:nvSpPr>
          <p:cNvPr id="24" name="Footnote"/>
          <p:cNvSpPr txBox="1"/>
          <p:nvPr/>
        </p:nvSpPr>
        <p:spPr>
          <a:xfrm>
            <a:off x="1115568" y="6382512"/>
            <a:ext cx="9692640" cy="274320"/>
          </a:xfrm>
          <a:prstGeom prst="rect">
            <a:avLst/>
          </a:prstGeom>
          <a:noFill/>
          <a:ln/>
        </p:spPr>
        <p:txBody>
          <a:bodyPr wrap="square" lIns="0" tIns="0" rIns="0" bIns="0" rtlCol="0" anchor="ctr"/>
          <a:lstStyle/>
          <a:p>
            <a:pPr algn="l" indent="0" marL="0">
              <a:buNone/>
            </a:pPr>
            <a:r>
              <a:rPr lang="en-US" sz="1200" dirty="0">
                <a:solidFill>
                  <a:srgbClr val="4A6B5A"/>
                </a:solidFill>
              </a:rPr>
              <a:t>Real app screen (v86 build) with demo data.</a:t>
            </a:r>
            <a:endParaRPr lang="en-US" sz="1200" dirty="0"/>
          </a:p>
        </p:txBody>
      </p:sp>
      <p:sp>
        <p:nvSpPr>
          <p:cNvPr id="25" name="Slide Number Placeholder 0"/>
          <p:cNvSpPr>
            <a:spLocks noGrp="1"/>
          </p:cNvSpPr>
          <p:nvPr>
            <p:ph type="sldNum" sz="quarter" idx="4294967295"/>
          </p:nvPr>
        </p:nvSpPr>
        <p:spPr>
          <a:xfrm>
            <a:off x="10957560" y="6373368"/>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accent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3"/>
                                        </p:tgtEl>
                                        <p:attrNameLst>
                                          <p:attrName>style.visibility</p:attrName>
                                        </p:attrNameLst>
                                      </p:cBhvr>
                                      <p:to>
                                        <p:strVal val="visible"/>
                                      </p:to>
                                    </p:set>
                                    <p:anim calcmode="lin" valueType="num">
                                      <p:cBhvr>
                                        <p:cTn id="10" dur="550" fill="hold"/>
                                        <p:tgtEl>
                                          <p:spTgt spid="3"/>
                                        </p:tgtEl>
                                        <p:attrNameLst>
                                          <p:attrName>ppt_y</p:attrName>
                                        </p:attrNameLst>
                                      </p:cBhvr>
                                      <p:tavLst>
                                        <p:tav tm="0">
                                          <p:val>
                                            <p:strVal val="#ppt_y+.05"/>
                                          </p:val>
                                        </p:tav>
                                        <p:tav tm="100000">
                                          <p:val>
                                            <p:strVal val="#ppt_y"/>
                                          </p:val>
                                        </p:tav>
                                      </p:tavLst>
                                    </p:anim>
                                    <p:animEffect transition="in" filter="fade">
                                      <p:cBhvr>
                                        <p:cTn id="11" dur="550"/>
                                        <p:tgtEl>
                                          <p:spTgt spid="3"/>
                                        </p:tgtEl>
                                      </p:cBhvr>
                                    </p:animEffect>
                                  </p:childTnLst>
                                </p:cTn>
                              </p:par>
                              <p:par>
                                <p:cTn id="12" presetID="42" presetClass="entr" presetSubtype="0" fill="hold" nodeType="withEffect">
                                  <p:stCondLst>
                                    <p:cond delay="300"/>
                                  </p:stCondLst>
                                  <p:childTnLst>
                                    <p:set>
                                      <p:cBhvr>
                                        <p:cTn id="13" dur="1" fill="hold">
                                          <p:stCondLst>
                                            <p:cond delay="0"/>
                                          </p:stCondLst>
                                        </p:cTn>
                                        <p:tgtEl>
                                          <p:spTgt spid="14"/>
                                        </p:tgtEl>
                                        <p:attrNameLst>
                                          <p:attrName>style.visibility</p:attrName>
                                        </p:attrNameLst>
                                      </p:cBhvr>
                                      <p:to>
                                        <p:strVal val="visible"/>
                                      </p:to>
                                    </p:set>
                                    <p:anim calcmode="lin" valueType="num">
                                      <p:cBhvr>
                                        <p:cTn id="14" dur="900" fill="hold"/>
                                        <p:tgtEl>
                                          <p:spTgt spid="14"/>
                                        </p:tgtEl>
                                        <p:attrNameLst>
                                          <p:attrName>ppt_y</p:attrName>
                                        </p:attrNameLst>
                                      </p:cBhvr>
                                      <p:tavLst>
                                        <p:tav tm="0">
                                          <p:val>
                                            <p:strVal val="#ppt_y+.05"/>
                                          </p:val>
                                        </p:tav>
                                        <p:tav tm="100000">
                                          <p:val>
                                            <p:strVal val="#ppt_y"/>
                                          </p:val>
                                        </p:tav>
                                      </p:tavLst>
                                    </p:anim>
                                    <p:animEffect transition="in" filter="fade">
                                      <p:cBhvr>
                                        <p:cTn id="15" dur="900"/>
                                        <p:tgtEl>
                                          <p:spTgt spid="14"/>
                                        </p:tgtEl>
                                      </p:cBhvr>
                                    </p:animEffect>
                                  </p:childTnLst>
                                </p:cTn>
                              </p:par>
                              <p:par>
                                <p:cTn id="16" presetID="10" presetClass="entr" presetSubtype="0" fill="hold" grpId="0" nodeType="withEffect">
                                  <p:stCondLst>
                                    <p:cond delay="50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par>
                                <p:cTn id="19" presetID="42" presetClass="entr" presetSubtype="0" fill="hold" grpId="0" nodeType="withEffect">
                                  <p:stCondLst>
                                    <p:cond delay="800"/>
                                  </p:stCondLst>
                                  <p:childTnLst>
                                    <p:set>
                                      <p:cBhvr>
                                        <p:cTn id="20" dur="1" fill="hold">
                                          <p:stCondLst>
                                            <p:cond delay="0"/>
                                          </p:stCondLst>
                                        </p:cTn>
                                        <p:tgtEl>
                                          <p:spTgt spid="5"/>
                                        </p:tgtEl>
                                        <p:attrNameLst>
                                          <p:attrName>style.visibility</p:attrName>
                                        </p:attrNameLst>
                                      </p:cBhvr>
                                      <p:to>
                                        <p:strVal val="visible"/>
                                      </p:to>
                                    </p:set>
                                    <p:anim calcmode="lin" valueType="num">
                                      <p:cBhvr>
                                        <p:cTn id="21" dur="550" fill="hold"/>
                                        <p:tgtEl>
                                          <p:spTgt spid="5"/>
                                        </p:tgtEl>
                                        <p:attrNameLst>
                                          <p:attrName>ppt_y</p:attrName>
                                        </p:attrNameLst>
                                      </p:cBhvr>
                                      <p:tavLst>
                                        <p:tav tm="0">
                                          <p:val>
                                            <p:strVal val="#ppt_y+.05"/>
                                          </p:val>
                                        </p:tav>
                                        <p:tav tm="100000">
                                          <p:val>
                                            <p:strVal val="#ppt_y"/>
                                          </p:val>
                                        </p:tav>
                                      </p:tavLst>
                                    </p:anim>
                                    <p:animEffect transition="in" filter="fade">
                                      <p:cBhvr>
                                        <p:cTn id="22" dur="550"/>
                                        <p:tgtEl>
                                          <p:spTgt spid="5"/>
                                        </p:tgtEl>
                                      </p:cBhvr>
                                    </p:animEffect>
                                  </p:childTnLst>
                                </p:cTn>
                              </p:par>
                              <p:par>
                                <p:cTn id="23" presetID="42" presetClass="entr" presetSubtype="0" fill="hold" nodeType="withEffect">
                                  <p:stCondLst>
                                    <p:cond delay="800"/>
                                  </p:stCondLst>
                                  <p:childTnLst>
                                    <p:set>
                                      <p:cBhvr>
                                        <p:cTn id="24" dur="1" fill="hold">
                                          <p:stCondLst>
                                            <p:cond delay="0"/>
                                          </p:stCondLst>
                                        </p:cTn>
                                        <p:tgtEl>
                                          <p:spTgt spid="6"/>
                                        </p:tgtEl>
                                        <p:attrNameLst>
                                          <p:attrName>style.visibility</p:attrName>
                                        </p:attrNameLst>
                                      </p:cBhvr>
                                      <p:to>
                                        <p:strVal val="visible"/>
                                      </p:to>
                                    </p:set>
                                    <p:anim calcmode="lin" valueType="num">
                                      <p:cBhvr>
                                        <p:cTn id="25" dur="550" fill="hold"/>
                                        <p:tgtEl>
                                          <p:spTgt spid="6"/>
                                        </p:tgtEl>
                                        <p:attrNameLst>
                                          <p:attrName>ppt_y</p:attrName>
                                        </p:attrNameLst>
                                      </p:cBhvr>
                                      <p:tavLst>
                                        <p:tav tm="0">
                                          <p:val>
                                            <p:strVal val="#ppt_y+.05"/>
                                          </p:val>
                                        </p:tav>
                                        <p:tav tm="100000">
                                          <p:val>
                                            <p:strVal val="#ppt_y"/>
                                          </p:val>
                                        </p:tav>
                                      </p:tavLst>
                                    </p:anim>
                                    <p:animEffect transition="in" filter="fade">
                                      <p:cBhvr>
                                        <p:cTn id="26" dur="550"/>
                                        <p:tgtEl>
                                          <p:spTgt spid="6"/>
                                        </p:tgtEl>
                                      </p:cBhvr>
                                    </p:animEffect>
                                  </p:childTnLst>
                                </p:cTn>
                              </p:par>
                              <p:par>
                                <p:cTn id="27" presetID="42" presetClass="entr" presetSubtype="0" fill="hold" grpId="0" nodeType="withEffect">
                                  <p:stCondLst>
                                    <p:cond delay="800"/>
                                  </p:stCondLst>
                                  <p:childTnLst>
                                    <p:set>
                                      <p:cBhvr>
                                        <p:cTn id="28" dur="1" fill="hold">
                                          <p:stCondLst>
                                            <p:cond delay="0"/>
                                          </p:stCondLst>
                                        </p:cTn>
                                        <p:tgtEl>
                                          <p:spTgt spid="7"/>
                                        </p:tgtEl>
                                        <p:attrNameLst>
                                          <p:attrName>style.visibility</p:attrName>
                                        </p:attrNameLst>
                                      </p:cBhvr>
                                      <p:to>
                                        <p:strVal val="visible"/>
                                      </p:to>
                                    </p:set>
                                    <p:anim calcmode="lin" valueType="num">
                                      <p:cBhvr>
                                        <p:cTn id="29" dur="550" fill="hold"/>
                                        <p:tgtEl>
                                          <p:spTgt spid="7"/>
                                        </p:tgtEl>
                                        <p:attrNameLst>
                                          <p:attrName>ppt_y</p:attrName>
                                        </p:attrNameLst>
                                      </p:cBhvr>
                                      <p:tavLst>
                                        <p:tav tm="0">
                                          <p:val>
                                            <p:strVal val="#ppt_y+.05"/>
                                          </p:val>
                                        </p:tav>
                                        <p:tav tm="100000">
                                          <p:val>
                                            <p:strVal val="#ppt_y"/>
                                          </p:val>
                                        </p:tav>
                                      </p:tavLst>
                                    </p:anim>
                                    <p:animEffect transition="in" filter="fade">
                                      <p:cBhvr>
                                        <p:cTn id="30" dur="550"/>
                                        <p:tgtEl>
                                          <p:spTgt spid="7"/>
                                        </p:tgtEl>
                                      </p:cBhvr>
                                    </p:animEffect>
                                  </p:childTnLst>
                                </p:cTn>
                              </p:par>
                              <p:par>
                                <p:cTn id="31" presetID="42" presetClass="entr" presetSubtype="0" fill="hold" grpId="0" nodeType="withEffect">
                                  <p:stCondLst>
                                    <p:cond delay="1100"/>
                                  </p:stCondLst>
                                  <p:childTnLst>
                                    <p:set>
                                      <p:cBhvr>
                                        <p:cTn id="32" dur="1" fill="hold">
                                          <p:stCondLst>
                                            <p:cond delay="0"/>
                                          </p:stCondLst>
                                        </p:cTn>
                                        <p:tgtEl>
                                          <p:spTgt spid="8"/>
                                        </p:tgtEl>
                                        <p:attrNameLst>
                                          <p:attrName>style.visibility</p:attrName>
                                        </p:attrNameLst>
                                      </p:cBhvr>
                                      <p:to>
                                        <p:strVal val="visible"/>
                                      </p:to>
                                    </p:set>
                                    <p:anim calcmode="lin" valueType="num">
                                      <p:cBhvr>
                                        <p:cTn id="33" dur="550" fill="hold"/>
                                        <p:tgtEl>
                                          <p:spTgt spid="8"/>
                                        </p:tgtEl>
                                        <p:attrNameLst>
                                          <p:attrName>ppt_y</p:attrName>
                                        </p:attrNameLst>
                                      </p:cBhvr>
                                      <p:tavLst>
                                        <p:tav tm="0">
                                          <p:val>
                                            <p:strVal val="#ppt_y+.05"/>
                                          </p:val>
                                        </p:tav>
                                        <p:tav tm="100000">
                                          <p:val>
                                            <p:strVal val="#ppt_y"/>
                                          </p:val>
                                        </p:tav>
                                      </p:tavLst>
                                    </p:anim>
                                    <p:animEffect transition="in" filter="fade">
                                      <p:cBhvr>
                                        <p:cTn id="34" dur="550"/>
                                        <p:tgtEl>
                                          <p:spTgt spid="8"/>
                                        </p:tgtEl>
                                      </p:cBhvr>
                                    </p:animEffect>
                                  </p:childTnLst>
                                </p:cTn>
                              </p:par>
                              <p:par>
                                <p:cTn id="35" presetID="42" presetClass="entr" presetSubtype="0" fill="hold" nodeType="withEffect">
                                  <p:stCondLst>
                                    <p:cond delay="1100"/>
                                  </p:stCondLst>
                                  <p:childTnLst>
                                    <p:set>
                                      <p:cBhvr>
                                        <p:cTn id="36" dur="1" fill="hold">
                                          <p:stCondLst>
                                            <p:cond delay="0"/>
                                          </p:stCondLst>
                                        </p:cTn>
                                        <p:tgtEl>
                                          <p:spTgt spid="9"/>
                                        </p:tgtEl>
                                        <p:attrNameLst>
                                          <p:attrName>style.visibility</p:attrName>
                                        </p:attrNameLst>
                                      </p:cBhvr>
                                      <p:to>
                                        <p:strVal val="visible"/>
                                      </p:to>
                                    </p:set>
                                    <p:anim calcmode="lin" valueType="num">
                                      <p:cBhvr>
                                        <p:cTn id="37" dur="550" fill="hold"/>
                                        <p:tgtEl>
                                          <p:spTgt spid="9"/>
                                        </p:tgtEl>
                                        <p:attrNameLst>
                                          <p:attrName>ppt_y</p:attrName>
                                        </p:attrNameLst>
                                      </p:cBhvr>
                                      <p:tavLst>
                                        <p:tav tm="0">
                                          <p:val>
                                            <p:strVal val="#ppt_y+.05"/>
                                          </p:val>
                                        </p:tav>
                                        <p:tav tm="100000">
                                          <p:val>
                                            <p:strVal val="#ppt_y"/>
                                          </p:val>
                                        </p:tav>
                                      </p:tavLst>
                                    </p:anim>
                                    <p:animEffect transition="in" filter="fade">
                                      <p:cBhvr>
                                        <p:cTn id="38" dur="550"/>
                                        <p:tgtEl>
                                          <p:spTgt spid="9"/>
                                        </p:tgtEl>
                                      </p:cBhvr>
                                    </p:animEffect>
                                  </p:childTnLst>
                                </p:cTn>
                              </p:par>
                              <p:par>
                                <p:cTn id="39" presetID="42" presetClass="entr" presetSubtype="0" fill="hold" grpId="0" nodeType="withEffect">
                                  <p:stCondLst>
                                    <p:cond delay="1100"/>
                                  </p:stCondLst>
                                  <p:childTnLst>
                                    <p:set>
                                      <p:cBhvr>
                                        <p:cTn id="40" dur="1" fill="hold">
                                          <p:stCondLst>
                                            <p:cond delay="0"/>
                                          </p:stCondLst>
                                        </p:cTn>
                                        <p:tgtEl>
                                          <p:spTgt spid="10"/>
                                        </p:tgtEl>
                                        <p:attrNameLst>
                                          <p:attrName>style.visibility</p:attrName>
                                        </p:attrNameLst>
                                      </p:cBhvr>
                                      <p:to>
                                        <p:strVal val="visible"/>
                                      </p:to>
                                    </p:set>
                                    <p:anim calcmode="lin" valueType="num">
                                      <p:cBhvr>
                                        <p:cTn id="41" dur="550" fill="hold"/>
                                        <p:tgtEl>
                                          <p:spTgt spid="10"/>
                                        </p:tgtEl>
                                        <p:attrNameLst>
                                          <p:attrName>ppt_y</p:attrName>
                                        </p:attrNameLst>
                                      </p:cBhvr>
                                      <p:tavLst>
                                        <p:tav tm="0">
                                          <p:val>
                                            <p:strVal val="#ppt_y+.05"/>
                                          </p:val>
                                        </p:tav>
                                        <p:tav tm="100000">
                                          <p:val>
                                            <p:strVal val="#ppt_y"/>
                                          </p:val>
                                        </p:tav>
                                      </p:tavLst>
                                    </p:anim>
                                    <p:animEffect transition="in" filter="fade">
                                      <p:cBhvr>
                                        <p:cTn id="42" dur="550"/>
                                        <p:tgtEl>
                                          <p:spTgt spid="10"/>
                                        </p:tgtEl>
                                      </p:cBhvr>
                                    </p:animEffect>
                                  </p:childTnLst>
                                </p:cTn>
                              </p:par>
                              <p:par>
                                <p:cTn id="43" presetID="42" presetClass="entr" presetSubtype="0" fill="hold" grpId="0" nodeType="withEffect">
                                  <p:stCondLst>
                                    <p:cond delay="1400"/>
                                  </p:stCondLst>
                                  <p:childTnLst>
                                    <p:set>
                                      <p:cBhvr>
                                        <p:cTn id="44" dur="1" fill="hold">
                                          <p:stCondLst>
                                            <p:cond delay="0"/>
                                          </p:stCondLst>
                                        </p:cTn>
                                        <p:tgtEl>
                                          <p:spTgt spid="11"/>
                                        </p:tgtEl>
                                        <p:attrNameLst>
                                          <p:attrName>style.visibility</p:attrName>
                                        </p:attrNameLst>
                                      </p:cBhvr>
                                      <p:to>
                                        <p:strVal val="visible"/>
                                      </p:to>
                                    </p:set>
                                    <p:anim calcmode="lin" valueType="num">
                                      <p:cBhvr>
                                        <p:cTn id="45" dur="550" fill="hold"/>
                                        <p:tgtEl>
                                          <p:spTgt spid="11"/>
                                        </p:tgtEl>
                                        <p:attrNameLst>
                                          <p:attrName>ppt_y</p:attrName>
                                        </p:attrNameLst>
                                      </p:cBhvr>
                                      <p:tavLst>
                                        <p:tav tm="0">
                                          <p:val>
                                            <p:strVal val="#ppt_y+.05"/>
                                          </p:val>
                                        </p:tav>
                                        <p:tav tm="100000">
                                          <p:val>
                                            <p:strVal val="#ppt_y"/>
                                          </p:val>
                                        </p:tav>
                                      </p:tavLst>
                                    </p:anim>
                                    <p:animEffect transition="in" filter="fade">
                                      <p:cBhvr>
                                        <p:cTn id="46" dur="550"/>
                                        <p:tgtEl>
                                          <p:spTgt spid="11"/>
                                        </p:tgtEl>
                                      </p:cBhvr>
                                    </p:animEffect>
                                  </p:childTnLst>
                                </p:cTn>
                              </p:par>
                              <p:par>
                                <p:cTn id="47" presetID="42" presetClass="entr" presetSubtype="0" fill="hold" nodeType="withEffect">
                                  <p:stCondLst>
                                    <p:cond delay="1400"/>
                                  </p:stCondLst>
                                  <p:childTnLst>
                                    <p:set>
                                      <p:cBhvr>
                                        <p:cTn id="48" dur="1" fill="hold">
                                          <p:stCondLst>
                                            <p:cond delay="0"/>
                                          </p:stCondLst>
                                        </p:cTn>
                                        <p:tgtEl>
                                          <p:spTgt spid="12"/>
                                        </p:tgtEl>
                                        <p:attrNameLst>
                                          <p:attrName>style.visibility</p:attrName>
                                        </p:attrNameLst>
                                      </p:cBhvr>
                                      <p:to>
                                        <p:strVal val="visible"/>
                                      </p:to>
                                    </p:set>
                                    <p:anim calcmode="lin" valueType="num">
                                      <p:cBhvr>
                                        <p:cTn id="49" dur="550" fill="hold"/>
                                        <p:tgtEl>
                                          <p:spTgt spid="12"/>
                                        </p:tgtEl>
                                        <p:attrNameLst>
                                          <p:attrName>ppt_y</p:attrName>
                                        </p:attrNameLst>
                                      </p:cBhvr>
                                      <p:tavLst>
                                        <p:tav tm="0">
                                          <p:val>
                                            <p:strVal val="#ppt_y+.05"/>
                                          </p:val>
                                        </p:tav>
                                        <p:tav tm="100000">
                                          <p:val>
                                            <p:strVal val="#ppt_y"/>
                                          </p:val>
                                        </p:tav>
                                      </p:tavLst>
                                    </p:anim>
                                    <p:animEffect transition="in" filter="fade">
                                      <p:cBhvr>
                                        <p:cTn id="50" dur="550"/>
                                        <p:tgtEl>
                                          <p:spTgt spid="12"/>
                                        </p:tgtEl>
                                      </p:cBhvr>
                                    </p:animEffect>
                                  </p:childTnLst>
                                </p:cTn>
                              </p:par>
                              <p:par>
                                <p:cTn id="51" presetID="42" presetClass="entr" presetSubtype="0" fill="hold" grpId="0" nodeType="withEffect">
                                  <p:stCondLst>
                                    <p:cond delay="1400"/>
                                  </p:stCondLst>
                                  <p:childTnLst>
                                    <p:set>
                                      <p:cBhvr>
                                        <p:cTn id="52" dur="1" fill="hold">
                                          <p:stCondLst>
                                            <p:cond delay="0"/>
                                          </p:stCondLst>
                                        </p:cTn>
                                        <p:tgtEl>
                                          <p:spTgt spid="13"/>
                                        </p:tgtEl>
                                        <p:attrNameLst>
                                          <p:attrName>style.visibility</p:attrName>
                                        </p:attrNameLst>
                                      </p:cBhvr>
                                      <p:to>
                                        <p:strVal val="visible"/>
                                      </p:to>
                                    </p:set>
                                    <p:anim calcmode="lin" valueType="num">
                                      <p:cBhvr>
                                        <p:cTn id="53" dur="550" fill="hold"/>
                                        <p:tgtEl>
                                          <p:spTgt spid="13"/>
                                        </p:tgtEl>
                                        <p:attrNameLst>
                                          <p:attrName>ppt_y</p:attrName>
                                        </p:attrNameLst>
                                      </p:cBhvr>
                                      <p:tavLst>
                                        <p:tav tm="0">
                                          <p:val>
                                            <p:strVal val="#ppt_y+.05"/>
                                          </p:val>
                                        </p:tav>
                                        <p:tav tm="100000">
                                          <p:val>
                                            <p:strVal val="#ppt_y"/>
                                          </p:val>
                                        </p:tav>
                                      </p:tavLst>
                                    </p:anim>
                                    <p:animEffect transition="in" filter="fade">
                                      <p:cBhvr>
                                        <p:cTn id="54" dur="550"/>
                                        <p:tgtEl>
                                          <p:spTgt spid="13"/>
                                        </p:tgtEl>
                                      </p:cBhvr>
                                    </p:animEffect>
                                  </p:childTnLst>
                                </p:cTn>
                              </p:par>
                              <p:par>
                                <p:cTn id="55" presetID="10" presetClass="entr" presetSubtype="0" fill="hold" grpId="0" nodeType="withEffect">
                                  <p:stCondLst>
                                    <p:cond delay="150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400"/>
                                        <p:tgtEl>
                                          <p:spTgt spid="15"/>
                                        </p:tgtEl>
                                      </p:cBhvr>
                                    </p:animEffect>
                                  </p:childTnLst>
                                </p:cTn>
                              </p:par>
                              <p:par>
                                <p:cTn id="58" presetID="22" presetClass="entr" presetSubtype="8" fill="hold" grpId="0" nodeType="withEffect">
                                  <p:stCondLst>
                                    <p:cond delay="1500"/>
                                  </p:stCondLst>
                                  <p:childTnLst>
                                    <p:set>
                                      <p:cBhvr>
                                        <p:cTn id="59" dur="1" fill="hold">
                                          <p:stCondLst>
                                            <p:cond delay="0"/>
                                          </p:stCondLst>
                                        </p:cTn>
                                        <p:tgtEl>
                                          <p:spTgt spid="16"/>
                                        </p:tgtEl>
                                        <p:attrNameLst>
                                          <p:attrName>style.visibility</p:attrName>
                                        </p:attrNameLst>
                                      </p:cBhvr>
                                      <p:to>
                                        <p:strVal val="visible"/>
                                      </p:to>
                                    </p:set>
                                    <p:animEffect transition="in" filter="wipe(left)">
                                      <p:cBhvr>
                                        <p:cTn id="60" dur="500"/>
                                        <p:tgtEl>
                                          <p:spTgt spid="16"/>
                                        </p:tgtEl>
                                      </p:cBhvr>
                                    </p:animEffect>
                                  </p:childTnLst>
                                </p:cTn>
                              </p:par>
                              <p:par>
                                <p:cTn id="61" presetID="10" presetClass="entr" presetSubtype="0" fill="hold" grpId="0" nodeType="withEffect">
                                  <p:stCondLst>
                                    <p:cond delay="170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500"/>
                                        <p:tgtEl>
                                          <p:spTgt spid="17"/>
                                        </p:tgtEl>
                                      </p:cBhvr>
                                    </p:animEffect>
                                  </p:childTnLst>
                                </p:cTn>
                              </p:par>
                              <p:par>
                                <p:cTn id="64" presetID="10" presetClass="entr" presetSubtype="0" fill="hold" grpId="0" nodeType="withEffect">
                                  <p:stCondLst>
                                    <p:cond delay="175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400"/>
                                        <p:tgtEl>
                                          <p:spTgt spid="18"/>
                                        </p:tgtEl>
                                      </p:cBhvr>
                                    </p:animEffect>
                                  </p:childTnLst>
                                </p:cTn>
                              </p:par>
                              <p:par>
                                <p:cTn id="67" presetID="22" presetClass="entr" presetSubtype="8" fill="hold" grpId="0" nodeType="withEffect">
                                  <p:stCondLst>
                                    <p:cond delay="1750"/>
                                  </p:stCondLst>
                                  <p:childTnLst>
                                    <p:set>
                                      <p:cBhvr>
                                        <p:cTn id="68" dur="1" fill="hold">
                                          <p:stCondLst>
                                            <p:cond delay="0"/>
                                          </p:stCondLst>
                                        </p:cTn>
                                        <p:tgtEl>
                                          <p:spTgt spid="19"/>
                                        </p:tgtEl>
                                        <p:attrNameLst>
                                          <p:attrName>style.visibility</p:attrName>
                                        </p:attrNameLst>
                                      </p:cBhvr>
                                      <p:to>
                                        <p:strVal val="visible"/>
                                      </p:to>
                                    </p:set>
                                    <p:animEffect transition="in" filter="wipe(left)">
                                      <p:cBhvr>
                                        <p:cTn id="69" dur="500"/>
                                        <p:tgtEl>
                                          <p:spTgt spid="19"/>
                                        </p:tgtEl>
                                      </p:cBhvr>
                                    </p:animEffect>
                                  </p:childTnLst>
                                </p:cTn>
                              </p:par>
                              <p:par>
                                <p:cTn id="70" presetID="10" presetClass="entr" presetSubtype="0" fill="hold" grpId="0" nodeType="withEffect">
                                  <p:stCondLst>
                                    <p:cond delay="1950"/>
                                  </p:stCondLst>
                                  <p:childTnLst>
                                    <p:set>
                                      <p:cBhvr>
                                        <p:cTn id="71" dur="1" fill="hold">
                                          <p:stCondLst>
                                            <p:cond delay="0"/>
                                          </p:stCondLst>
                                        </p:cTn>
                                        <p:tgtEl>
                                          <p:spTgt spid="20"/>
                                        </p:tgtEl>
                                        <p:attrNameLst>
                                          <p:attrName>style.visibility</p:attrName>
                                        </p:attrNameLst>
                                      </p:cBhvr>
                                      <p:to>
                                        <p:strVal val="visible"/>
                                      </p:to>
                                    </p:set>
                                    <p:animEffect transition="in" filter="fade">
                                      <p:cBhvr>
                                        <p:cTn id="72" dur="500"/>
                                        <p:tgtEl>
                                          <p:spTgt spid="20"/>
                                        </p:tgtEl>
                                      </p:cBhvr>
                                    </p:animEffect>
                                  </p:childTnLst>
                                </p:cTn>
                              </p:par>
                              <p:par>
                                <p:cTn id="73" presetID="10" presetClass="entr" presetSubtype="0" fill="hold" grpId="0" nodeType="withEffect">
                                  <p:stCondLst>
                                    <p:cond delay="2000"/>
                                  </p:stCondLst>
                                  <p:childTnLst>
                                    <p:set>
                                      <p:cBhvr>
                                        <p:cTn id="74" dur="1" fill="hold">
                                          <p:stCondLst>
                                            <p:cond delay="0"/>
                                          </p:stCondLst>
                                        </p:cTn>
                                        <p:tgtEl>
                                          <p:spTgt spid="21"/>
                                        </p:tgtEl>
                                        <p:attrNameLst>
                                          <p:attrName>style.visibility</p:attrName>
                                        </p:attrNameLst>
                                      </p:cBhvr>
                                      <p:to>
                                        <p:strVal val="visible"/>
                                      </p:to>
                                    </p:set>
                                    <p:animEffect transition="in" filter="fade">
                                      <p:cBhvr>
                                        <p:cTn id="75" dur="400"/>
                                        <p:tgtEl>
                                          <p:spTgt spid="21"/>
                                        </p:tgtEl>
                                      </p:cBhvr>
                                    </p:animEffect>
                                  </p:childTnLst>
                                </p:cTn>
                              </p:par>
                              <p:par>
                                <p:cTn id="76" presetID="22" presetClass="entr" presetSubtype="8" fill="hold" grpId="0" nodeType="withEffect">
                                  <p:stCondLst>
                                    <p:cond delay="2000"/>
                                  </p:stCondLst>
                                  <p:childTnLst>
                                    <p:set>
                                      <p:cBhvr>
                                        <p:cTn id="77" dur="1" fill="hold">
                                          <p:stCondLst>
                                            <p:cond delay="0"/>
                                          </p:stCondLst>
                                        </p:cTn>
                                        <p:tgtEl>
                                          <p:spTgt spid="22"/>
                                        </p:tgtEl>
                                        <p:attrNameLst>
                                          <p:attrName>style.visibility</p:attrName>
                                        </p:attrNameLst>
                                      </p:cBhvr>
                                      <p:to>
                                        <p:strVal val="visible"/>
                                      </p:to>
                                    </p:set>
                                    <p:animEffect transition="in" filter="wipe(left)">
                                      <p:cBhvr>
                                        <p:cTn id="78" dur="500"/>
                                        <p:tgtEl>
                                          <p:spTgt spid="22"/>
                                        </p:tgtEl>
                                      </p:cBhvr>
                                    </p:animEffect>
                                  </p:childTnLst>
                                </p:cTn>
                              </p:par>
                              <p:par>
                                <p:cTn id="79" presetID="10" presetClass="entr" presetSubtype="0" fill="hold" grpId="0" nodeType="withEffect">
                                  <p:stCondLst>
                                    <p:cond delay="2200"/>
                                  </p:stCondLst>
                                  <p:childTnLst>
                                    <p:set>
                                      <p:cBhvr>
                                        <p:cTn id="80" dur="1" fill="hold">
                                          <p:stCondLst>
                                            <p:cond delay="0"/>
                                          </p:stCondLst>
                                        </p:cTn>
                                        <p:tgtEl>
                                          <p:spTgt spid="23"/>
                                        </p:tgtEl>
                                        <p:attrNameLst>
                                          <p:attrName>style.visibility</p:attrName>
                                        </p:attrNameLst>
                                      </p:cBhvr>
                                      <p:to>
                                        <p:strVal val="visible"/>
                                      </p:to>
                                    </p:set>
                                    <p:animEffect transition="in" filter="fade">
                                      <p:cBhvr>
                                        <p:cTn id="81" dur="500"/>
                                        <p:tgtEl>
                                          <p:spTgt spid="23"/>
                                        </p:tgtEl>
                                      </p:cBhvr>
                                    </p:animEffect>
                                  </p:childTnLst>
                                </p:cTn>
                              </p:par>
                              <p:par>
                                <p:cTn id="82" presetID="10" presetClass="entr" presetSubtype="0" fill="hold" grpId="0" nodeType="withEffect">
                                  <p:stCondLst>
                                    <p:cond delay="2400"/>
                                  </p:stCondLst>
                                  <p:childTnLst>
                                    <p:set>
                                      <p:cBhvr>
                                        <p:cTn id="83" dur="1" fill="hold">
                                          <p:stCondLst>
                                            <p:cond delay="0"/>
                                          </p:stCondLst>
                                        </p:cTn>
                                        <p:tgtEl>
                                          <p:spTgt spid="24"/>
                                        </p:tgtEl>
                                        <p:attrNameLst>
                                          <p:attrName>style.visibility</p:attrName>
                                        </p:attrNameLst>
                                      </p:cBhvr>
                                      <p:to>
                                        <p:strVal val="visible"/>
                                      </p:to>
                                    </p:set>
                                    <p:animEffect transition="in" filter="fade">
                                      <p:cBhvr>
                                        <p:cTn id="8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animBg="1"/>
      <p:bldP spid="7" grpId="0"/>
      <p:bldP spid="8" grpId="0" animBg="1"/>
      <p:bldP spid="10" grpId="0"/>
      <p:bldP spid="11" grpId="0" animBg="1"/>
      <p:bldP spid="13" grpId="0"/>
      <p:bldP spid="15" grpId="0" animBg="1"/>
      <p:bldP spid="16" grpId="0" animBg="1"/>
      <p:bldP spid="17" grpId="0"/>
      <p:bldP spid="18" grpId="0" animBg="1"/>
      <p:bldP spid="19" grpId="0" animBg="1"/>
      <p:bldP spid="20" grpId="0"/>
      <p:bldP spid="21" grpId="0" animBg="1"/>
      <p:bldP spid="22" grpId="0" animBg="1"/>
      <p:bldP spid="23" grpId="0"/>
      <p:bldP spid="24"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685800" y="502920"/>
            <a:ext cx="7315200" cy="274320"/>
          </a:xfrm>
          <a:prstGeom prst="rect">
            <a:avLst/>
          </a:prstGeom>
          <a:noFill/>
          <a:ln/>
        </p:spPr>
        <p:txBody>
          <a:bodyPr wrap="square" lIns="0" tIns="0" rIns="0" bIns="0" rtlCol="0" anchor="t"/>
          <a:lstStyle/>
          <a:p>
            <a:pPr algn="l" indent="0" marL="0">
              <a:buNone/>
            </a:pPr>
            <a:r>
              <a:rPr lang="en-US" sz="1300" b="1" spc="300" kern="0" dirty="0">
                <a:solidFill>
                  <a:srgbClr val="3FD39B"/>
                </a:solidFill>
              </a:rPr>
              <a:t>HOW IT WORKS</a:t>
            </a:r>
            <a:endParaRPr lang="en-US" sz="1300" dirty="0"/>
          </a:p>
        </p:txBody>
      </p:sp>
      <p:sp>
        <p:nvSpPr>
          <p:cNvPr id="3" name="Text 0"/>
          <p:cNvSpPr/>
          <p:nvPr>
            <p:ph idx="101" type="title" hasCustomPrompt="1"/>
          </p:nvPr>
        </p:nvSpPr>
        <p:spPr>
          <a:xfrm>
            <a:off x="685800" y="841248"/>
            <a:ext cx="10820400" cy="1325880"/>
          </a:xfrm>
          <a:prstGeom prst="rect">
            <a:avLst/>
          </a:prstGeom>
          <a:noFill/>
          <a:ln/>
        </p:spPr>
        <p:txBody>
          <a:bodyPr wrap="square" lIns="0" tIns="0" rIns="0" bIns="0" rtlCol="0" anchor="t"/>
          <a:lstStyle/>
          <a:p>
            <a:pPr algn="l" indent="0" marL="0">
              <a:lnSpc>
                <a:spcPct val="95000"/>
              </a:lnSpc>
              <a:buNone/>
            </a:pPr>
            <a:r>
              <a:rPr lang="en-US" sz="4000" b="1" dirty="0">
                <a:solidFill>
                  <a:schemeClr val="bg1"/>
                </a:solidFill>
                <a:latin typeface="+mj-lt" pitchFamily="34" charset="0"/>
                <a:ea typeface="+mj-lt" pitchFamily="34" charset="-122"/>
                <a:cs typeface="+mj-lt" pitchFamily="34" charset="-120"/>
              </a:rPr>
              <a:t>From craving to doorstep in </a:t>
            </a:r>
            <a:pPr algn="l" indent="0" marL="0">
              <a:lnSpc>
                <a:spcPct val="95000"/>
              </a:lnSpc>
              <a:buNone/>
            </a:pPr>
            <a:r>
              <a:rPr lang="en-US" sz="4000" b="1" i="1" dirty="0">
                <a:solidFill>
                  <a:srgbClr val="3FD39B"/>
                </a:solidFill>
                <a:latin typeface="+mj-lt" pitchFamily="34" charset="0"/>
                <a:ea typeface="+mj-lt" pitchFamily="34" charset="-122"/>
                <a:cs typeface="+mj-lt" pitchFamily="34" charset="-120"/>
              </a:rPr>
              <a:t>four steps.</a:t>
            </a:r>
            <a:endParaRPr lang="en-US" sz="4000" dirty="0"/>
          </a:p>
        </p:txBody>
      </p:sp>
      <p:sp>
        <p:nvSpPr>
          <p:cNvPr id="4" name="Thread"/>
          <p:cNvSpPr/>
          <p:nvPr/>
        </p:nvSpPr>
        <p:spPr>
          <a:xfrm>
            <a:off x="1517904" y="2176272"/>
            <a:ext cx="7955280" cy="0"/>
          </a:xfrm>
          <a:prstGeom prst="line">
            <a:avLst/>
          </a:prstGeom>
          <a:noFill/>
          <a:ln w="19050">
            <a:solidFill>
              <a:srgbClr val="3FD39B">
                <a:alpha val="50000"/>
              </a:srgbClr>
            </a:solidFill>
            <a:prstDash val="solid"/>
          </a:ln>
        </p:spPr>
      </p:sp>
      <p:sp>
        <p:nvSpPr>
          <p:cNvPr id="5" name="Step 1 number"/>
          <p:cNvSpPr/>
          <p:nvPr/>
        </p:nvSpPr>
        <p:spPr>
          <a:xfrm>
            <a:off x="1371600" y="1993392"/>
            <a:ext cx="365760" cy="365760"/>
          </a:xfrm>
          <a:prstGeom prst="ellipse">
            <a:avLst/>
          </a:prstGeom>
          <a:solidFill>
            <a:srgbClr val="3FD39B"/>
          </a:solidFill>
          <a:ln/>
        </p:spPr>
        <p:txBody>
          <a:bodyPr wrap="square" lIns="0" tIns="0" rIns="0" bIns="0" rtlCol="0" anchor="ctr"/>
          <a:lstStyle/>
          <a:p>
            <a:pPr algn="ctr" indent="0" marL="0">
              <a:buNone/>
            </a:pPr>
            <a:r>
              <a:rPr lang="en-US" sz="1500" b="1" dirty="0">
                <a:solidFill>
                  <a:schemeClr val="tx1"/>
                </a:solidFill>
              </a:rPr>
              <a:t>1</a:t>
            </a:r>
            <a:endParaRPr lang="en-US" sz="1500" dirty="0"/>
          </a:p>
        </p:txBody>
      </p:sp>
      <p:sp>
        <p:nvSpPr>
          <p:cNvPr id="6" name="Step 1"/>
          <p:cNvSpPr txBox="1"/>
          <p:nvPr/>
        </p:nvSpPr>
        <p:spPr>
          <a:xfrm>
            <a:off x="1371600" y="2468880"/>
            <a:ext cx="2377440" cy="868680"/>
          </a:xfrm>
          <a:prstGeom prst="rect">
            <a:avLst/>
          </a:prstGeom>
          <a:noFill/>
          <a:ln/>
        </p:spPr>
        <p:txBody>
          <a:bodyPr wrap="square" lIns="0" tIns="0" rIns="0" bIns="0" rtlCol="0" anchor="t"/>
          <a:lstStyle/>
          <a:p>
            <a:pPr algn="l" indent="0" marL="0">
              <a:lnSpc>
                <a:spcPct val="100000"/>
              </a:lnSpc>
              <a:buNone/>
            </a:pPr>
            <a:r>
              <a:rPr lang="en-US" sz="2200" b="1" dirty="0">
                <a:solidFill>
                  <a:schemeClr val="bg1"/>
                </a:solidFill>
              </a:rPr>
              <a:t>Discover</a:t>
            </a:r>
            <a:endParaRPr lang="en-US" sz="2200" dirty="0"/>
          </a:p>
          <a:p>
            <a:pPr algn="l" indent="0" marL="0">
              <a:lnSpc>
                <a:spcPct val="100000"/>
              </a:lnSpc>
              <a:buNone/>
            </a:pPr>
            <a:r>
              <a:rPr lang="en-US" sz="1500" dirty="0">
                <a:solidFill>
                  <a:srgbClr val="E2E5E4"/>
                </a:solidFill>
              </a:rPr>
              <a:t>Browse nearby stores by category. See who is open.</a:t>
            </a:r>
            <a:endParaRPr lang="en-US" sz="2200" dirty="0"/>
          </a:p>
        </p:txBody>
      </p:sp>
      <p:pic>
        <p:nvPicPr>
          <p:cNvPr id="7" name="Phone 1" descr="Lokal Finder app screen for step 1, Discover (real app screen, demo data).">    </p:cNvPr>
          <p:cNvPicPr>
            <a:picLocks noChangeAspect="1"/>
          </p:cNvPicPr>
          <p:nvPr/>
        </p:nvPicPr>
        <p:blipFill>
          <a:blip r:embed="rId1"/>
          <a:stretch>
            <a:fillRect/>
          </a:stretch>
        </p:blipFill>
        <p:spPr>
          <a:xfrm>
            <a:off x="1148249" y="3162553"/>
            <a:ext cx="2366942" cy="3695447"/>
          </a:xfrm>
          <a:prstGeom prst="rect">
            <a:avLst/>
          </a:prstGeom>
        </p:spPr>
      </p:pic>
      <p:sp>
        <p:nvSpPr>
          <p:cNvPr id="8" name="Step 2 number"/>
          <p:cNvSpPr/>
          <p:nvPr/>
        </p:nvSpPr>
        <p:spPr>
          <a:xfrm>
            <a:off x="4023360" y="1993392"/>
            <a:ext cx="365760" cy="365760"/>
          </a:xfrm>
          <a:prstGeom prst="ellipse">
            <a:avLst/>
          </a:prstGeom>
          <a:solidFill>
            <a:srgbClr val="3FD39B"/>
          </a:solidFill>
          <a:ln/>
        </p:spPr>
        <p:txBody>
          <a:bodyPr wrap="square" lIns="0" tIns="0" rIns="0" bIns="0" rtlCol="0" anchor="ctr"/>
          <a:lstStyle/>
          <a:p>
            <a:pPr algn="ctr" indent="0" marL="0">
              <a:buNone/>
            </a:pPr>
            <a:r>
              <a:rPr lang="en-US" sz="1500" b="1" dirty="0">
                <a:solidFill>
                  <a:schemeClr val="tx1"/>
                </a:solidFill>
              </a:rPr>
              <a:t>2</a:t>
            </a:r>
            <a:endParaRPr lang="en-US" sz="1500" dirty="0"/>
          </a:p>
        </p:txBody>
      </p:sp>
      <p:sp>
        <p:nvSpPr>
          <p:cNvPr id="9" name="Step 2"/>
          <p:cNvSpPr txBox="1"/>
          <p:nvPr/>
        </p:nvSpPr>
        <p:spPr>
          <a:xfrm>
            <a:off x="4023360" y="2468880"/>
            <a:ext cx="2377440" cy="868680"/>
          </a:xfrm>
          <a:prstGeom prst="rect">
            <a:avLst/>
          </a:prstGeom>
          <a:noFill/>
          <a:ln/>
        </p:spPr>
        <p:txBody>
          <a:bodyPr wrap="square" lIns="0" tIns="0" rIns="0" bIns="0" rtlCol="0" anchor="t"/>
          <a:lstStyle/>
          <a:p>
            <a:pPr algn="l" indent="0" marL="0">
              <a:lnSpc>
                <a:spcPct val="100000"/>
              </a:lnSpc>
              <a:buNone/>
            </a:pPr>
            <a:r>
              <a:rPr lang="en-US" sz="2200" b="1" dirty="0">
                <a:solidFill>
                  <a:schemeClr val="bg1"/>
                </a:solidFill>
              </a:rPr>
              <a:t>Browse</a:t>
            </a:r>
            <a:endParaRPr lang="en-US" sz="2200" dirty="0"/>
          </a:p>
          <a:p>
            <a:pPr algn="l" indent="0" marL="0">
              <a:lnSpc>
                <a:spcPct val="100000"/>
              </a:lnSpc>
              <a:buNone/>
            </a:pPr>
            <a:r>
              <a:rPr lang="en-US" sz="1500" dirty="0">
                <a:solidFill>
                  <a:srgbClr val="E2E5E4"/>
                </a:solidFill>
              </a:rPr>
              <a:t>Open a store: menu, prices and opening hours.</a:t>
            </a:r>
            <a:endParaRPr lang="en-US" sz="2200" dirty="0"/>
          </a:p>
        </p:txBody>
      </p:sp>
      <p:pic>
        <p:nvPicPr>
          <p:cNvPr id="10" name="Phone 2" descr="Lokal Finder app screen for step 2, Browse (real app screen, demo data).">    </p:cNvPr>
          <p:cNvPicPr>
            <a:picLocks noChangeAspect="1"/>
          </p:cNvPicPr>
          <p:nvPr/>
        </p:nvPicPr>
        <p:blipFill>
          <a:blip r:embed="rId2"/>
          <a:stretch>
            <a:fillRect/>
          </a:stretch>
        </p:blipFill>
        <p:spPr>
          <a:xfrm>
            <a:off x="3800009" y="3162553"/>
            <a:ext cx="2366942" cy="3695447"/>
          </a:xfrm>
          <a:prstGeom prst="rect">
            <a:avLst/>
          </a:prstGeom>
        </p:spPr>
      </p:pic>
      <p:sp>
        <p:nvSpPr>
          <p:cNvPr id="11" name="Step 3 number"/>
          <p:cNvSpPr/>
          <p:nvPr/>
        </p:nvSpPr>
        <p:spPr>
          <a:xfrm>
            <a:off x="6675120" y="1993392"/>
            <a:ext cx="365760" cy="365760"/>
          </a:xfrm>
          <a:prstGeom prst="ellipse">
            <a:avLst/>
          </a:prstGeom>
          <a:solidFill>
            <a:srgbClr val="3FD39B"/>
          </a:solidFill>
          <a:ln/>
        </p:spPr>
        <p:txBody>
          <a:bodyPr wrap="square" lIns="0" tIns="0" rIns="0" bIns="0" rtlCol="0" anchor="ctr"/>
          <a:lstStyle/>
          <a:p>
            <a:pPr algn="ctr" indent="0" marL="0">
              <a:buNone/>
            </a:pPr>
            <a:r>
              <a:rPr lang="en-US" sz="1500" b="1" dirty="0">
                <a:solidFill>
                  <a:schemeClr val="tx1"/>
                </a:solidFill>
              </a:rPr>
              <a:t>3</a:t>
            </a:r>
            <a:endParaRPr lang="en-US" sz="1500" dirty="0"/>
          </a:p>
        </p:txBody>
      </p:sp>
      <p:sp>
        <p:nvSpPr>
          <p:cNvPr id="12" name="Step 3"/>
          <p:cNvSpPr txBox="1"/>
          <p:nvPr/>
        </p:nvSpPr>
        <p:spPr>
          <a:xfrm>
            <a:off x="6675120" y="2468880"/>
            <a:ext cx="2377440" cy="868680"/>
          </a:xfrm>
          <a:prstGeom prst="rect">
            <a:avLst/>
          </a:prstGeom>
          <a:noFill/>
          <a:ln/>
        </p:spPr>
        <p:txBody>
          <a:bodyPr wrap="square" lIns="0" tIns="0" rIns="0" bIns="0" rtlCol="0" anchor="t"/>
          <a:lstStyle/>
          <a:p>
            <a:pPr algn="l" indent="0" marL="0">
              <a:lnSpc>
                <a:spcPct val="100000"/>
              </a:lnSpc>
              <a:buNone/>
            </a:pPr>
            <a:r>
              <a:rPr lang="en-US" sz="2200" b="1" dirty="0">
                <a:solidFill>
                  <a:schemeClr val="bg1"/>
                </a:solidFill>
              </a:rPr>
              <a:t>Order</a:t>
            </a:r>
            <a:endParaRPr lang="en-US" sz="2200" dirty="0"/>
          </a:p>
          <a:p>
            <a:pPr algn="l" indent="0" marL="0">
              <a:lnSpc>
                <a:spcPct val="100000"/>
              </a:lnSpc>
              <a:buNone/>
            </a:pPr>
            <a:r>
              <a:rPr lang="en-US" sz="1500" dirty="0">
                <a:solidFill>
                  <a:srgbClr val="E2E5E4"/>
                </a:solidFill>
              </a:rPr>
              <a:t>Add items, enter your unit, pay cash or GCash.</a:t>
            </a:r>
            <a:endParaRPr lang="en-US" sz="2200" dirty="0"/>
          </a:p>
        </p:txBody>
      </p:sp>
      <p:pic>
        <p:nvPicPr>
          <p:cNvPr id="13" name="Phone 3" descr="Lokal Finder app screen for step 3, Order (real app screen, demo data).">    </p:cNvPr>
          <p:cNvPicPr>
            <a:picLocks noChangeAspect="1"/>
          </p:cNvPicPr>
          <p:nvPr/>
        </p:nvPicPr>
        <p:blipFill>
          <a:blip r:embed="rId3"/>
          <a:stretch>
            <a:fillRect/>
          </a:stretch>
        </p:blipFill>
        <p:spPr>
          <a:xfrm>
            <a:off x="6451769" y="3162553"/>
            <a:ext cx="2366942" cy="3695447"/>
          </a:xfrm>
          <a:prstGeom prst="rect">
            <a:avLst/>
          </a:prstGeom>
        </p:spPr>
      </p:pic>
      <p:sp>
        <p:nvSpPr>
          <p:cNvPr id="14" name="Step 4 number"/>
          <p:cNvSpPr/>
          <p:nvPr/>
        </p:nvSpPr>
        <p:spPr>
          <a:xfrm>
            <a:off x="9326880" y="1993392"/>
            <a:ext cx="365760" cy="365760"/>
          </a:xfrm>
          <a:prstGeom prst="ellipse">
            <a:avLst/>
          </a:prstGeom>
          <a:solidFill>
            <a:srgbClr val="3FD39B"/>
          </a:solidFill>
          <a:ln/>
        </p:spPr>
        <p:txBody>
          <a:bodyPr wrap="square" lIns="0" tIns="0" rIns="0" bIns="0" rtlCol="0" anchor="ctr"/>
          <a:lstStyle/>
          <a:p>
            <a:pPr algn="ctr" indent="0" marL="0">
              <a:buNone/>
            </a:pPr>
            <a:r>
              <a:rPr lang="en-US" sz="1500" b="1" dirty="0">
                <a:solidFill>
                  <a:schemeClr val="tx1"/>
                </a:solidFill>
              </a:rPr>
              <a:t>4</a:t>
            </a:r>
            <a:endParaRPr lang="en-US" sz="1500" dirty="0"/>
          </a:p>
        </p:txBody>
      </p:sp>
      <p:sp>
        <p:nvSpPr>
          <p:cNvPr id="15" name="Step 4"/>
          <p:cNvSpPr txBox="1"/>
          <p:nvPr/>
        </p:nvSpPr>
        <p:spPr>
          <a:xfrm>
            <a:off x="9326880" y="2468880"/>
            <a:ext cx="2377440" cy="868680"/>
          </a:xfrm>
          <a:prstGeom prst="rect">
            <a:avLst/>
          </a:prstGeom>
          <a:noFill/>
          <a:ln/>
        </p:spPr>
        <p:txBody>
          <a:bodyPr wrap="square" lIns="0" tIns="0" rIns="0" bIns="0" rtlCol="0" anchor="t"/>
          <a:lstStyle/>
          <a:p>
            <a:pPr algn="l" indent="0" marL="0">
              <a:lnSpc>
                <a:spcPct val="100000"/>
              </a:lnSpc>
              <a:buNone/>
            </a:pPr>
            <a:r>
              <a:rPr lang="en-US" sz="2200" b="1" dirty="0">
                <a:solidFill>
                  <a:schemeClr val="bg1"/>
                </a:solidFill>
              </a:rPr>
              <a:t>Receive</a:t>
            </a:r>
            <a:endParaRPr lang="en-US" sz="2200" dirty="0"/>
          </a:p>
          <a:p>
            <a:pPr algn="l" indent="0" marL="0">
              <a:lnSpc>
                <a:spcPct val="100000"/>
              </a:lnSpc>
              <a:buNone/>
            </a:pPr>
            <a:r>
              <a:rPr lang="en-US" sz="1500" dirty="0">
                <a:solidFill>
                  <a:srgbClr val="E2E5E4"/>
                </a:solidFill>
              </a:rPr>
              <a:t>Follow it live. The seller brings it to your unit.</a:t>
            </a:r>
            <a:endParaRPr lang="en-US" sz="2200" dirty="0"/>
          </a:p>
        </p:txBody>
      </p:sp>
      <p:pic>
        <p:nvPicPr>
          <p:cNvPr id="16" name="Phone 4" descr="Lokal Finder app screen for step 4, Receive (real app screen, demo data).">    </p:cNvPr>
          <p:cNvPicPr>
            <a:picLocks noChangeAspect="1"/>
          </p:cNvPicPr>
          <p:nvPr/>
        </p:nvPicPr>
        <p:blipFill>
          <a:blip r:embed="rId4"/>
          <a:stretch>
            <a:fillRect/>
          </a:stretch>
        </p:blipFill>
        <p:spPr>
          <a:xfrm>
            <a:off x="9103529" y="3162553"/>
            <a:ext cx="2366942" cy="3695447"/>
          </a:xfrm>
          <a:prstGeom prst="rect">
            <a:avLst/>
          </a:prstGeom>
        </p:spPr>
      </p:pic>
      <p:sp>
        <p:nvSpPr>
          <p:cNvPr id="17" name="Footnote"/>
          <p:cNvSpPr txBox="1"/>
          <p:nvPr/>
        </p:nvSpPr>
        <p:spPr>
          <a:xfrm>
            <a:off x="685800" y="1481328"/>
            <a:ext cx="10789920" cy="274320"/>
          </a:xfrm>
          <a:prstGeom prst="rect">
            <a:avLst/>
          </a:prstGeom>
          <a:noFill/>
          <a:ln/>
        </p:spPr>
        <p:txBody>
          <a:bodyPr wrap="square" lIns="0" tIns="0" rIns="0" bIns="0" rtlCol="0" anchor="t"/>
          <a:lstStyle/>
          <a:p>
            <a:pPr algn="l" indent="0" marL="0">
              <a:buNone/>
            </a:pPr>
            <a:r>
              <a:rPr lang="en-US" sz="1200" dirty="0">
                <a:solidFill>
                  <a:schemeClr val="accent5"/>
                </a:solidFill>
              </a:rPr>
              <a:t>Real app screens (v86 build) with demo data. Customers pay the seller directly; the app records the order, it does not process payments.</a:t>
            </a:r>
            <a:endParaRPr lang="en-US" sz="1200" dirty="0"/>
          </a:p>
        </p:txBody>
      </p:sp>
      <p:sp>
        <p:nvSpPr>
          <p:cNvPr id="25" name="Slide Number Placeholder 0"/>
          <p:cNvSpPr>
            <a:spLocks noGrp="1"/>
          </p:cNvSpPr>
          <p:nvPr>
            <p:ph type="sldNum" sz="quarter" idx="4294967295"/>
          </p:nvPr>
        </p:nvSpPr>
        <p:spPr>
          <a:xfrm>
            <a:off x="10957560" y="6373368"/>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accent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3"/>
                                        </p:tgtEl>
                                        <p:attrNameLst>
                                          <p:attrName>style.visibility</p:attrName>
                                        </p:attrNameLst>
                                      </p:cBhvr>
                                      <p:to>
                                        <p:strVal val="visible"/>
                                      </p:to>
                                    </p:set>
                                    <p:anim calcmode="lin" valueType="num">
                                      <p:cBhvr>
                                        <p:cTn id="10" dur="550" fill="hold"/>
                                        <p:tgtEl>
                                          <p:spTgt spid="3"/>
                                        </p:tgtEl>
                                        <p:attrNameLst>
                                          <p:attrName>ppt_y</p:attrName>
                                        </p:attrNameLst>
                                      </p:cBhvr>
                                      <p:tavLst>
                                        <p:tav tm="0">
                                          <p:val>
                                            <p:strVal val="#ppt_y+.05"/>
                                          </p:val>
                                        </p:tav>
                                        <p:tav tm="100000">
                                          <p:val>
                                            <p:strVal val="#ppt_y"/>
                                          </p:val>
                                        </p:tav>
                                      </p:tavLst>
                                    </p:anim>
                                    <p:animEffect transition="in" filter="fade">
                                      <p:cBhvr>
                                        <p:cTn id="11" dur="550"/>
                                        <p:tgtEl>
                                          <p:spTgt spid="3"/>
                                        </p:tgtEl>
                                      </p:cBhvr>
                                    </p:animEffect>
                                  </p:childTnLst>
                                </p:cTn>
                              </p:par>
                              <p:par>
                                <p:cTn id="12" presetID="22" presetClass="entr" presetSubtype="8" fill="hold" grpId="0" nodeType="withEffect">
                                  <p:stCondLst>
                                    <p:cond delay="50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1600"/>
                                        <p:tgtEl>
                                          <p:spTgt spid="4"/>
                                        </p:tgtEl>
                                      </p:cBhvr>
                                    </p:animEffect>
                                  </p:childTnLst>
                                </p:cTn>
                              </p:par>
                              <p:par>
                                <p:cTn id="15" presetID="42" presetClass="entr" presetSubtype="0" fill="hold" grpId="0" nodeType="withEffect">
                                  <p:stCondLst>
                                    <p:cond delay="550"/>
                                  </p:stCondLst>
                                  <p:childTnLst>
                                    <p:set>
                                      <p:cBhvr>
                                        <p:cTn id="16" dur="1" fill="hold">
                                          <p:stCondLst>
                                            <p:cond delay="0"/>
                                          </p:stCondLst>
                                        </p:cTn>
                                        <p:tgtEl>
                                          <p:spTgt spid="5"/>
                                        </p:tgtEl>
                                        <p:attrNameLst>
                                          <p:attrName>style.visibility</p:attrName>
                                        </p:attrNameLst>
                                      </p:cBhvr>
                                      <p:to>
                                        <p:strVal val="visible"/>
                                      </p:to>
                                    </p:set>
                                    <p:anim calcmode="lin" valueType="num">
                                      <p:cBhvr>
                                        <p:cTn id="17" dur="550" fill="hold"/>
                                        <p:tgtEl>
                                          <p:spTgt spid="5"/>
                                        </p:tgtEl>
                                        <p:attrNameLst>
                                          <p:attrName>ppt_y</p:attrName>
                                        </p:attrNameLst>
                                      </p:cBhvr>
                                      <p:tavLst>
                                        <p:tav tm="0">
                                          <p:val>
                                            <p:strVal val="#ppt_y+.05"/>
                                          </p:val>
                                        </p:tav>
                                        <p:tav tm="100000">
                                          <p:val>
                                            <p:strVal val="#ppt_y"/>
                                          </p:val>
                                        </p:tav>
                                      </p:tavLst>
                                    </p:anim>
                                    <p:animEffect transition="in" filter="fade">
                                      <p:cBhvr>
                                        <p:cTn id="18" dur="550"/>
                                        <p:tgtEl>
                                          <p:spTgt spid="5"/>
                                        </p:tgtEl>
                                      </p:cBhvr>
                                    </p:animEffect>
                                  </p:childTnLst>
                                </p:cTn>
                              </p:par>
                              <p:par>
                                <p:cTn id="19" presetID="42" presetClass="entr" presetSubtype="0" fill="hold" grpId="0" nodeType="withEffect">
                                  <p:stCondLst>
                                    <p:cond delay="550"/>
                                  </p:stCondLst>
                                  <p:childTnLst>
                                    <p:set>
                                      <p:cBhvr>
                                        <p:cTn id="20" dur="1" fill="hold">
                                          <p:stCondLst>
                                            <p:cond delay="0"/>
                                          </p:stCondLst>
                                        </p:cTn>
                                        <p:tgtEl>
                                          <p:spTgt spid="6"/>
                                        </p:tgtEl>
                                        <p:attrNameLst>
                                          <p:attrName>style.visibility</p:attrName>
                                        </p:attrNameLst>
                                      </p:cBhvr>
                                      <p:to>
                                        <p:strVal val="visible"/>
                                      </p:to>
                                    </p:set>
                                    <p:anim calcmode="lin" valueType="num">
                                      <p:cBhvr>
                                        <p:cTn id="21" dur="550" fill="hold"/>
                                        <p:tgtEl>
                                          <p:spTgt spid="6"/>
                                        </p:tgtEl>
                                        <p:attrNameLst>
                                          <p:attrName>ppt_y</p:attrName>
                                        </p:attrNameLst>
                                      </p:cBhvr>
                                      <p:tavLst>
                                        <p:tav tm="0">
                                          <p:val>
                                            <p:strVal val="#ppt_y+.05"/>
                                          </p:val>
                                        </p:tav>
                                        <p:tav tm="100000">
                                          <p:val>
                                            <p:strVal val="#ppt_y"/>
                                          </p:val>
                                        </p:tav>
                                      </p:tavLst>
                                    </p:anim>
                                    <p:animEffect transition="in" filter="fade">
                                      <p:cBhvr>
                                        <p:cTn id="22" dur="550"/>
                                        <p:tgtEl>
                                          <p:spTgt spid="6"/>
                                        </p:tgtEl>
                                      </p:cBhvr>
                                    </p:animEffect>
                                  </p:childTnLst>
                                </p:cTn>
                              </p:par>
                              <p:par>
                                <p:cTn id="23" presetID="42" presetClass="entr" presetSubtype="0" fill="hold" nodeType="withEffect">
                                  <p:stCondLst>
                                    <p:cond delay="650"/>
                                  </p:stCondLst>
                                  <p:childTnLst>
                                    <p:set>
                                      <p:cBhvr>
                                        <p:cTn id="24" dur="1" fill="hold">
                                          <p:stCondLst>
                                            <p:cond delay="0"/>
                                          </p:stCondLst>
                                        </p:cTn>
                                        <p:tgtEl>
                                          <p:spTgt spid="7"/>
                                        </p:tgtEl>
                                        <p:attrNameLst>
                                          <p:attrName>style.visibility</p:attrName>
                                        </p:attrNameLst>
                                      </p:cBhvr>
                                      <p:to>
                                        <p:strVal val="visible"/>
                                      </p:to>
                                    </p:set>
                                    <p:anim calcmode="lin" valueType="num">
                                      <p:cBhvr>
                                        <p:cTn id="25" dur="700" fill="hold"/>
                                        <p:tgtEl>
                                          <p:spTgt spid="7"/>
                                        </p:tgtEl>
                                        <p:attrNameLst>
                                          <p:attrName>ppt_y</p:attrName>
                                        </p:attrNameLst>
                                      </p:cBhvr>
                                      <p:tavLst>
                                        <p:tav tm="0">
                                          <p:val>
                                            <p:strVal val="#ppt_y+.05"/>
                                          </p:val>
                                        </p:tav>
                                        <p:tav tm="100000">
                                          <p:val>
                                            <p:strVal val="#ppt_y"/>
                                          </p:val>
                                        </p:tav>
                                      </p:tavLst>
                                    </p:anim>
                                    <p:animEffect transition="in" filter="fade">
                                      <p:cBhvr>
                                        <p:cTn id="26" dur="700"/>
                                        <p:tgtEl>
                                          <p:spTgt spid="7"/>
                                        </p:tgtEl>
                                      </p:cBhvr>
                                    </p:animEffect>
                                  </p:childTnLst>
                                </p:cTn>
                              </p:par>
                              <p:par>
                                <p:cTn id="27" presetID="42" presetClass="entr" presetSubtype="0" fill="hold" grpId="0" nodeType="withEffect">
                                  <p:stCondLst>
                                    <p:cond delay="1000"/>
                                  </p:stCondLst>
                                  <p:childTnLst>
                                    <p:set>
                                      <p:cBhvr>
                                        <p:cTn id="28" dur="1" fill="hold">
                                          <p:stCondLst>
                                            <p:cond delay="0"/>
                                          </p:stCondLst>
                                        </p:cTn>
                                        <p:tgtEl>
                                          <p:spTgt spid="8"/>
                                        </p:tgtEl>
                                        <p:attrNameLst>
                                          <p:attrName>style.visibility</p:attrName>
                                        </p:attrNameLst>
                                      </p:cBhvr>
                                      <p:to>
                                        <p:strVal val="visible"/>
                                      </p:to>
                                    </p:set>
                                    <p:anim calcmode="lin" valueType="num">
                                      <p:cBhvr>
                                        <p:cTn id="29" dur="550" fill="hold"/>
                                        <p:tgtEl>
                                          <p:spTgt spid="8"/>
                                        </p:tgtEl>
                                        <p:attrNameLst>
                                          <p:attrName>ppt_y</p:attrName>
                                        </p:attrNameLst>
                                      </p:cBhvr>
                                      <p:tavLst>
                                        <p:tav tm="0">
                                          <p:val>
                                            <p:strVal val="#ppt_y+.05"/>
                                          </p:val>
                                        </p:tav>
                                        <p:tav tm="100000">
                                          <p:val>
                                            <p:strVal val="#ppt_y"/>
                                          </p:val>
                                        </p:tav>
                                      </p:tavLst>
                                    </p:anim>
                                    <p:animEffect transition="in" filter="fade">
                                      <p:cBhvr>
                                        <p:cTn id="30" dur="550"/>
                                        <p:tgtEl>
                                          <p:spTgt spid="8"/>
                                        </p:tgtEl>
                                      </p:cBhvr>
                                    </p:animEffect>
                                  </p:childTnLst>
                                </p:cTn>
                              </p:par>
                              <p:par>
                                <p:cTn id="31" presetID="42" presetClass="entr" presetSubtype="0" fill="hold" grpId="0" nodeType="withEffect">
                                  <p:stCondLst>
                                    <p:cond delay="1000"/>
                                  </p:stCondLst>
                                  <p:childTnLst>
                                    <p:set>
                                      <p:cBhvr>
                                        <p:cTn id="32" dur="1" fill="hold">
                                          <p:stCondLst>
                                            <p:cond delay="0"/>
                                          </p:stCondLst>
                                        </p:cTn>
                                        <p:tgtEl>
                                          <p:spTgt spid="9"/>
                                        </p:tgtEl>
                                        <p:attrNameLst>
                                          <p:attrName>style.visibility</p:attrName>
                                        </p:attrNameLst>
                                      </p:cBhvr>
                                      <p:to>
                                        <p:strVal val="visible"/>
                                      </p:to>
                                    </p:set>
                                    <p:anim calcmode="lin" valueType="num">
                                      <p:cBhvr>
                                        <p:cTn id="33" dur="550" fill="hold"/>
                                        <p:tgtEl>
                                          <p:spTgt spid="9"/>
                                        </p:tgtEl>
                                        <p:attrNameLst>
                                          <p:attrName>ppt_y</p:attrName>
                                        </p:attrNameLst>
                                      </p:cBhvr>
                                      <p:tavLst>
                                        <p:tav tm="0">
                                          <p:val>
                                            <p:strVal val="#ppt_y+.05"/>
                                          </p:val>
                                        </p:tav>
                                        <p:tav tm="100000">
                                          <p:val>
                                            <p:strVal val="#ppt_y"/>
                                          </p:val>
                                        </p:tav>
                                      </p:tavLst>
                                    </p:anim>
                                    <p:animEffect transition="in" filter="fade">
                                      <p:cBhvr>
                                        <p:cTn id="34" dur="550"/>
                                        <p:tgtEl>
                                          <p:spTgt spid="9"/>
                                        </p:tgtEl>
                                      </p:cBhvr>
                                    </p:animEffect>
                                  </p:childTnLst>
                                </p:cTn>
                              </p:par>
                              <p:par>
                                <p:cTn id="35" presetID="10" presetClass="entr" presetSubtype="0" fill="hold" grpId="0" nodeType="withEffect">
                                  <p:stCondLst>
                                    <p:cond delay="100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42" presetClass="entr" presetSubtype="0" fill="hold" nodeType="withEffect">
                                  <p:stCondLst>
                                    <p:cond delay="1100"/>
                                  </p:stCondLst>
                                  <p:childTnLst>
                                    <p:set>
                                      <p:cBhvr>
                                        <p:cTn id="39" dur="1" fill="hold">
                                          <p:stCondLst>
                                            <p:cond delay="0"/>
                                          </p:stCondLst>
                                        </p:cTn>
                                        <p:tgtEl>
                                          <p:spTgt spid="10"/>
                                        </p:tgtEl>
                                        <p:attrNameLst>
                                          <p:attrName>style.visibility</p:attrName>
                                        </p:attrNameLst>
                                      </p:cBhvr>
                                      <p:to>
                                        <p:strVal val="visible"/>
                                      </p:to>
                                    </p:set>
                                    <p:anim calcmode="lin" valueType="num">
                                      <p:cBhvr>
                                        <p:cTn id="40" dur="700" fill="hold"/>
                                        <p:tgtEl>
                                          <p:spTgt spid="10"/>
                                        </p:tgtEl>
                                        <p:attrNameLst>
                                          <p:attrName>ppt_y</p:attrName>
                                        </p:attrNameLst>
                                      </p:cBhvr>
                                      <p:tavLst>
                                        <p:tav tm="0">
                                          <p:val>
                                            <p:strVal val="#ppt_y+.05"/>
                                          </p:val>
                                        </p:tav>
                                        <p:tav tm="100000">
                                          <p:val>
                                            <p:strVal val="#ppt_y"/>
                                          </p:val>
                                        </p:tav>
                                      </p:tavLst>
                                    </p:anim>
                                    <p:animEffect transition="in" filter="fade">
                                      <p:cBhvr>
                                        <p:cTn id="41" dur="700"/>
                                        <p:tgtEl>
                                          <p:spTgt spid="10"/>
                                        </p:tgtEl>
                                      </p:cBhvr>
                                    </p:animEffect>
                                  </p:childTnLst>
                                </p:cTn>
                              </p:par>
                              <p:par>
                                <p:cTn id="42" presetID="42" presetClass="entr" presetSubtype="0" fill="hold" grpId="0" nodeType="withEffect">
                                  <p:stCondLst>
                                    <p:cond delay="1450"/>
                                  </p:stCondLst>
                                  <p:childTnLst>
                                    <p:set>
                                      <p:cBhvr>
                                        <p:cTn id="43" dur="1" fill="hold">
                                          <p:stCondLst>
                                            <p:cond delay="0"/>
                                          </p:stCondLst>
                                        </p:cTn>
                                        <p:tgtEl>
                                          <p:spTgt spid="11"/>
                                        </p:tgtEl>
                                        <p:attrNameLst>
                                          <p:attrName>style.visibility</p:attrName>
                                        </p:attrNameLst>
                                      </p:cBhvr>
                                      <p:to>
                                        <p:strVal val="visible"/>
                                      </p:to>
                                    </p:set>
                                    <p:anim calcmode="lin" valueType="num">
                                      <p:cBhvr>
                                        <p:cTn id="44" dur="550" fill="hold"/>
                                        <p:tgtEl>
                                          <p:spTgt spid="11"/>
                                        </p:tgtEl>
                                        <p:attrNameLst>
                                          <p:attrName>ppt_y</p:attrName>
                                        </p:attrNameLst>
                                      </p:cBhvr>
                                      <p:tavLst>
                                        <p:tav tm="0">
                                          <p:val>
                                            <p:strVal val="#ppt_y+.05"/>
                                          </p:val>
                                        </p:tav>
                                        <p:tav tm="100000">
                                          <p:val>
                                            <p:strVal val="#ppt_y"/>
                                          </p:val>
                                        </p:tav>
                                      </p:tavLst>
                                    </p:anim>
                                    <p:animEffect transition="in" filter="fade">
                                      <p:cBhvr>
                                        <p:cTn id="45" dur="550"/>
                                        <p:tgtEl>
                                          <p:spTgt spid="11"/>
                                        </p:tgtEl>
                                      </p:cBhvr>
                                    </p:animEffect>
                                  </p:childTnLst>
                                </p:cTn>
                              </p:par>
                              <p:par>
                                <p:cTn id="46" presetID="42" presetClass="entr" presetSubtype="0" fill="hold" grpId="0" nodeType="withEffect">
                                  <p:stCondLst>
                                    <p:cond delay="1450"/>
                                  </p:stCondLst>
                                  <p:childTnLst>
                                    <p:set>
                                      <p:cBhvr>
                                        <p:cTn id="47" dur="1" fill="hold">
                                          <p:stCondLst>
                                            <p:cond delay="0"/>
                                          </p:stCondLst>
                                        </p:cTn>
                                        <p:tgtEl>
                                          <p:spTgt spid="12"/>
                                        </p:tgtEl>
                                        <p:attrNameLst>
                                          <p:attrName>style.visibility</p:attrName>
                                        </p:attrNameLst>
                                      </p:cBhvr>
                                      <p:to>
                                        <p:strVal val="visible"/>
                                      </p:to>
                                    </p:set>
                                    <p:anim calcmode="lin" valueType="num">
                                      <p:cBhvr>
                                        <p:cTn id="48" dur="550" fill="hold"/>
                                        <p:tgtEl>
                                          <p:spTgt spid="12"/>
                                        </p:tgtEl>
                                        <p:attrNameLst>
                                          <p:attrName>ppt_y</p:attrName>
                                        </p:attrNameLst>
                                      </p:cBhvr>
                                      <p:tavLst>
                                        <p:tav tm="0">
                                          <p:val>
                                            <p:strVal val="#ppt_y+.05"/>
                                          </p:val>
                                        </p:tav>
                                        <p:tav tm="100000">
                                          <p:val>
                                            <p:strVal val="#ppt_y"/>
                                          </p:val>
                                        </p:tav>
                                      </p:tavLst>
                                    </p:anim>
                                    <p:animEffect transition="in" filter="fade">
                                      <p:cBhvr>
                                        <p:cTn id="49" dur="550"/>
                                        <p:tgtEl>
                                          <p:spTgt spid="12"/>
                                        </p:tgtEl>
                                      </p:cBhvr>
                                    </p:animEffect>
                                  </p:childTnLst>
                                </p:cTn>
                              </p:par>
                              <p:par>
                                <p:cTn id="50" presetID="42" presetClass="entr" presetSubtype="0" fill="hold" nodeType="withEffect">
                                  <p:stCondLst>
                                    <p:cond delay="1550"/>
                                  </p:stCondLst>
                                  <p:childTnLst>
                                    <p:set>
                                      <p:cBhvr>
                                        <p:cTn id="51" dur="1" fill="hold">
                                          <p:stCondLst>
                                            <p:cond delay="0"/>
                                          </p:stCondLst>
                                        </p:cTn>
                                        <p:tgtEl>
                                          <p:spTgt spid="13"/>
                                        </p:tgtEl>
                                        <p:attrNameLst>
                                          <p:attrName>style.visibility</p:attrName>
                                        </p:attrNameLst>
                                      </p:cBhvr>
                                      <p:to>
                                        <p:strVal val="visible"/>
                                      </p:to>
                                    </p:set>
                                    <p:anim calcmode="lin" valueType="num">
                                      <p:cBhvr>
                                        <p:cTn id="52" dur="700" fill="hold"/>
                                        <p:tgtEl>
                                          <p:spTgt spid="13"/>
                                        </p:tgtEl>
                                        <p:attrNameLst>
                                          <p:attrName>ppt_y</p:attrName>
                                        </p:attrNameLst>
                                      </p:cBhvr>
                                      <p:tavLst>
                                        <p:tav tm="0">
                                          <p:val>
                                            <p:strVal val="#ppt_y+.05"/>
                                          </p:val>
                                        </p:tav>
                                        <p:tav tm="100000">
                                          <p:val>
                                            <p:strVal val="#ppt_y"/>
                                          </p:val>
                                        </p:tav>
                                      </p:tavLst>
                                    </p:anim>
                                    <p:animEffect transition="in" filter="fade">
                                      <p:cBhvr>
                                        <p:cTn id="53" dur="700"/>
                                        <p:tgtEl>
                                          <p:spTgt spid="13"/>
                                        </p:tgtEl>
                                      </p:cBhvr>
                                    </p:animEffect>
                                  </p:childTnLst>
                                </p:cTn>
                              </p:par>
                              <p:par>
                                <p:cTn id="54" presetID="42" presetClass="entr" presetSubtype="0" fill="hold" grpId="0" nodeType="withEffect">
                                  <p:stCondLst>
                                    <p:cond delay="1900"/>
                                  </p:stCondLst>
                                  <p:childTnLst>
                                    <p:set>
                                      <p:cBhvr>
                                        <p:cTn id="55" dur="1" fill="hold">
                                          <p:stCondLst>
                                            <p:cond delay="0"/>
                                          </p:stCondLst>
                                        </p:cTn>
                                        <p:tgtEl>
                                          <p:spTgt spid="14"/>
                                        </p:tgtEl>
                                        <p:attrNameLst>
                                          <p:attrName>style.visibility</p:attrName>
                                        </p:attrNameLst>
                                      </p:cBhvr>
                                      <p:to>
                                        <p:strVal val="visible"/>
                                      </p:to>
                                    </p:set>
                                    <p:anim calcmode="lin" valueType="num">
                                      <p:cBhvr>
                                        <p:cTn id="56" dur="550" fill="hold"/>
                                        <p:tgtEl>
                                          <p:spTgt spid="14"/>
                                        </p:tgtEl>
                                        <p:attrNameLst>
                                          <p:attrName>ppt_y</p:attrName>
                                        </p:attrNameLst>
                                      </p:cBhvr>
                                      <p:tavLst>
                                        <p:tav tm="0">
                                          <p:val>
                                            <p:strVal val="#ppt_y+.05"/>
                                          </p:val>
                                        </p:tav>
                                        <p:tav tm="100000">
                                          <p:val>
                                            <p:strVal val="#ppt_y"/>
                                          </p:val>
                                        </p:tav>
                                      </p:tavLst>
                                    </p:anim>
                                    <p:animEffect transition="in" filter="fade">
                                      <p:cBhvr>
                                        <p:cTn id="57" dur="550"/>
                                        <p:tgtEl>
                                          <p:spTgt spid="14"/>
                                        </p:tgtEl>
                                      </p:cBhvr>
                                    </p:animEffect>
                                  </p:childTnLst>
                                </p:cTn>
                              </p:par>
                              <p:par>
                                <p:cTn id="58" presetID="42" presetClass="entr" presetSubtype="0" fill="hold" grpId="0" nodeType="withEffect">
                                  <p:stCondLst>
                                    <p:cond delay="1900"/>
                                  </p:stCondLst>
                                  <p:childTnLst>
                                    <p:set>
                                      <p:cBhvr>
                                        <p:cTn id="59" dur="1" fill="hold">
                                          <p:stCondLst>
                                            <p:cond delay="0"/>
                                          </p:stCondLst>
                                        </p:cTn>
                                        <p:tgtEl>
                                          <p:spTgt spid="15"/>
                                        </p:tgtEl>
                                        <p:attrNameLst>
                                          <p:attrName>style.visibility</p:attrName>
                                        </p:attrNameLst>
                                      </p:cBhvr>
                                      <p:to>
                                        <p:strVal val="visible"/>
                                      </p:to>
                                    </p:set>
                                    <p:anim calcmode="lin" valueType="num">
                                      <p:cBhvr>
                                        <p:cTn id="60" dur="550" fill="hold"/>
                                        <p:tgtEl>
                                          <p:spTgt spid="15"/>
                                        </p:tgtEl>
                                        <p:attrNameLst>
                                          <p:attrName>ppt_y</p:attrName>
                                        </p:attrNameLst>
                                      </p:cBhvr>
                                      <p:tavLst>
                                        <p:tav tm="0">
                                          <p:val>
                                            <p:strVal val="#ppt_y+.05"/>
                                          </p:val>
                                        </p:tav>
                                        <p:tav tm="100000">
                                          <p:val>
                                            <p:strVal val="#ppt_y"/>
                                          </p:val>
                                        </p:tav>
                                      </p:tavLst>
                                    </p:anim>
                                    <p:animEffect transition="in" filter="fade">
                                      <p:cBhvr>
                                        <p:cTn id="61" dur="550"/>
                                        <p:tgtEl>
                                          <p:spTgt spid="15"/>
                                        </p:tgtEl>
                                      </p:cBhvr>
                                    </p:animEffect>
                                  </p:childTnLst>
                                </p:cTn>
                              </p:par>
                              <p:par>
                                <p:cTn id="62" presetID="42" presetClass="entr" presetSubtype="0" fill="hold" nodeType="withEffect">
                                  <p:stCondLst>
                                    <p:cond delay="2000"/>
                                  </p:stCondLst>
                                  <p:childTnLst>
                                    <p:set>
                                      <p:cBhvr>
                                        <p:cTn id="63" dur="1" fill="hold">
                                          <p:stCondLst>
                                            <p:cond delay="0"/>
                                          </p:stCondLst>
                                        </p:cTn>
                                        <p:tgtEl>
                                          <p:spTgt spid="16"/>
                                        </p:tgtEl>
                                        <p:attrNameLst>
                                          <p:attrName>style.visibility</p:attrName>
                                        </p:attrNameLst>
                                      </p:cBhvr>
                                      <p:to>
                                        <p:strVal val="visible"/>
                                      </p:to>
                                    </p:set>
                                    <p:anim calcmode="lin" valueType="num">
                                      <p:cBhvr>
                                        <p:cTn id="64" dur="700" fill="hold"/>
                                        <p:tgtEl>
                                          <p:spTgt spid="16"/>
                                        </p:tgtEl>
                                        <p:attrNameLst>
                                          <p:attrName>ppt_y</p:attrName>
                                        </p:attrNameLst>
                                      </p:cBhvr>
                                      <p:tavLst>
                                        <p:tav tm="0">
                                          <p:val>
                                            <p:strVal val="#ppt_y+.05"/>
                                          </p:val>
                                        </p:tav>
                                        <p:tav tm="100000">
                                          <p:val>
                                            <p:strVal val="#ppt_y"/>
                                          </p:val>
                                        </p:tav>
                                      </p:tavLst>
                                    </p:anim>
                                    <p:animEffect transition="in" filter="fade">
                                      <p:cBhvr>
                                        <p:cTn id="65" dur="7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animBg="1"/>
      <p:bldP spid="6" grpId="0"/>
      <p:bldP spid="8" grpId="0" animBg="1"/>
      <p:bldP spid="9" grpId="0"/>
      <p:bldP spid="17" grpId="0"/>
      <p:bldP spid="11" grpId="0" animBg="1"/>
      <p:bldP spid="12" grpId="0"/>
      <p:bldP spid="14" grpId="0" animBg="1"/>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685800" y="502920"/>
            <a:ext cx="7315200" cy="274320"/>
          </a:xfrm>
          <a:prstGeom prst="rect">
            <a:avLst/>
          </a:prstGeom>
          <a:noFill/>
          <a:ln/>
        </p:spPr>
        <p:txBody>
          <a:bodyPr wrap="square" lIns="0" tIns="0" rIns="0" bIns="0" rtlCol="0" anchor="t"/>
          <a:lstStyle/>
          <a:p>
            <a:pPr algn="l" indent="0" marL="0">
              <a:buNone/>
            </a:pPr>
            <a:r>
              <a:rPr lang="en-US" sz="1300" b="1" spc="300" kern="0" dirty="0">
                <a:solidFill>
                  <a:schemeClr val="accent1"/>
                </a:solidFill>
              </a:rPr>
              <a:t>THE PRODUCT EXPERIENCE</a:t>
            </a:r>
            <a:endParaRPr lang="en-US" sz="1300" dirty="0"/>
          </a:p>
        </p:txBody>
      </p:sp>
      <p:sp>
        <p:nvSpPr>
          <p:cNvPr id="3" name="Text 0"/>
          <p:cNvSpPr/>
          <p:nvPr>
            <p:ph idx="101" type="title" hasCustomPrompt="1"/>
          </p:nvPr>
        </p:nvSpPr>
        <p:spPr>
          <a:xfrm>
            <a:off x="685800" y="841248"/>
            <a:ext cx="10820400" cy="1325880"/>
          </a:xfrm>
          <a:prstGeom prst="rect">
            <a:avLst/>
          </a:prstGeom>
          <a:noFill/>
          <a:ln/>
        </p:spPr>
        <p:txBody>
          <a:bodyPr wrap="square" lIns="0" tIns="0" rIns="0" bIns="0" rtlCol="0" anchor="t"/>
          <a:lstStyle/>
          <a:p>
            <a:pPr algn="l" indent="0" marL="0">
              <a:lnSpc>
                <a:spcPct val="95000"/>
              </a:lnSpc>
              <a:buNone/>
            </a:pPr>
            <a:r>
              <a:rPr lang="en-US" sz="4000" b="1" dirty="0">
                <a:solidFill>
                  <a:schemeClr val="tx1"/>
                </a:solidFill>
                <a:latin typeface="+mj-lt" pitchFamily="34" charset="0"/>
                <a:ea typeface="+mj-lt" pitchFamily="34" charset="-122"/>
                <a:cs typeface="+mj-lt" pitchFamily="34" charset="-120"/>
              </a:rPr>
              <a:t>What exists today: one app, </a:t>
            </a:r>
            <a:pPr algn="l" indent="0" marL="0">
              <a:lnSpc>
                <a:spcPct val="95000"/>
              </a:lnSpc>
              <a:buNone/>
            </a:pPr>
            <a:r>
              <a:rPr lang="en-US" sz="4000" b="1" i="1" dirty="0">
                <a:solidFill>
                  <a:schemeClr val="accent1"/>
                </a:solidFill>
                <a:latin typeface="+mj-lt" pitchFamily="34" charset="0"/>
                <a:ea typeface="+mj-lt" pitchFamily="34" charset="-122"/>
                <a:cs typeface="+mj-lt" pitchFamily="34" charset="-120"/>
              </a:rPr>
              <a:t>three sides.</a:t>
            </a:r>
            <a:endParaRPr lang="en-US" sz="4000" dirty="0"/>
          </a:p>
        </p:txBody>
      </p:sp>
      <p:sp>
        <p:nvSpPr>
          <p:cNvPr id="4" name="Footnote"/>
          <p:cNvSpPr txBox="1"/>
          <p:nvPr/>
        </p:nvSpPr>
        <p:spPr>
          <a:xfrm>
            <a:off x="685800" y="1481328"/>
            <a:ext cx="10789920" cy="274320"/>
          </a:xfrm>
          <a:prstGeom prst="rect">
            <a:avLst/>
          </a:prstGeom>
          <a:noFill/>
          <a:ln/>
        </p:spPr>
        <p:txBody>
          <a:bodyPr wrap="square" lIns="0" tIns="0" rIns="0" bIns="0" rtlCol="0" anchor="t"/>
          <a:lstStyle/>
          <a:p>
            <a:pPr algn="l" indent="0" marL="0">
              <a:buNone/>
            </a:pPr>
            <a:r>
              <a:rPr lang="en-US" sz="1200" dirty="0">
                <a:solidFill>
                  <a:srgbClr val="4A6B5A"/>
                </a:solidFill>
              </a:rPr>
              <a:t>Real app screens (v86 build) with demo data. The admin screen shows sample condos, not real ones.</a:t>
            </a:r>
            <a:endParaRPr lang="en-US" sz="1200" dirty="0"/>
          </a:p>
        </p:txBody>
      </p:sp>
      <p:sp>
        <p:nvSpPr>
          <p:cNvPr id="5" name="Tag 1"/>
          <p:cNvSpPr txBox="1"/>
          <p:nvPr/>
        </p:nvSpPr>
        <p:spPr>
          <a:xfrm>
            <a:off x="868680" y="1920240"/>
            <a:ext cx="3474720" cy="274320"/>
          </a:xfrm>
          <a:prstGeom prst="rect">
            <a:avLst/>
          </a:prstGeom>
          <a:noFill/>
          <a:ln/>
        </p:spPr>
        <p:txBody>
          <a:bodyPr wrap="square" lIns="0" tIns="0" rIns="0" bIns="0" rtlCol="0" anchor="t"/>
          <a:lstStyle/>
          <a:p>
            <a:pPr algn="ctr" indent="0" marL="0">
              <a:buNone/>
            </a:pPr>
            <a:r>
              <a:rPr lang="en-US" sz="1200" b="1" spc="300" kern="0" dirty="0">
                <a:solidFill>
                  <a:schemeClr val="accent1"/>
                </a:solidFill>
              </a:rPr>
              <a:t>RESIDENTS</a:t>
            </a:r>
            <a:endParaRPr lang="en-US" sz="1200" dirty="0"/>
          </a:p>
        </p:txBody>
      </p:sp>
      <p:sp>
        <p:nvSpPr>
          <p:cNvPr id="6" name="Head 1"/>
          <p:cNvSpPr txBox="1"/>
          <p:nvPr/>
        </p:nvSpPr>
        <p:spPr>
          <a:xfrm>
            <a:off x="868680" y="2176272"/>
            <a:ext cx="3474720" cy="411480"/>
          </a:xfrm>
          <a:prstGeom prst="rect">
            <a:avLst/>
          </a:prstGeom>
          <a:noFill/>
          <a:ln/>
        </p:spPr>
        <p:txBody>
          <a:bodyPr wrap="square" lIns="0" tIns="0" rIns="0" bIns="0" rtlCol="0" anchor="t"/>
          <a:lstStyle/>
          <a:p>
            <a:pPr algn="ctr" indent="0" marL="0">
              <a:buNone/>
            </a:pPr>
            <a:r>
              <a:rPr lang="en-US" sz="2400" b="1" dirty="0">
                <a:solidFill>
                  <a:schemeClr val="tx1"/>
                </a:solidFill>
                <a:latin typeface="+mj-lt" pitchFamily="34" charset="0"/>
                <a:ea typeface="+mj-lt" pitchFamily="34" charset="-122"/>
                <a:cs typeface="+mj-lt" pitchFamily="34" charset="-120"/>
              </a:rPr>
              <a:t>Order and track</a:t>
            </a:r>
            <a:endParaRPr lang="en-US" sz="2400" dirty="0"/>
          </a:p>
        </p:txBody>
      </p:sp>
      <p:sp>
        <p:nvSpPr>
          <p:cNvPr id="7" name="Desc 1"/>
          <p:cNvSpPr txBox="1"/>
          <p:nvPr/>
        </p:nvSpPr>
        <p:spPr>
          <a:xfrm>
            <a:off x="1005840" y="2651760"/>
            <a:ext cx="3200400" cy="566928"/>
          </a:xfrm>
          <a:prstGeom prst="rect">
            <a:avLst/>
          </a:prstGeom>
          <a:noFill/>
          <a:ln/>
        </p:spPr>
        <p:txBody>
          <a:bodyPr wrap="square" lIns="0" tIns="0" rIns="0" bIns="0" rtlCol="0" anchor="t"/>
          <a:lstStyle/>
          <a:p>
            <a:pPr algn="ctr" indent="0" marL="0">
              <a:lnSpc>
                <a:spcPct val="100000"/>
              </a:lnSpc>
              <a:buNone/>
            </a:pPr>
            <a:r>
              <a:rPr lang="en-US" sz="1500" dirty="0">
                <a:solidFill>
                  <a:srgbClr val="4A6B5A"/>
                </a:solidFill>
              </a:rPr>
              <a:t>Browse stores, order in a few taps, follow it live and chat with the seller.</a:t>
            </a:r>
            <a:endParaRPr lang="en-US" sz="1500" dirty="0"/>
          </a:p>
        </p:txBody>
      </p:sp>
      <p:pic>
        <p:nvPicPr>
          <p:cNvPr id="8" name="Phone 1" descr="Order tracker showing Out for delivery with five order steps (real app screen, demo data).">    </p:cNvPr>
          <p:cNvPicPr>
            <a:picLocks noChangeAspect="1"/>
          </p:cNvPicPr>
          <p:nvPr/>
        </p:nvPicPr>
        <p:blipFill>
          <a:blip r:embed="rId1"/>
          <a:stretch>
            <a:fillRect/>
          </a:stretch>
        </p:blipFill>
        <p:spPr>
          <a:xfrm>
            <a:off x="971723" y="3008542"/>
            <a:ext cx="3268635" cy="3849458"/>
          </a:xfrm>
          <a:prstGeom prst="rect">
            <a:avLst/>
          </a:prstGeom>
        </p:spPr>
      </p:pic>
      <p:sp>
        <p:nvSpPr>
          <p:cNvPr id="9" name="Tag 2"/>
          <p:cNvSpPr txBox="1"/>
          <p:nvPr/>
        </p:nvSpPr>
        <p:spPr>
          <a:xfrm>
            <a:off x="4361688" y="1920240"/>
            <a:ext cx="3474720" cy="274320"/>
          </a:xfrm>
          <a:prstGeom prst="rect">
            <a:avLst/>
          </a:prstGeom>
          <a:noFill/>
          <a:ln/>
        </p:spPr>
        <p:txBody>
          <a:bodyPr wrap="square" lIns="0" tIns="0" rIns="0" bIns="0" rtlCol="0" anchor="t"/>
          <a:lstStyle/>
          <a:p>
            <a:pPr algn="ctr" indent="0" marL="0">
              <a:buNone/>
            </a:pPr>
            <a:r>
              <a:rPr lang="en-US" sz="1200" b="1" spc="300" kern="0" dirty="0">
                <a:solidFill>
                  <a:schemeClr val="accent1"/>
                </a:solidFill>
              </a:rPr>
              <a:t>SELLERS</a:t>
            </a:r>
            <a:endParaRPr lang="en-US" sz="1200" dirty="0"/>
          </a:p>
        </p:txBody>
      </p:sp>
      <p:sp>
        <p:nvSpPr>
          <p:cNvPr id="10" name="Head 2"/>
          <p:cNvSpPr txBox="1"/>
          <p:nvPr/>
        </p:nvSpPr>
        <p:spPr>
          <a:xfrm>
            <a:off x="4361688" y="2176272"/>
            <a:ext cx="3474720" cy="411480"/>
          </a:xfrm>
          <a:prstGeom prst="rect">
            <a:avLst/>
          </a:prstGeom>
          <a:noFill/>
          <a:ln/>
        </p:spPr>
        <p:txBody>
          <a:bodyPr wrap="square" lIns="0" tIns="0" rIns="0" bIns="0" rtlCol="0" anchor="t"/>
          <a:lstStyle/>
          <a:p>
            <a:pPr algn="ctr" indent="0" marL="0">
              <a:buNone/>
            </a:pPr>
            <a:r>
              <a:rPr lang="en-US" sz="2400" b="1" dirty="0">
                <a:solidFill>
                  <a:schemeClr val="tx1"/>
                </a:solidFill>
                <a:latin typeface="+mj-lt" pitchFamily="34" charset="0"/>
                <a:ea typeface="+mj-lt" pitchFamily="34" charset="-122"/>
                <a:cs typeface="+mj-lt" pitchFamily="34" charset="-120"/>
              </a:rPr>
              <a:t>Accept and fulfill</a:t>
            </a:r>
            <a:endParaRPr lang="en-US" sz="2400" dirty="0"/>
          </a:p>
        </p:txBody>
      </p:sp>
      <p:sp>
        <p:nvSpPr>
          <p:cNvPr id="11" name="Desc 2"/>
          <p:cNvSpPr txBox="1"/>
          <p:nvPr/>
        </p:nvSpPr>
        <p:spPr>
          <a:xfrm>
            <a:off x="4498848" y="2651760"/>
            <a:ext cx="3200400" cy="566928"/>
          </a:xfrm>
          <a:prstGeom prst="rect">
            <a:avLst/>
          </a:prstGeom>
          <a:noFill/>
          <a:ln/>
        </p:spPr>
        <p:txBody>
          <a:bodyPr wrap="square" lIns="0" tIns="0" rIns="0" bIns="0" rtlCol="0" anchor="t"/>
          <a:lstStyle/>
          <a:p>
            <a:pPr algn="ctr" indent="0" marL="0">
              <a:lnSpc>
                <a:spcPct val="100000"/>
              </a:lnSpc>
              <a:buNone/>
            </a:pPr>
            <a:r>
              <a:rPr lang="en-US" sz="1500" dirty="0">
                <a:solidFill>
                  <a:srgbClr val="4A6B5A"/>
                </a:solidFill>
              </a:rPr>
              <a:t>Orders arrive in one list. Accept, prepare, deliver; keep the menu up to date.</a:t>
            </a:r>
            <a:endParaRPr lang="en-US" sz="1500" dirty="0"/>
          </a:p>
        </p:txBody>
      </p:sp>
      <p:pic>
        <p:nvPicPr>
          <p:cNvPr id="12" name="Phone 2" descr="Seller order desk with an incoming order and Accept and Decline buttons (real app screen, demo data).">    </p:cNvPr>
          <p:cNvPicPr>
            <a:picLocks noChangeAspect="1"/>
          </p:cNvPicPr>
          <p:nvPr/>
        </p:nvPicPr>
        <p:blipFill>
          <a:blip r:embed="rId2"/>
          <a:stretch>
            <a:fillRect/>
          </a:stretch>
        </p:blipFill>
        <p:spPr>
          <a:xfrm>
            <a:off x="4464731" y="3008542"/>
            <a:ext cx="3268635" cy="3849458"/>
          </a:xfrm>
          <a:prstGeom prst="rect">
            <a:avLst/>
          </a:prstGeom>
        </p:spPr>
      </p:pic>
      <p:sp>
        <p:nvSpPr>
          <p:cNvPr id="13" name="Tag 3"/>
          <p:cNvSpPr txBox="1"/>
          <p:nvPr/>
        </p:nvSpPr>
        <p:spPr>
          <a:xfrm>
            <a:off x="7863840" y="1920240"/>
            <a:ext cx="3474720" cy="274320"/>
          </a:xfrm>
          <a:prstGeom prst="rect">
            <a:avLst/>
          </a:prstGeom>
          <a:noFill/>
          <a:ln/>
        </p:spPr>
        <p:txBody>
          <a:bodyPr wrap="square" lIns="0" tIns="0" rIns="0" bIns="0" rtlCol="0" anchor="t"/>
          <a:lstStyle/>
          <a:p>
            <a:pPr algn="ctr" indent="0" marL="0">
              <a:buNone/>
            </a:pPr>
            <a:r>
              <a:rPr lang="en-US" sz="1200" b="1" spc="300" kern="0" dirty="0">
                <a:solidFill>
                  <a:schemeClr val="accent1"/>
                </a:solidFill>
              </a:rPr>
              <a:t>THE LOKAL FINDER TEAM</a:t>
            </a:r>
            <a:endParaRPr lang="en-US" sz="1200" dirty="0"/>
          </a:p>
        </p:txBody>
      </p:sp>
      <p:sp>
        <p:nvSpPr>
          <p:cNvPr id="14" name="Head 3"/>
          <p:cNvSpPr txBox="1"/>
          <p:nvPr/>
        </p:nvSpPr>
        <p:spPr>
          <a:xfrm>
            <a:off x="7863840" y="2176272"/>
            <a:ext cx="3474720" cy="411480"/>
          </a:xfrm>
          <a:prstGeom prst="rect">
            <a:avLst/>
          </a:prstGeom>
          <a:noFill/>
          <a:ln/>
        </p:spPr>
        <p:txBody>
          <a:bodyPr wrap="square" lIns="0" tIns="0" rIns="0" bIns="0" rtlCol="0" anchor="t"/>
          <a:lstStyle/>
          <a:p>
            <a:pPr algn="ctr" indent="0" marL="0">
              <a:buNone/>
            </a:pPr>
            <a:r>
              <a:rPr lang="en-US" sz="2400" b="1" dirty="0">
                <a:solidFill>
                  <a:schemeClr val="tx1"/>
                </a:solidFill>
                <a:latin typeface="+mj-lt" pitchFamily="34" charset="0"/>
                <a:ea typeface="+mj-lt" pitchFamily="34" charset="-122"/>
                <a:cs typeface="+mj-lt" pitchFamily="34" charset="-120"/>
              </a:rPr>
              <a:t>Approve and plan</a:t>
            </a:r>
            <a:endParaRPr lang="en-US" sz="2400" dirty="0"/>
          </a:p>
        </p:txBody>
      </p:sp>
      <p:sp>
        <p:nvSpPr>
          <p:cNvPr id="15" name="Desc 3"/>
          <p:cNvSpPr txBox="1"/>
          <p:nvPr/>
        </p:nvSpPr>
        <p:spPr>
          <a:xfrm>
            <a:off x="8001000" y="2651760"/>
            <a:ext cx="3200400" cy="566928"/>
          </a:xfrm>
          <a:prstGeom prst="rect">
            <a:avLst/>
          </a:prstGeom>
          <a:noFill/>
          <a:ln/>
        </p:spPr>
        <p:txBody>
          <a:bodyPr wrap="square" lIns="0" tIns="0" rIns="0" bIns="0" rtlCol="0" anchor="t"/>
          <a:lstStyle/>
          <a:p>
            <a:pPr algn="ctr" indent="0" marL="0">
              <a:lnSpc>
                <a:spcPct val="100000"/>
              </a:lnSpc>
              <a:buNone/>
            </a:pPr>
            <a:r>
              <a:rPr lang="en-US" sz="1500" dirty="0">
                <a:solidFill>
                  <a:srgbClr val="4A6B5A"/>
                </a:solidFill>
              </a:rPr>
              <a:t>Approve new stores, watch each store, and plan which communities come next.</a:t>
            </a:r>
            <a:endParaRPr lang="en-US" sz="1500" dirty="0"/>
          </a:p>
        </p:txBody>
      </p:sp>
      <p:pic>
        <p:nvPicPr>
          <p:cNvPr id="16" name="Phone 3" descr="Admin condo pipeline with sample condos at different stages (real app screen, demo data).">    </p:cNvPr>
          <p:cNvPicPr>
            <a:picLocks noChangeAspect="1"/>
          </p:cNvPicPr>
          <p:nvPr/>
        </p:nvPicPr>
        <p:blipFill>
          <a:blip r:embed="rId3"/>
          <a:stretch>
            <a:fillRect/>
          </a:stretch>
        </p:blipFill>
        <p:spPr>
          <a:xfrm>
            <a:off x="7966883" y="3008542"/>
            <a:ext cx="3268635" cy="3849458"/>
          </a:xfrm>
          <a:prstGeom prst="rect">
            <a:avLst/>
          </a:prstGeom>
        </p:spPr>
      </p:pic>
      <p:sp>
        <p:nvSpPr>
          <p:cNvPr id="25" name="Slide Number Placeholder 0"/>
          <p:cNvSpPr>
            <a:spLocks noGrp="1"/>
          </p:cNvSpPr>
          <p:nvPr>
            <p:ph type="sldNum" sz="quarter" idx="4294967295"/>
          </p:nvPr>
        </p:nvSpPr>
        <p:spPr>
          <a:xfrm>
            <a:off x="10957560" y="6373368"/>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accent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3"/>
                                        </p:tgtEl>
                                        <p:attrNameLst>
                                          <p:attrName>style.visibility</p:attrName>
                                        </p:attrNameLst>
                                      </p:cBhvr>
                                      <p:to>
                                        <p:strVal val="visible"/>
                                      </p:to>
                                    </p:set>
                                    <p:anim calcmode="lin" valueType="num">
                                      <p:cBhvr>
                                        <p:cTn id="10" dur="550" fill="hold"/>
                                        <p:tgtEl>
                                          <p:spTgt spid="3"/>
                                        </p:tgtEl>
                                        <p:attrNameLst>
                                          <p:attrName>ppt_y</p:attrName>
                                        </p:attrNameLst>
                                      </p:cBhvr>
                                      <p:tavLst>
                                        <p:tav tm="0">
                                          <p:val>
                                            <p:strVal val="#ppt_y+.05"/>
                                          </p:val>
                                        </p:tav>
                                        <p:tav tm="100000">
                                          <p:val>
                                            <p:strVal val="#ppt_y"/>
                                          </p:val>
                                        </p:tav>
                                      </p:tavLst>
                                    </p:anim>
                                    <p:animEffect transition="in" filter="fade">
                                      <p:cBhvr>
                                        <p:cTn id="11" dur="550"/>
                                        <p:tgtEl>
                                          <p:spTgt spid="3"/>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15" presetID="42" presetClass="entr" presetSubtype="0" fill="hold" grpId="0" nodeType="withEffect">
                                  <p:stCondLst>
                                    <p:cond delay="700"/>
                                  </p:stCondLst>
                                  <p:childTnLst>
                                    <p:set>
                                      <p:cBhvr>
                                        <p:cTn id="16" dur="1" fill="hold">
                                          <p:stCondLst>
                                            <p:cond delay="0"/>
                                          </p:stCondLst>
                                        </p:cTn>
                                        <p:tgtEl>
                                          <p:spTgt spid="5"/>
                                        </p:tgtEl>
                                        <p:attrNameLst>
                                          <p:attrName>style.visibility</p:attrName>
                                        </p:attrNameLst>
                                      </p:cBhvr>
                                      <p:to>
                                        <p:strVal val="visible"/>
                                      </p:to>
                                    </p:set>
                                    <p:anim calcmode="lin" valueType="num">
                                      <p:cBhvr>
                                        <p:cTn id="17" dur="550" fill="hold"/>
                                        <p:tgtEl>
                                          <p:spTgt spid="5"/>
                                        </p:tgtEl>
                                        <p:attrNameLst>
                                          <p:attrName>ppt_y</p:attrName>
                                        </p:attrNameLst>
                                      </p:cBhvr>
                                      <p:tavLst>
                                        <p:tav tm="0">
                                          <p:val>
                                            <p:strVal val="#ppt_y+.05"/>
                                          </p:val>
                                        </p:tav>
                                        <p:tav tm="100000">
                                          <p:val>
                                            <p:strVal val="#ppt_y"/>
                                          </p:val>
                                        </p:tav>
                                      </p:tavLst>
                                    </p:anim>
                                    <p:animEffect transition="in" filter="fade">
                                      <p:cBhvr>
                                        <p:cTn id="18" dur="550"/>
                                        <p:tgtEl>
                                          <p:spTgt spid="5"/>
                                        </p:tgtEl>
                                      </p:cBhvr>
                                    </p:animEffect>
                                  </p:childTnLst>
                                </p:cTn>
                              </p:par>
                              <p:par>
                                <p:cTn id="19" presetID="42" presetClass="entr" presetSubtype="0" fill="hold" grpId="0" nodeType="withEffect">
                                  <p:stCondLst>
                                    <p:cond delay="700"/>
                                  </p:stCondLst>
                                  <p:childTnLst>
                                    <p:set>
                                      <p:cBhvr>
                                        <p:cTn id="20" dur="1" fill="hold">
                                          <p:stCondLst>
                                            <p:cond delay="0"/>
                                          </p:stCondLst>
                                        </p:cTn>
                                        <p:tgtEl>
                                          <p:spTgt spid="6"/>
                                        </p:tgtEl>
                                        <p:attrNameLst>
                                          <p:attrName>style.visibility</p:attrName>
                                        </p:attrNameLst>
                                      </p:cBhvr>
                                      <p:to>
                                        <p:strVal val="visible"/>
                                      </p:to>
                                    </p:set>
                                    <p:anim calcmode="lin" valueType="num">
                                      <p:cBhvr>
                                        <p:cTn id="21" dur="550" fill="hold"/>
                                        <p:tgtEl>
                                          <p:spTgt spid="6"/>
                                        </p:tgtEl>
                                        <p:attrNameLst>
                                          <p:attrName>ppt_y</p:attrName>
                                        </p:attrNameLst>
                                      </p:cBhvr>
                                      <p:tavLst>
                                        <p:tav tm="0">
                                          <p:val>
                                            <p:strVal val="#ppt_y+.05"/>
                                          </p:val>
                                        </p:tav>
                                        <p:tav tm="100000">
                                          <p:val>
                                            <p:strVal val="#ppt_y"/>
                                          </p:val>
                                        </p:tav>
                                      </p:tavLst>
                                    </p:anim>
                                    <p:animEffect transition="in" filter="fade">
                                      <p:cBhvr>
                                        <p:cTn id="22" dur="550"/>
                                        <p:tgtEl>
                                          <p:spTgt spid="6"/>
                                        </p:tgtEl>
                                      </p:cBhvr>
                                    </p:animEffect>
                                  </p:childTnLst>
                                </p:cTn>
                              </p:par>
                              <p:par>
                                <p:cTn id="23" presetID="42" presetClass="entr" presetSubtype="0" fill="hold" grpId="0" nodeType="withEffect">
                                  <p:stCondLst>
                                    <p:cond delay="700"/>
                                  </p:stCondLst>
                                  <p:childTnLst>
                                    <p:set>
                                      <p:cBhvr>
                                        <p:cTn id="24" dur="1" fill="hold">
                                          <p:stCondLst>
                                            <p:cond delay="0"/>
                                          </p:stCondLst>
                                        </p:cTn>
                                        <p:tgtEl>
                                          <p:spTgt spid="7"/>
                                        </p:tgtEl>
                                        <p:attrNameLst>
                                          <p:attrName>style.visibility</p:attrName>
                                        </p:attrNameLst>
                                      </p:cBhvr>
                                      <p:to>
                                        <p:strVal val="visible"/>
                                      </p:to>
                                    </p:set>
                                    <p:anim calcmode="lin" valueType="num">
                                      <p:cBhvr>
                                        <p:cTn id="25" dur="550" fill="hold"/>
                                        <p:tgtEl>
                                          <p:spTgt spid="7"/>
                                        </p:tgtEl>
                                        <p:attrNameLst>
                                          <p:attrName>ppt_y</p:attrName>
                                        </p:attrNameLst>
                                      </p:cBhvr>
                                      <p:tavLst>
                                        <p:tav tm="0">
                                          <p:val>
                                            <p:strVal val="#ppt_y+.05"/>
                                          </p:val>
                                        </p:tav>
                                        <p:tav tm="100000">
                                          <p:val>
                                            <p:strVal val="#ppt_y"/>
                                          </p:val>
                                        </p:tav>
                                      </p:tavLst>
                                    </p:anim>
                                    <p:animEffect transition="in" filter="fade">
                                      <p:cBhvr>
                                        <p:cTn id="26" dur="550"/>
                                        <p:tgtEl>
                                          <p:spTgt spid="7"/>
                                        </p:tgtEl>
                                      </p:cBhvr>
                                    </p:animEffect>
                                  </p:childTnLst>
                                </p:cTn>
                              </p:par>
                              <p:par>
                                <p:cTn id="27" presetID="42" presetClass="entr" presetSubtype="0" fill="hold" nodeType="withEffect">
                                  <p:stCondLst>
                                    <p:cond delay="850"/>
                                  </p:stCondLst>
                                  <p:childTnLst>
                                    <p:set>
                                      <p:cBhvr>
                                        <p:cTn id="28" dur="1" fill="hold">
                                          <p:stCondLst>
                                            <p:cond delay="0"/>
                                          </p:stCondLst>
                                        </p:cTn>
                                        <p:tgtEl>
                                          <p:spTgt spid="8"/>
                                        </p:tgtEl>
                                        <p:attrNameLst>
                                          <p:attrName>style.visibility</p:attrName>
                                        </p:attrNameLst>
                                      </p:cBhvr>
                                      <p:to>
                                        <p:strVal val="visible"/>
                                      </p:to>
                                    </p:set>
                                    <p:anim calcmode="lin" valueType="num">
                                      <p:cBhvr>
                                        <p:cTn id="29" dur="800" fill="hold"/>
                                        <p:tgtEl>
                                          <p:spTgt spid="8"/>
                                        </p:tgtEl>
                                        <p:attrNameLst>
                                          <p:attrName>ppt_y</p:attrName>
                                        </p:attrNameLst>
                                      </p:cBhvr>
                                      <p:tavLst>
                                        <p:tav tm="0">
                                          <p:val>
                                            <p:strVal val="#ppt_y+.05"/>
                                          </p:val>
                                        </p:tav>
                                        <p:tav tm="100000">
                                          <p:val>
                                            <p:strVal val="#ppt_y"/>
                                          </p:val>
                                        </p:tav>
                                      </p:tavLst>
                                    </p:anim>
                                    <p:animEffect transition="in" filter="fade">
                                      <p:cBhvr>
                                        <p:cTn id="30" dur="800"/>
                                        <p:tgtEl>
                                          <p:spTgt spid="8"/>
                                        </p:tgtEl>
                                      </p:cBhvr>
                                    </p:animEffect>
                                  </p:childTnLst>
                                </p:cTn>
                              </p:par>
                              <p:par>
                                <p:cTn id="31" presetID="42" presetClass="entr" presetSubtype="0" fill="hold" grpId="0" nodeType="withEffect">
                                  <p:stCondLst>
                                    <p:cond delay="1100"/>
                                  </p:stCondLst>
                                  <p:childTnLst>
                                    <p:set>
                                      <p:cBhvr>
                                        <p:cTn id="32" dur="1" fill="hold">
                                          <p:stCondLst>
                                            <p:cond delay="0"/>
                                          </p:stCondLst>
                                        </p:cTn>
                                        <p:tgtEl>
                                          <p:spTgt spid="9"/>
                                        </p:tgtEl>
                                        <p:attrNameLst>
                                          <p:attrName>style.visibility</p:attrName>
                                        </p:attrNameLst>
                                      </p:cBhvr>
                                      <p:to>
                                        <p:strVal val="visible"/>
                                      </p:to>
                                    </p:set>
                                    <p:anim calcmode="lin" valueType="num">
                                      <p:cBhvr>
                                        <p:cTn id="33" dur="550" fill="hold"/>
                                        <p:tgtEl>
                                          <p:spTgt spid="9"/>
                                        </p:tgtEl>
                                        <p:attrNameLst>
                                          <p:attrName>ppt_y</p:attrName>
                                        </p:attrNameLst>
                                      </p:cBhvr>
                                      <p:tavLst>
                                        <p:tav tm="0">
                                          <p:val>
                                            <p:strVal val="#ppt_y+.05"/>
                                          </p:val>
                                        </p:tav>
                                        <p:tav tm="100000">
                                          <p:val>
                                            <p:strVal val="#ppt_y"/>
                                          </p:val>
                                        </p:tav>
                                      </p:tavLst>
                                    </p:anim>
                                    <p:animEffect transition="in" filter="fade">
                                      <p:cBhvr>
                                        <p:cTn id="34" dur="550"/>
                                        <p:tgtEl>
                                          <p:spTgt spid="9"/>
                                        </p:tgtEl>
                                      </p:cBhvr>
                                    </p:animEffect>
                                  </p:childTnLst>
                                </p:cTn>
                              </p:par>
                              <p:par>
                                <p:cTn id="35" presetID="42" presetClass="entr" presetSubtype="0" fill="hold" grpId="0" nodeType="withEffect">
                                  <p:stCondLst>
                                    <p:cond delay="1100"/>
                                  </p:stCondLst>
                                  <p:childTnLst>
                                    <p:set>
                                      <p:cBhvr>
                                        <p:cTn id="36" dur="1" fill="hold">
                                          <p:stCondLst>
                                            <p:cond delay="0"/>
                                          </p:stCondLst>
                                        </p:cTn>
                                        <p:tgtEl>
                                          <p:spTgt spid="10"/>
                                        </p:tgtEl>
                                        <p:attrNameLst>
                                          <p:attrName>style.visibility</p:attrName>
                                        </p:attrNameLst>
                                      </p:cBhvr>
                                      <p:to>
                                        <p:strVal val="visible"/>
                                      </p:to>
                                    </p:set>
                                    <p:anim calcmode="lin" valueType="num">
                                      <p:cBhvr>
                                        <p:cTn id="37" dur="550" fill="hold"/>
                                        <p:tgtEl>
                                          <p:spTgt spid="10"/>
                                        </p:tgtEl>
                                        <p:attrNameLst>
                                          <p:attrName>ppt_y</p:attrName>
                                        </p:attrNameLst>
                                      </p:cBhvr>
                                      <p:tavLst>
                                        <p:tav tm="0">
                                          <p:val>
                                            <p:strVal val="#ppt_y+.05"/>
                                          </p:val>
                                        </p:tav>
                                        <p:tav tm="100000">
                                          <p:val>
                                            <p:strVal val="#ppt_y"/>
                                          </p:val>
                                        </p:tav>
                                      </p:tavLst>
                                    </p:anim>
                                    <p:animEffect transition="in" filter="fade">
                                      <p:cBhvr>
                                        <p:cTn id="38" dur="550"/>
                                        <p:tgtEl>
                                          <p:spTgt spid="10"/>
                                        </p:tgtEl>
                                      </p:cBhvr>
                                    </p:animEffect>
                                  </p:childTnLst>
                                </p:cTn>
                              </p:par>
                              <p:par>
                                <p:cTn id="39" presetID="42" presetClass="entr" presetSubtype="0" fill="hold" grpId="0" nodeType="withEffect">
                                  <p:stCondLst>
                                    <p:cond delay="1100"/>
                                  </p:stCondLst>
                                  <p:childTnLst>
                                    <p:set>
                                      <p:cBhvr>
                                        <p:cTn id="40" dur="1" fill="hold">
                                          <p:stCondLst>
                                            <p:cond delay="0"/>
                                          </p:stCondLst>
                                        </p:cTn>
                                        <p:tgtEl>
                                          <p:spTgt spid="11"/>
                                        </p:tgtEl>
                                        <p:attrNameLst>
                                          <p:attrName>style.visibility</p:attrName>
                                        </p:attrNameLst>
                                      </p:cBhvr>
                                      <p:to>
                                        <p:strVal val="visible"/>
                                      </p:to>
                                    </p:set>
                                    <p:anim calcmode="lin" valueType="num">
                                      <p:cBhvr>
                                        <p:cTn id="41" dur="550" fill="hold"/>
                                        <p:tgtEl>
                                          <p:spTgt spid="11"/>
                                        </p:tgtEl>
                                        <p:attrNameLst>
                                          <p:attrName>ppt_y</p:attrName>
                                        </p:attrNameLst>
                                      </p:cBhvr>
                                      <p:tavLst>
                                        <p:tav tm="0">
                                          <p:val>
                                            <p:strVal val="#ppt_y+.05"/>
                                          </p:val>
                                        </p:tav>
                                        <p:tav tm="100000">
                                          <p:val>
                                            <p:strVal val="#ppt_y"/>
                                          </p:val>
                                        </p:tav>
                                      </p:tavLst>
                                    </p:anim>
                                    <p:animEffect transition="in" filter="fade">
                                      <p:cBhvr>
                                        <p:cTn id="42" dur="550"/>
                                        <p:tgtEl>
                                          <p:spTgt spid="11"/>
                                        </p:tgtEl>
                                      </p:cBhvr>
                                    </p:animEffect>
                                  </p:childTnLst>
                                </p:cTn>
                              </p:par>
                              <p:par>
                                <p:cTn id="43" presetID="42" presetClass="entr" presetSubtype="0" fill="hold" nodeType="withEffect">
                                  <p:stCondLst>
                                    <p:cond delay="1250"/>
                                  </p:stCondLst>
                                  <p:childTnLst>
                                    <p:set>
                                      <p:cBhvr>
                                        <p:cTn id="44" dur="1" fill="hold">
                                          <p:stCondLst>
                                            <p:cond delay="0"/>
                                          </p:stCondLst>
                                        </p:cTn>
                                        <p:tgtEl>
                                          <p:spTgt spid="12"/>
                                        </p:tgtEl>
                                        <p:attrNameLst>
                                          <p:attrName>style.visibility</p:attrName>
                                        </p:attrNameLst>
                                      </p:cBhvr>
                                      <p:to>
                                        <p:strVal val="visible"/>
                                      </p:to>
                                    </p:set>
                                    <p:anim calcmode="lin" valueType="num">
                                      <p:cBhvr>
                                        <p:cTn id="45" dur="800" fill="hold"/>
                                        <p:tgtEl>
                                          <p:spTgt spid="12"/>
                                        </p:tgtEl>
                                        <p:attrNameLst>
                                          <p:attrName>ppt_y</p:attrName>
                                        </p:attrNameLst>
                                      </p:cBhvr>
                                      <p:tavLst>
                                        <p:tav tm="0">
                                          <p:val>
                                            <p:strVal val="#ppt_y+.05"/>
                                          </p:val>
                                        </p:tav>
                                        <p:tav tm="100000">
                                          <p:val>
                                            <p:strVal val="#ppt_y"/>
                                          </p:val>
                                        </p:tav>
                                      </p:tavLst>
                                    </p:anim>
                                    <p:animEffect transition="in" filter="fade">
                                      <p:cBhvr>
                                        <p:cTn id="46" dur="800"/>
                                        <p:tgtEl>
                                          <p:spTgt spid="12"/>
                                        </p:tgtEl>
                                      </p:cBhvr>
                                    </p:animEffect>
                                  </p:childTnLst>
                                </p:cTn>
                              </p:par>
                              <p:par>
                                <p:cTn id="47" presetID="42" presetClass="entr" presetSubtype="0" fill="hold" grpId="0" nodeType="withEffect">
                                  <p:stCondLst>
                                    <p:cond delay="1500"/>
                                  </p:stCondLst>
                                  <p:childTnLst>
                                    <p:set>
                                      <p:cBhvr>
                                        <p:cTn id="48" dur="1" fill="hold">
                                          <p:stCondLst>
                                            <p:cond delay="0"/>
                                          </p:stCondLst>
                                        </p:cTn>
                                        <p:tgtEl>
                                          <p:spTgt spid="13"/>
                                        </p:tgtEl>
                                        <p:attrNameLst>
                                          <p:attrName>style.visibility</p:attrName>
                                        </p:attrNameLst>
                                      </p:cBhvr>
                                      <p:to>
                                        <p:strVal val="visible"/>
                                      </p:to>
                                    </p:set>
                                    <p:anim calcmode="lin" valueType="num">
                                      <p:cBhvr>
                                        <p:cTn id="49" dur="550" fill="hold"/>
                                        <p:tgtEl>
                                          <p:spTgt spid="13"/>
                                        </p:tgtEl>
                                        <p:attrNameLst>
                                          <p:attrName>ppt_y</p:attrName>
                                        </p:attrNameLst>
                                      </p:cBhvr>
                                      <p:tavLst>
                                        <p:tav tm="0">
                                          <p:val>
                                            <p:strVal val="#ppt_y+.05"/>
                                          </p:val>
                                        </p:tav>
                                        <p:tav tm="100000">
                                          <p:val>
                                            <p:strVal val="#ppt_y"/>
                                          </p:val>
                                        </p:tav>
                                      </p:tavLst>
                                    </p:anim>
                                    <p:animEffect transition="in" filter="fade">
                                      <p:cBhvr>
                                        <p:cTn id="50" dur="550"/>
                                        <p:tgtEl>
                                          <p:spTgt spid="13"/>
                                        </p:tgtEl>
                                      </p:cBhvr>
                                    </p:animEffect>
                                  </p:childTnLst>
                                </p:cTn>
                              </p:par>
                              <p:par>
                                <p:cTn id="51" presetID="42" presetClass="entr" presetSubtype="0" fill="hold" grpId="0" nodeType="withEffect">
                                  <p:stCondLst>
                                    <p:cond delay="1500"/>
                                  </p:stCondLst>
                                  <p:childTnLst>
                                    <p:set>
                                      <p:cBhvr>
                                        <p:cTn id="52" dur="1" fill="hold">
                                          <p:stCondLst>
                                            <p:cond delay="0"/>
                                          </p:stCondLst>
                                        </p:cTn>
                                        <p:tgtEl>
                                          <p:spTgt spid="14"/>
                                        </p:tgtEl>
                                        <p:attrNameLst>
                                          <p:attrName>style.visibility</p:attrName>
                                        </p:attrNameLst>
                                      </p:cBhvr>
                                      <p:to>
                                        <p:strVal val="visible"/>
                                      </p:to>
                                    </p:set>
                                    <p:anim calcmode="lin" valueType="num">
                                      <p:cBhvr>
                                        <p:cTn id="53" dur="550" fill="hold"/>
                                        <p:tgtEl>
                                          <p:spTgt spid="14"/>
                                        </p:tgtEl>
                                        <p:attrNameLst>
                                          <p:attrName>ppt_y</p:attrName>
                                        </p:attrNameLst>
                                      </p:cBhvr>
                                      <p:tavLst>
                                        <p:tav tm="0">
                                          <p:val>
                                            <p:strVal val="#ppt_y+.05"/>
                                          </p:val>
                                        </p:tav>
                                        <p:tav tm="100000">
                                          <p:val>
                                            <p:strVal val="#ppt_y"/>
                                          </p:val>
                                        </p:tav>
                                      </p:tavLst>
                                    </p:anim>
                                    <p:animEffect transition="in" filter="fade">
                                      <p:cBhvr>
                                        <p:cTn id="54" dur="550"/>
                                        <p:tgtEl>
                                          <p:spTgt spid="14"/>
                                        </p:tgtEl>
                                      </p:cBhvr>
                                    </p:animEffect>
                                  </p:childTnLst>
                                </p:cTn>
                              </p:par>
                              <p:par>
                                <p:cTn id="55" presetID="42" presetClass="entr" presetSubtype="0" fill="hold" grpId="0" nodeType="withEffect">
                                  <p:stCondLst>
                                    <p:cond delay="1500"/>
                                  </p:stCondLst>
                                  <p:childTnLst>
                                    <p:set>
                                      <p:cBhvr>
                                        <p:cTn id="56" dur="1" fill="hold">
                                          <p:stCondLst>
                                            <p:cond delay="0"/>
                                          </p:stCondLst>
                                        </p:cTn>
                                        <p:tgtEl>
                                          <p:spTgt spid="15"/>
                                        </p:tgtEl>
                                        <p:attrNameLst>
                                          <p:attrName>style.visibility</p:attrName>
                                        </p:attrNameLst>
                                      </p:cBhvr>
                                      <p:to>
                                        <p:strVal val="visible"/>
                                      </p:to>
                                    </p:set>
                                    <p:anim calcmode="lin" valueType="num">
                                      <p:cBhvr>
                                        <p:cTn id="57" dur="550" fill="hold"/>
                                        <p:tgtEl>
                                          <p:spTgt spid="15"/>
                                        </p:tgtEl>
                                        <p:attrNameLst>
                                          <p:attrName>ppt_y</p:attrName>
                                        </p:attrNameLst>
                                      </p:cBhvr>
                                      <p:tavLst>
                                        <p:tav tm="0">
                                          <p:val>
                                            <p:strVal val="#ppt_y+.05"/>
                                          </p:val>
                                        </p:tav>
                                        <p:tav tm="100000">
                                          <p:val>
                                            <p:strVal val="#ppt_y"/>
                                          </p:val>
                                        </p:tav>
                                      </p:tavLst>
                                    </p:anim>
                                    <p:animEffect transition="in" filter="fade">
                                      <p:cBhvr>
                                        <p:cTn id="58" dur="550"/>
                                        <p:tgtEl>
                                          <p:spTgt spid="15"/>
                                        </p:tgtEl>
                                      </p:cBhvr>
                                    </p:animEffect>
                                  </p:childTnLst>
                                </p:cTn>
                              </p:par>
                              <p:par>
                                <p:cTn id="59" presetID="42" presetClass="entr" presetSubtype="0" fill="hold" nodeType="withEffect">
                                  <p:stCondLst>
                                    <p:cond delay="1650"/>
                                  </p:stCondLst>
                                  <p:childTnLst>
                                    <p:set>
                                      <p:cBhvr>
                                        <p:cTn id="60" dur="1" fill="hold">
                                          <p:stCondLst>
                                            <p:cond delay="0"/>
                                          </p:stCondLst>
                                        </p:cTn>
                                        <p:tgtEl>
                                          <p:spTgt spid="16"/>
                                        </p:tgtEl>
                                        <p:attrNameLst>
                                          <p:attrName>style.visibility</p:attrName>
                                        </p:attrNameLst>
                                      </p:cBhvr>
                                      <p:to>
                                        <p:strVal val="visible"/>
                                      </p:to>
                                    </p:set>
                                    <p:anim calcmode="lin" valueType="num">
                                      <p:cBhvr>
                                        <p:cTn id="61" dur="800" fill="hold"/>
                                        <p:tgtEl>
                                          <p:spTgt spid="16"/>
                                        </p:tgtEl>
                                        <p:attrNameLst>
                                          <p:attrName>ppt_y</p:attrName>
                                        </p:attrNameLst>
                                      </p:cBhvr>
                                      <p:tavLst>
                                        <p:tav tm="0">
                                          <p:val>
                                            <p:strVal val="#ppt_y+.05"/>
                                          </p:val>
                                        </p:tav>
                                        <p:tav tm="100000">
                                          <p:val>
                                            <p:strVal val="#ppt_y"/>
                                          </p:val>
                                        </p:tav>
                                      </p:tavLst>
                                    </p:anim>
                                    <p:animEffect transition="in" filter="fade">
                                      <p:cBhvr>
                                        <p:cTn id="62" dur="8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9" grpId="0"/>
      <p:bldP spid="10" grpId="0"/>
      <p:bldP spid="11" grpId="0"/>
      <p:bldP spid="13" grpId="0"/>
      <p:bldP spid="14" grpId="0"/>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685800" y="502920"/>
            <a:ext cx="7315200" cy="274320"/>
          </a:xfrm>
          <a:prstGeom prst="rect">
            <a:avLst/>
          </a:prstGeom>
          <a:noFill/>
          <a:ln/>
        </p:spPr>
        <p:txBody>
          <a:bodyPr wrap="square" lIns="0" tIns="0" rIns="0" bIns="0" rtlCol="0" anchor="t"/>
          <a:lstStyle/>
          <a:p>
            <a:pPr algn="l" indent="0" marL="0">
              <a:buNone/>
            </a:pPr>
            <a:r>
              <a:rPr lang="en-US" sz="1300" b="1" spc="300" kern="0" dirty="0">
                <a:solidFill>
                  <a:srgbClr val="3FD39B"/>
                </a:solidFill>
              </a:rPr>
              <a:t>UNDER THE HOOD</a:t>
            </a:r>
            <a:endParaRPr lang="en-US" sz="1300" dirty="0"/>
          </a:p>
        </p:txBody>
      </p:sp>
      <p:sp>
        <p:nvSpPr>
          <p:cNvPr id="3" name="Text 0"/>
          <p:cNvSpPr/>
          <p:nvPr>
            <p:ph idx="101" type="title" hasCustomPrompt="1"/>
          </p:nvPr>
        </p:nvSpPr>
        <p:spPr>
          <a:xfrm>
            <a:off x="685800" y="841248"/>
            <a:ext cx="10820400" cy="1325880"/>
          </a:xfrm>
          <a:prstGeom prst="rect">
            <a:avLst/>
          </a:prstGeom>
          <a:noFill/>
          <a:ln/>
        </p:spPr>
        <p:txBody>
          <a:bodyPr wrap="square" lIns="0" tIns="0" rIns="0" bIns="0" rtlCol="0" anchor="t"/>
          <a:lstStyle/>
          <a:p>
            <a:pPr algn="l" indent="0" marL="0">
              <a:lnSpc>
                <a:spcPct val="95000"/>
              </a:lnSpc>
              <a:buNone/>
            </a:pPr>
            <a:r>
              <a:rPr lang="en-US" sz="4000" b="1" dirty="0">
                <a:solidFill>
                  <a:schemeClr val="bg1"/>
                </a:solidFill>
                <a:latin typeface="+mj-lt" pitchFamily="34" charset="0"/>
                <a:ea typeface="+mj-lt" pitchFamily="34" charset="-122"/>
                <a:cs typeface="+mj-lt" pitchFamily="34" charset="-120"/>
              </a:rPr>
              <a:t>Lean to run. </a:t>
            </a:r>
            <a:pPr algn="l" indent="0" marL="0">
              <a:lnSpc>
                <a:spcPct val="95000"/>
              </a:lnSpc>
              <a:buNone/>
            </a:pPr>
            <a:r>
              <a:rPr lang="en-US" sz="4000" b="1" i="1" dirty="0">
                <a:solidFill>
                  <a:srgbClr val="3FD39B"/>
                </a:solidFill>
                <a:latin typeface="+mj-lt" pitchFamily="34" charset="0"/>
                <a:ea typeface="+mj-lt" pitchFamily="34" charset="-122"/>
                <a:cs typeface="+mj-lt" pitchFamily="34" charset="-120"/>
              </a:rPr>
              <a:t>Tested before every release.</a:t>
            </a:r>
            <a:endParaRPr lang="en-US" sz="4000" dirty="0"/>
          </a:p>
        </p:txBody>
      </p:sp>
      <p:sp>
        <p:nvSpPr>
          <p:cNvPr id="4" name="Stack line"/>
          <p:cNvSpPr/>
          <p:nvPr/>
        </p:nvSpPr>
        <p:spPr>
          <a:xfrm>
            <a:off x="996696" y="2615184"/>
            <a:ext cx="0" cy="2798064"/>
          </a:xfrm>
          <a:prstGeom prst="line">
            <a:avLst/>
          </a:prstGeom>
          <a:noFill/>
          <a:ln w="15875">
            <a:solidFill>
              <a:srgbClr val="3FD39B">
                <a:alpha val="45000"/>
              </a:srgbClr>
            </a:solidFill>
            <a:prstDash val="dash"/>
          </a:ln>
        </p:spPr>
      </p:sp>
      <p:sp>
        <p:nvSpPr>
          <p:cNvPr id="5" name="Layer 1 badge disc"/>
          <p:cNvSpPr/>
          <p:nvPr/>
        </p:nvSpPr>
        <p:spPr>
          <a:xfrm>
            <a:off x="713232" y="2331720"/>
            <a:ext cx="566928" cy="566928"/>
          </a:xfrm>
          <a:prstGeom prst="ellipse">
            <a:avLst/>
          </a:prstGeom>
          <a:solidFill>
            <a:schemeClr val="accent1"/>
          </a:solidFill>
          <a:ln w="15875">
            <a:solidFill>
              <a:srgbClr val="3FD39B"/>
            </a:solidFill>
            <a:prstDash val="solid"/>
          </a:ln>
        </p:spPr>
      </p:sp>
      <p:pic>
        <p:nvPicPr>
          <p:cNvPr id="6" name="Layer 1 badge icon" descr="phone icon">    </p:cNvPr>
          <p:cNvPicPr>
            <a:picLocks noChangeAspect="1"/>
          </p:cNvPicPr>
          <p:nvPr/>
        </p:nvPicPr>
        <p:blipFill>
          <a:blip r:embed="rId1"/>
          <a:stretch>
            <a:fillRect/>
          </a:stretch>
        </p:blipFill>
        <p:spPr>
          <a:xfrm>
            <a:off x="849295" y="2467783"/>
            <a:ext cx="294803" cy="294803"/>
          </a:xfrm>
          <a:prstGeom prst="rect">
            <a:avLst/>
          </a:prstGeom>
        </p:spPr>
      </p:pic>
      <p:sp>
        <p:nvSpPr>
          <p:cNvPr id="7" name="Layer 1"/>
          <p:cNvSpPr txBox="1"/>
          <p:nvPr/>
        </p:nvSpPr>
        <p:spPr>
          <a:xfrm>
            <a:off x="1536192" y="2313432"/>
            <a:ext cx="4297680" cy="777240"/>
          </a:xfrm>
          <a:prstGeom prst="rect">
            <a:avLst/>
          </a:prstGeom>
          <a:noFill/>
          <a:ln/>
        </p:spPr>
        <p:txBody>
          <a:bodyPr wrap="square" lIns="0" tIns="0" rIns="0" bIns="0" rtlCol="0" anchor="t"/>
          <a:lstStyle/>
          <a:p>
            <a:pPr algn="l" indent="0" marL="0">
              <a:lnSpc>
                <a:spcPct val="102000"/>
              </a:lnSpc>
              <a:buNone/>
            </a:pPr>
            <a:r>
              <a:rPr lang="en-US" sz="2000" b="1" dirty="0">
                <a:solidFill>
                  <a:schemeClr val="bg1"/>
                </a:solidFill>
              </a:rPr>
              <a:t>The app</a:t>
            </a:r>
            <a:endParaRPr lang="en-US" sz="2000" dirty="0"/>
          </a:p>
          <a:p>
            <a:pPr algn="l" indent="0" marL="0">
              <a:lnSpc>
                <a:spcPct val="102000"/>
              </a:lnSpc>
              <a:buNone/>
            </a:pPr>
            <a:r>
              <a:rPr lang="en-US" sz="1500" dirty="0">
                <a:solidFill>
                  <a:srgbClr val="DADFDD"/>
                </a:solidFill>
              </a:rPr>
              <a:t>One installable web app. No application server to run.</a:t>
            </a:r>
            <a:endParaRPr lang="en-US" sz="2000" dirty="0"/>
          </a:p>
        </p:txBody>
      </p:sp>
      <p:sp>
        <p:nvSpPr>
          <p:cNvPr id="8" name="Layer 2 badge disc"/>
          <p:cNvSpPr/>
          <p:nvPr/>
        </p:nvSpPr>
        <p:spPr>
          <a:xfrm>
            <a:off x="713232" y="3264408"/>
            <a:ext cx="566928" cy="566928"/>
          </a:xfrm>
          <a:prstGeom prst="ellipse">
            <a:avLst/>
          </a:prstGeom>
          <a:solidFill>
            <a:schemeClr val="accent1"/>
          </a:solidFill>
          <a:ln w="15875">
            <a:solidFill>
              <a:srgbClr val="3FD39B"/>
            </a:solidFill>
            <a:prstDash val="solid"/>
          </a:ln>
        </p:spPr>
      </p:sp>
      <p:pic>
        <p:nvPicPr>
          <p:cNvPr id="9" name="Layer 2 badge icon" descr="database icon">    </p:cNvPr>
          <p:cNvPicPr>
            <a:picLocks noChangeAspect="1"/>
          </p:cNvPicPr>
          <p:nvPr/>
        </p:nvPicPr>
        <p:blipFill>
          <a:blip r:embed="rId2"/>
          <a:stretch>
            <a:fillRect/>
          </a:stretch>
        </p:blipFill>
        <p:spPr>
          <a:xfrm>
            <a:off x="849295" y="3400471"/>
            <a:ext cx="294803" cy="294803"/>
          </a:xfrm>
          <a:prstGeom prst="rect">
            <a:avLst/>
          </a:prstGeom>
        </p:spPr>
      </p:pic>
      <p:sp>
        <p:nvSpPr>
          <p:cNvPr id="10" name="Layer 2"/>
          <p:cNvSpPr txBox="1"/>
          <p:nvPr/>
        </p:nvSpPr>
        <p:spPr>
          <a:xfrm>
            <a:off x="1536192" y="3246120"/>
            <a:ext cx="4297680" cy="777240"/>
          </a:xfrm>
          <a:prstGeom prst="rect">
            <a:avLst/>
          </a:prstGeom>
          <a:noFill/>
          <a:ln/>
        </p:spPr>
        <p:txBody>
          <a:bodyPr wrap="square" lIns="0" tIns="0" rIns="0" bIns="0" rtlCol="0" anchor="t"/>
          <a:lstStyle/>
          <a:p>
            <a:pPr algn="l" indent="0" marL="0">
              <a:lnSpc>
                <a:spcPct val="102000"/>
              </a:lnSpc>
              <a:buNone/>
            </a:pPr>
            <a:r>
              <a:rPr lang="en-US" sz="2000" b="1" dirty="0">
                <a:solidFill>
                  <a:schemeClr val="bg1"/>
                </a:solidFill>
              </a:rPr>
              <a:t>The data</a:t>
            </a:r>
            <a:endParaRPr lang="en-US" sz="2000" dirty="0"/>
          </a:p>
          <a:p>
            <a:pPr algn="l" indent="0" marL="0">
              <a:lnSpc>
                <a:spcPct val="102000"/>
              </a:lnSpc>
              <a:buNone/>
            </a:pPr>
            <a:r>
              <a:rPr lang="en-US" sz="1500" dirty="0">
                <a:solidFill>
                  <a:srgbClr val="DADFDD"/>
                </a:solidFill>
              </a:rPr>
              <a:t>Firebase Realtime Database, called directly by the app.</a:t>
            </a:r>
            <a:endParaRPr lang="en-US" sz="2000" dirty="0"/>
          </a:p>
        </p:txBody>
      </p:sp>
      <p:sp>
        <p:nvSpPr>
          <p:cNvPr id="11" name="Layer 3 badge disc"/>
          <p:cNvSpPr/>
          <p:nvPr/>
        </p:nvSpPr>
        <p:spPr>
          <a:xfrm>
            <a:off x="713232" y="4197096"/>
            <a:ext cx="566928" cy="566928"/>
          </a:xfrm>
          <a:prstGeom prst="ellipse">
            <a:avLst/>
          </a:prstGeom>
          <a:solidFill>
            <a:schemeClr val="accent1"/>
          </a:solidFill>
          <a:ln w="15875">
            <a:solidFill>
              <a:srgbClr val="3FD39B"/>
            </a:solidFill>
            <a:prstDash val="solid"/>
          </a:ln>
        </p:spPr>
      </p:sp>
      <p:pic>
        <p:nvPicPr>
          <p:cNvPr id="12" name="Layer 3 badge icon" descr="branch icon">    </p:cNvPr>
          <p:cNvPicPr>
            <a:picLocks noChangeAspect="1"/>
          </p:cNvPicPr>
          <p:nvPr/>
        </p:nvPicPr>
        <p:blipFill>
          <a:blip r:embed="rId3"/>
          <a:stretch>
            <a:fillRect/>
          </a:stretch>
        </p:blipFill>
        <p:spPr>
          <a:xfrm>
            <a:off x="849295" y="4333159"/>
            <a:ext cx="294803" cy="294803"/>
          </a:xfrm>
          <a:prstGeom prst="rect">
            <a:avLst/>
          </a:prstGeom>
        </p:spPr>
      </p:pic>
      <p:sp>
        <p:nvSpPr>
          <p:cNvPr id="13" name="Layer 3"/>
          <p:cNvSpPr txBox="1"/>
          <p:nvPr/>
        </p:nvSpPr>
        <p:spPr>
          <a:xfrm>
            <a:off x="1536192" y="4178808"/>
            <a:ext cx="4297680" cy="777240"/>
          </a:xfrm>
          <a:prstGeom prst="rect">
            <a:avLst/>
          </a:prstGeom>
          <a:noFill/>
          <a:ln/>
        </p:spPr>
        <p:txBody>
          <a:bodyPr wrap="square" lIns="0" tIns="0" rIns="0" bIns="0" rtlCol="0" anchor="t"/>
          <a:lstStyle/>
          <a:p>
            <a:pPr algn="l" indent="0" marL="0">
              <a:lnSpc>
                <a:spcPct val="102000"/>
              </a:lnSpc>
              <a:buNone/>
            </a:pPr>
            <a:r>
              <a:rPr lang="en-US" sz="2000" b="1" dirty="0">
                <a:solidFill>
                  <a:schemeClr val="bg1"/>
                </a:solidFill>
              </a:rPr>
              <a:t>The release line</a:t>
            </a:r>
            <a:endParaRPr lang="en-US" sz="2000" dirty="0"/>
          </a:p>
          <a:p>
            <a:pPr algn="l" indent="0" marL="0">
              <a:lnSpc>
                <a:spcPct val="102000"/>
              </a:lnSpc>
              <a:buNone/>
            </a:pPr>
            <a:r>
              <a:rPr lang="en-US" sz="1500" dirty="0">
                <a:solidFill>
                  <a:srgbClr val="DADFDD"/>
                </a:solidFill>
              </a:rPr>
              <a:t>GitHub tests every change, then publishes it automatically.</a:t>
            </a:r>
            <a:endParaRPr lang="en-US" sz="2000" dirty="0"/>
          </a:p>
        </p:txBody>
      </p:sp>
      <p:sp>
        <p:nvSpPr>
          <p:cNvPr id="14" name="Layer 4 badge disc"/>
          <p:cNvSpPr/>
          <p:nvPr/>
        </p:nvSpPr>
        <p:spPr>
          <a:xfrm>
            <a:off x="713232" y="5129784"/>
            <a:ext cx="566928" cy="566928"/>
          </a:xfrm>
          <a:prstGeom prst="ellipse">
            <a:avLst/>
          </a:prstGeom>
          <a:solidFill>
            <a:schemeClr val="accent1"/>
          </a:solidFill>
          <a:ln w="15875">
            <a:solidFill>
              <a:srgbClr val="3FD39B"/>
            </a:solidFill>
            <a:prstDash val="solid"/>
          </a:ln>
        </p:spPr>
      </p:sp>
      <p:pic>
        <p:nvPicPr>
          <p:cNvPr id="15" name="Layer 4 badge icon" descr="toggle icon">    </p:cNvPr>
          <p:cNvPicPr>
            <a:picLocks noChangeAspect="1"/>
          </p:cNvPicPr>
          <p:nvPr/>
        </p:nvPicPr>
        <p:blipFill>
          <a:blip r:embed="rId4"/>
          <a:stretch>
            <a:fillRect/>
          </a:stretch>
        </p:blipFill>
        <p:spPr>
          <a:xfrm>
            <a:off x="849295" y="5265847"/>
            <a:ext cx="294803" cy="294803"/>
          </a:xfrm>
          <a:prstGeom prst="rect">
            <a:avLst/>
          </a:prstGeom>
        </p:spPr>
      </p:pic>
      <p:sp>
        <p:nvSpPr>
          <p:cNvPr id="16" name="Layer 4"/>
          <p:cNvSpPr txBox="1"/>
          <p:nvPr/>
        </p:nvSpPr>
        <p:spPr>
          <a:xfrm>
            <a:off x="1536192" y="5111496"/>
            <a:ext cx="4297680" cy="777240"/>
          </a:xfrm>
          <a:prstGeom prst="rect">
            <a:avLst/>
          </a:prstGeom>
          <a:noFill/>
          <a:ln/>
        </p:spPr>
        <p:txBody>
          <a:bodyPr wrap="square" lIns="0" tIns="0" rIns="0" bIns="0" rtlCol="0" anchor="t"/>
          <a:lstStyle/>
          <a:p>
            <a:pPr algn="l" indent="0" marL="0">
              <a:lnSpc>
                <a:spcPct val="102000"/>
              </a:lnSpc>
              <a:buNone/>
            </a:pPr>
            <a:r>
              <a:rPr lang="en-US" sz="2000" b="1" dirty="0">
                <a:solidFill>
                  <a:schemeClr val="bg1"/>
                </a:solidFill>
              </a:rPr>
              <a:t>The switches</a:t>
            </a:r>
            <a:endParaRPr lang="en-US" sz="2000" dirty="0"/>
          </a:p>
          <a:p>
            <a:pPr algn="l" indent="0" marL="0">
              <a:lnSpc>
                <a:spcPct val="102000"/>
              </a:lnSpc>
              <a:buNone/>
            </a:pPr>
            <a:r>
              <a:rPr lang="en-US" sz="1500" dirty="0">
                <a:solidFill>
                  <a:srgbClr val="DADFDD"/>
                </a:solidFill>
              </a:rPr>
              <a:t>New features can ship dark and be turned on from one settings file.</a:t>
            </a:r>
            <a:endParaRPr lang="en-US" sz="2000" dirty="0"/>
          </a:p>
        </p:txBody>
      </p:sp>
      <p:sp>
        <p:nvSpPr>
          <p:cNvPr id="17" name="Chart card"/>
          <p:cNvSpPr/>
          <p:nvPr/>
        </p:nvSpPr>
        <p:spPr>
          <a:xfrm>
            <a:off x="6537960" y="2194560"/>
            <a:ext cx="4983480" cy="3977640"/>
          </a:xfrm>
          <a:prstGeom prst="roundRect">
            <a:avLst>
              <a:gd name="adj" fmla="val 2759"/>
            </a:avLst>
          </a:prstGeom>
          <a:solidFill>
            <a:schemeClr val="bg1">
              <a:alpha val="7000"/>
            </a:schemeClr>
          </a:solidFill>
          <a:ln w="9525">
            <a:solidFill>
              <a:schemeClr val="bg1">
                <a:alpha val="15000"/>
              </a:schemeClr>
            </a:solidFill>
            <a:prstDash val="solid"/>
          </a:ln>
        </p:spPr>
      </p:sp>
      <p:sp>
        <p:nvSpPr>
          <p:cNvPr id="18" name="Chart label"/>
          <p:cNvSpPr txBox="1"/>
          <p:nvPr/>
        </p:nvSpPr>
        <p:spPr>
          <a:xfrm>
            <a:off x="6812280" y="2395728"/>
            <a:ext cx="3657600" cy="274320"/>
          </a:xfrm>
          <a:prstGeom prst="rect">
            <a:avLst/>
          </a:prstGeom>
          <a:noFill/>
          <a:ln/>
        </p:spPr>
        <p:txBody>
          <a:bodyPr wrap="square" lIns="0" tIns="0" rIns="0" bIns="0" rtlCol="0" anchor="t"/>
          <a:lstStyle/>
          <a:p>
            <a:pPr algn="l" indent="0" marL="0">
              <a:buNone/>
            </a:pPr>
            <a:r>
              <a:rPr lang="en-US" sz="1200" b="1" spc="200" kern="0" dirty="0">
                <a:solidFill>
                  <a:srgbClr val="3FD39B"/>
                </a:solidFill>
              </a:rPr>
              <a:t>AUTOMATED CHECKS BY RELEASE</a:t>
            </a:r>
            <a:endParaRPr lang="en-US" sz="1200" dirty="0"/>
          </a:p>
        </p:txBody>
      </p:sp>
      <p:sp>
        <p:nvSpPr>
          <p:cNvPr id="19" name="Chart stat"/>
          <p:cNvSpPr txBox="1"/>
          <p:nvPr/>
        </p:nvSpPr>
        <p:spPr>
          <a:xfrm>
            <a:off x="6812280" y="2697480"/>
            <a:ext cx="4572000" cy="640080"/>
          </a:xfrm>
          <a:prstGeom prst="rect">
            <a:avLst/>
          </a:prstGeom>
          <a:noFill/>
          <a:ln/>
        </p:spPr>
        <p:txBody>
          <a:bodyPr wrap="square" lIns="0" tIns="0" rIns="0" bIns="0" rtlCol="0" anchor="ctr"/>
          <a:lstStyle/>
          <a:p>
            <a:pPr algn="l" indent="0" marL="0">
              <a:buNone/>
            </a:pPr>
            <a:r>
              <a:rPr lang="en-US" sz="4000" b="1" dirty="0">
                <a:solidFill>
                  <a:schemeClr val="bg1"/>
                </a:solidFill>
                <a:latin typeface="+mj-lt" pitchFamily="34" charset="0"/>
                <a:ea typeface="+mj-lt" pitchFamily="34" charset="-122"/>
                <a:cs typeface="+mj-lt" pitchFamily="34" charset="-120"/>
              </a:rPr>
              <a:t>1,651</a:t>
            </a:r>
            <a:pPr algn="l" indent="0" marL="0">
              <a:buNone/>
            </a:pPr>
            <a:r>
              <a:rPr lang="en-US" sz="1500" dirty="0">
                <a:solidFill>
                  <a:srgbClr val="E2E5E4"/>
                </a:solidFill>
              </a:rPr>
              <a:t>  checks across 22 suites</a:t>
            </a:r>
            <a:endParaRPr lang="en-US" sz="4000" dirty="0"/>
          </a:p>
        </p:txBody>
      </p:sp>
      <p:graphicFrame>
        <p:nvGraphicFramePr>
          <p:cNvPr id="20" name="Checks chart" descr="Column chart of automated checks by release: 550 at v77, 731 at v79, 905 at v80, 1,260 at v83, 1,293 at v84, 1,453 at v85 and 1,651 at v86."/>
          <p:cNvGraphicFramePr/>
          <p:nvPr/>
        </p:nvGraphicFramePr>
        <p:xfrm>
          <a:off x="6720840" y="3383280"/>
          <a:ext cx="4617720" cy="2423160"/>
        </p:xfrm>
        <a:graphic xmlns:a="http://schemas.openxmlformats.org/drawingml/2006/main">
          <a:graphicData uri="http://schemas.openxmlformats.org/drawingml/2006/chart">
            <c:chart xmlns:c="http://schemas.openxmlformats.org/drawingml/2006/chart" r:id="rId5"/>
          </a:graphicData>
        </a:graphic>
      </p:graphicFrame>
      <p:sp>
        <p:nvSpPr>
          <p:cNvPr id="21" name="Chart caption"/>
          <p:cNvSpPr txBox="1"/>
          <p:nvPr/>
        </p:nvSpPr>
        <p:spPr>
          <a:xfrm>
            <a:off x="6812280" y="5806440"/>
            <a:ext cx="4434840" cy="292608"/>
          </a:xfrm>
          <a:prstGeom prst="rect">
            <a:avLst/>
          </a:prstGeom>
          <a:noFill/>
          <a:ln/>
        </p:spPr>
        <p:txBody>
          <a:bodyPr wrap="square" lIns="0" tIns="0" rIns="0" bIns="0" rtlCol="0" anchor="t"/>
          <a:lstStyle/>
          <a:p>
            <a:pPr algn="l" indent="0" marL="0">
              <a:buNone/>
            </a:pPr>
            <a:r>
              <a:rPr lang="en-US" sz="1200" dirty="0">
                <a:solidFill>
                  <a:srgbClr val="C2CAC7"/>
                </a:solidFill>
              </a:rPr>
              <a:t>Selected releases. v77 is before the condo work (13 suites).</a:t>
            </a:r>
            <a:endParaRPr lang="en-US" sz="1200" dirty="0"/>
          </a:p>
        </p:txBody>
      </p:sp>
      <p:sp>
        <p:nvSpPr>
          <p:cNvPr id="22" name="Footnote"/>
          <p:cNvSpPr txBox="1"/>
          <p:nvPr/>
        </p:nvSpPr>
        <p:spPr>
          <a:xfrm>
            <a:off x="1115568" y="6382512"/>
            <a:ext cx="9692640" cy="274320"/>
          </a:xfrm>
          <a:prstGeom prst="rect">
            <a:avLst/>
          </a:prstGeom>
          <a:noFill/>
          <a:ln/>
        </p:spPr>
        <p:txBody>
          <a:bodyPr wrap="square" lIns="0" tIns="0" rIns="0" bIns="0" rtlCol="0" anchor="ctr"/>
          <a:lstStyle/>
          <a:p>
            <a:pPr algn="l" indent="0" marL="0">
              <a:buNone/>
            </a:pPr>
            <a:r>
              <a:rPr lang="en-US" sz="1200" dirty="0">
                <a:solidFill>
                  <a:schemeClr val="accent5"/>
                </a:solidFill>
              </a:rPr>
              <a:t>Source: the project’s own test records. On the latest release, 126 deliberate code breakages were tried: 122 caught, 4 equivalent.</a:t>
            </a:r>
            <a:endParaRPr lang="en-US" sz="1200" dirty="0"/>
          </a:p>
        </p:txBody>
      </p:sp>
      <p:sp>
        <p:nvSpPr>
          <p:cNvPr id="25" name="Slide Number Placeholder 0"/>
          <p:cNvSpPr>
            <a:spLocks noGrp="1"/>
          </p:cNvSpPr>
          <p:nvPr>
            <p:ph type="sldNum" sz="quarter" idx="4294967295"/>
          </p:nvPr>
        </p:nvSpPr>
        <p:spPr>
          <a:xfrm>
            <a:off x="10957560" y="6373368"/>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accent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3"/>
                                        </p:tgtEl>
                                        <p:attrNameLst>
                                          <p:attrName>style.visibility</p:attrName>
                                        </p:attrNameLst>
                                      </p:cBhvr>
                                      <p:to>
                                        <p:strVal val="visible"/>
                                      </p:to>
                                    </p:set>
                                    <p:anim calcmode="lin" valueType="num">
                                      <p:cBhvr>
                                        <p:cTn id="10" dur="550" fill="hold"/>
                                        <p:tgtEl>
                                          <p:spTgt spid="3"/>
                                        </p:tgtEl>
                                        <p:attrNameLst>
                                          <p:attrName>ppt_y</p:attrName>
                                        </p:attrNameLst>
                                      </p:cBhvr>
                                      <p:tavLst>
                                        <p:tav tm="0">
                                          <p:val>
                                            <p:strVal val="#ppt_y+.05"/>
                                          </p:val>
                                        </p:tav>
                                        <p:tav tm="100000">
                                          <p:val>
                                            <p:strVal val="#ppt_y"/>
                                          </p:val>
                                        </p:tav>
                                      </p:tavLst>
                                    </p:anim>
                                    <p:animEffect transition="in" filter="fade">
                                      <p:cBhvr>
                                        <p:cTn id="11" dur="550"/>
                                        <p:tgtEl>
                                          <p:spTgt spid="3"/>
                                        </p:tgtEl>
                                      </p:cBhvr>
                                    </p:animEffect>
                                  </p:childTnLst>
                                </p:cTn>
                              </p:par>
                              <p:par>
                                <p:cTn id="12" presetID="22" presetClass="entr" presetSubtype="1" fill="hold" grpId="0" nodeType="withEffect">
                                  <p:stCondLst>
                                    <p:cond delay="500"/>
                                  </p:stCondLst>
                                  <p:childTnLst>
                                    <p:set>
                                      <p:cBhvr>
                                        <p:cTn id="13" dur="1" fill="hold">
                                          <p:stCondLst>
                                            <p:cond delay="0"/>
                                          </p:stCondLst>
                                        </p:cTn>
                                        <p:tgtEl>
                                          <p:spTgt spid="4"/>
                                        </p:tgtEl>
                                        <p:attrNameLst>
                                          <p:attrName>style.visibility</p:attrName>
                                        </p:attrNameLst>
                                      </p:cBhvr>
                                      <p:to>
                                        <p:strVal val="visible"/>
                                      </p:to>
                                    </p:set>
                                    <p:animEffect transition="in" filter="wipe(up)">
                                      <p:cBhvr>
                                        <p:cTn id="14" dur="1200"/>
                                        <p:tgtEl>
                                          <p:spTgt spid="4"/>
                                        </p:tgtEl>
                                      </p:cBhvr>
                                    </p:animEffect>
                                  </p:childTnLst>
                                </p:cTn>
                              </p:par>
                              <p:par>
                                <p:cTn id="15" presetID="42" presetClass="entr" presetSubtype="0" fill="hold" grpId="0" nodeType="withEffect">
                                  <p:stCondLst>
                                    <p:cond delay="600"/>
                                  </p:stCondLst>
                                  <p:childTnLst>
                                    <p:set>
                                      <p:cBhvr>
                                        <p:cTn id="16" dur="1" fill="hold">
                                          <p:stCondLst>
                                            <p:cond delay="0"/>
                                          </p:stCondLst>
                                        </p:cTn>
                                        <p:tgtEl>
                                          <p:spTgt spid="5"/>
                                        </p:tgtEl>
                                        <p:attrNameLst>
                                          <p:attrName>style.visibility</p:attrName>
                                        </p:attrNameLst>
                                      </p:cBhvr>
                                      <p:to>
                                        <p:strVal val="visible"/>
                                      </p:to>
                                    </p:set>
                                    <p:anim calcmode="lin" valueType="num">
                                      <p:cBhvr>
                                        <p:cTn id="17" dur="550" fill="hold"/>
                                        <p:tgtEl>
                                          <p:spTgt spid="5"/>
                                        </p:tgtEl>
                                        <p:attrNameLst>
                                          <p:attrName>ppt_y</p:attrName>
                                        </p:attrNameLst>
                                      </p:cBhvr>
                                      <p:tavLst>
                                        <p:tav tm="0">
                                          <p:val>
                                            <p:strVal val="#ppt_y+.05"/>
                                          </p:val>
                                        </p:tav>
                                        <p:tav tm="100000">
                                          <p:val>
                                            <p:strVal val="#ppt_y"/>
                                          </p:val>
                                        </p:tav>
                                      </p:tavLst>
                                    </p:anim>
                                    <p:animEffect transition="in" filter="fade">
                                      <p:cBhvr>
                                        <p:cTn id="18" dur="550"/>
                                        <p:tgtEl>
                                          <p:spTgt spid="5"/>
                                        </p:tgtEl>
                                      </p:cBhvr>
                                    </p:animEffect>
                                  </p:childTnLst>
                                </p:cTn>
                              </p:par>
                              <p:par>
                                <p:cTn id="19" presetID="42" presetClass="entr" presetSubtype="0" fill="hold" nodeType="withEffect">
                                  <p:stCondLst>
                                    <p:cond delay="600"/>
                                  </p:stCondLst>
                                  <p:childTnLst>
                                    <p:set>
                                      <p:cBhvr>
                                        <p:cTn id="20" dur="1" fill="hold">
                                          <p:stCondLst>
                                            <p:cond delay="0"/>
                                          </p:stCondLst>
                                        </p:cTn>
                                        <p:tgtEl>
                                          <p:spTgt spid="6"/>
                                        </p:tgtEl>
                                        <p:attrNameLst>
                                          <p:attrName>style.visibility</p:attrName>
                                        </p:attrNameLst>
                                      </p:cBhvr>
                                      <p:to>
                                        <p:strVal val="visible"/>
                                      </p:to>
                                    </p:set>
                                    <p:anim calcmode="lin" valueType="num">
                                      <p:cBhvr>
                                        <p:cTn id="21" dur="550" fill="hold"/>
                                        <p:tgtEl>
                                          <p:spTgt spid="6"/>
                                        </p:tgtEl>
                                        <p:attrNameLst>
                                          <p:attrName>ppt_y</p:attrName>
                                        </p:attrNameLst>
                                      </p:cBhvr>
                                      <p:tavLst>
                                        <p:tav tm="0">
                                          <p:val>
                                            <p:strVal val="#ppt_y+.05"/>
                                          </p:val>
                                        </p:tav>
                                        <p:tav tm="100000">
                                          <p:val>
                                            <p:strVal val="#ppt_y"/>
                                          </p:val>
                                        </p:tav>
                                      </p:tavLst>
                                    </p:anim>
                                    <p:animEffect transition="in" filter="fade">
                                      <p:cBhvr>
                                        <p:cTn id="22" dur="550"/>
                                        <p:tgtEl>
                                          <p:spTgt spid="6"/>
                                        </p:tgtEl>
                                      </p:cBhvr>
                                    </p:animEffect>
                                  </p:childTnLst>
                                </p:cTn>
                              </p:par>
                              <p:par>
                                <p:cTn id="23" presetID="42" presetClass="entr" presetSubtype="0" fill="hold" grpId="0" nodeType="withEffect">
                                  <p:stCondLst>
                                    <p:cond delay="600"/>
                                  </p:stCondLst>
                                  <p:childTnLst>
                                    <p:set>
                                      <p:cBhvr>
                                        <p:cTn id="24" dur="1" fill="hold">
                                          <p:stCondLst>
                                            <p:cond delay="0"/>
                                          </p:stCondLst>
                                        </p:cTn>
                                        <p:tgtEl>
                                          <p:spTgt spid="7"/>
                                        </p:tgtEl>
                                        <p:attrNameLst>
                                          <p:attrName>style.visibility</p:attrName>
                                        </p:attrNameLst>
                                      </p:cBhvr>
                                      <p:to>
                                        <p:strVal val="visible"/>
                                      </p:to>
                                    </p:set>
                                    <p:anim calcmode="lin" valueType="num">
                                      <p:cBhvr>
                                        <p:cTn id="25" dur="550" fill="hold"/>
                                        <p:tgtEl>
                                          <p:spTgt spid="7"/>
                                        </p:tgtEl>
                                        <p:attrNameLst>
                                          <p:attrName>ppt_y</p:attrName>
                                        </p:attrNameLst>
                                      </p:cBhvr>
                                      <p:tavLst>
                                        <p:tav tm="0">
                                          <p:val>
                                            <p:strVal val="#ppt_y+.05"/>
                                          </p:val>
                                        </p:tav>
                                        <p:tav tm="100000">
                                          <p:val>
                                            <p:strVal val="#ppt_y"/>
                                          </p:val>
                                        </p:tav>
                                      </p:tavLst>
                                    </p:anim>
                                    <p:animEffect transition="in" filter="fade">
                                      <p:cBhvr>
                                        <p:cTn id="26" dur="550"/>
                                        <p:tgtEl>
                                          <p:spTgt spid="7"/>
                                        </p:tgtEl>
                                      </p:cBhvr>
                                    </p:animEffect>
                                  </p:childTnLst>
                                </p:cTn>
                              </p:par>
                              <p:par>
                                <p:cTn id="27" presetID="42" presetClass="entr" presetSubtype="0" fill="hold" grpId="0" nodeType="withEffect">
                                  <p:stCondLst>
                                    <p:cond delay="880"/>
                                  </p:stCondLst>
                                  <p:childTnLst>
                                    <p:set>
                                      <p:cBhvr>
                                        <p:cTn id="28" dur="1" fill="hold">
                                          <p:stCondLst>
                                            <p:cond delay="0"/>
                                          </p:stCondLst>
                                        </p:cTn>
                                        <p:tgtEl>
                                          <p:spTgt spid="8"/>
                                        </p:tgtEl>
                                        <p:attrNameLst>
                                          <p:attrName>style.visibility</p:attrName>
                                        </p:attrNameLst>
                                      </p:cBhvr>
                                      <p:to>
                                        <p:strVal val="visible"/>
                                      </p:to>
                                    </p:set>
                                    <p:anim calcmode="lin" valueType="num">
                                      <p:cBhvr>
                                        <p:cTn id="29" dur="550" fill="hold"/>
                                        <p:tgtEl>
                                          <p:spTgt spid="8"/>
                                        </p:tgtEl>
                                        <p:attrNameLst>
                                          <p:attrName>ppt_y</p:attrName>
                                        </p:attrNameLst>
                                      </p:cBhvr>
                                      <p:tavLst>
                                        <p:tav tm="0">
                                          <p:val>
                                            <p:strVal val="#ppt_y+.05"/>
                                          </p:val>
                                        </p:tav>
                                        <p:tav tm="100000">
                                          <p:val>
                                            <p:strVal val="#ppt_y"/>
                                          </p:val>
                                        </p:tav>
                                      </p:tavLst>
                                    </p:anim>
                                    <p:animEffect transition="in" filter="fade">
                                      <p:cBhvr>
                                        <p:cTn id="30" dur="550"/>
                                        <p:tgtEl>
                                          <p:spTgt spid="8"/>
                                        </p:tgtEl>
                                      </p:cBhvr>
                                    </p:animEffect>
                                  </p:childTnLst>
                                </p:cTn>
                              </p:par>
                              <p:par>
                                <p:cTn id="31" presetID="42" presetClass="entr" presetSubtype="0" fill="hold" nodeType="withEffect">
                                  <p:stCondLst>
                                    <p:cond delay="880"/>
                                  </p:stCondLst>
                                  <p:childTnLst>
                                    <p:set>
                                      <p:cBhvr>
                                        <p:cTn id="32" dur="1" fill="hold">
                                          <p:stCondLst>
                                            <p:cond delay="0"/>
                                          </p:stCondLst>
                                        </p:cTn>
                                        <p:tgtEl>
                                          <p:spTgt spid="9"/>
                                        </p:tgtEl>
                                        <p:attrNameLst>
                                          <p:attrName>style.visibility</p:attrName>
                                        </p:attrNameLst>
                                      </p:cBhvr>
                                      <p:to>
                                        <p:strVal val="visible"/>
                                      </p:to>
                                    </p:set>
                                    <p:anim calcmode="lin" valueType="num">
                                      <p:cBhvr>
                                        <p:cTn id="33" dur="550" fill="hold"/>
                                        <p:tgtEl>
                                          <p:spTgt spid="9"/>
                                        </p:tgtEl>
                                        <p:attrNameLst>
                                          <p:attrName>ppt_y</p:attrName>
                                        </p:attrNameLst>
                                      </p:cBhvr>
                                      <p:tavLst>
                                        <p:tav tm="0">
                                          <p:val>
                                            <p:strVal val="#ppt_y+.05"/>
                                          </p:val>
                                        </p:tav>
                                        <p:tav tm="100000">
                                          <p:val>
                                            <p:strVal val="#ppt_y"/>
                                          </p:val>
                                        </p:tav>
                                      </p:tavLst>
                                    </p:anim>
                                    <p:animEffect transition="in" filter="fade">
                                      <p:cBhvr>
                                        <p:cTn id="34" dur="550"/>
                                        <p:tgtEl>
                                          <p:spTgt spid="9"/>
                                        </p:tgtEl>
                                      </p:cBhvr>
                                    </p:animEffect>
                                  </p:childTnLst>
                                </p:cTn>
                              </p:par>
                              <p:par>
                                <p:cTn id="35" presetID="42" presetClass="entr" presetSubtype="0" fill="hold" grpId="0" nodeType="withEffect">
                                  <p:stCondLst>
                                    <p:cond delay="880"/>
                                  </p:stCondLst>
                                  <p:childTnLst>
                                    <p:set>
                                      <p:cBhvr>
                                        <p:cTn id="36" dur="1" fill="hold">
                                          <p:stCondLst>
                                            <p:cond delay="0"/>
                                          </p:stCondLst>
                                        </p:cTn>
                                        <p:tgtEl>
                                          <p:spTgt spid="10"/>
                                        </p:tgtEl>
                                        <p:attrNameLst>
                                          <p:attrName>style.visibility</p:attrName>
                                        </p:attrNameLst>
                                      </p:cBhvr>
                                      <p:to>
                                        <p:strVal val="visible"/>
                                      </p:to>
                                    </p:set>
                                    <p:anim calcmode="lin" valueType="num">
                                      <p:cBhvr>
                                        <p:cTn id="37" dur="550" fill="hold"/>
                                        <p:tgtEl>
                                          <p:spTgt spid="10"/>
                                        </p:tgtEl>
                                        <p:attrNameLst>
                                          <p:attrName>ppt_y</p:attrName>
                                        </p:attrNameLst>
                                      </p:cBhvr>
                                      <p:tavLst>
                                        <p:tav tm="0">
                                          <p:val>
                                            <p:strVal val="#ppt_y+.05"/>
                                          </p:val>
                                        </p:tav>
                                        <p:tav tm="100000">
                                          <p:val>
                                            <p:strVal val="#ppt_y"/>
                                          </p:val>
                                        </p:tav>
                                      </p:tavLst>
                                    </p:anim>
                                    <p:animEffect transition="in" filter="fade">
                                      <p:cBhvr>
                                        <p:cTn id="38" dur="550"/>
                                        <p:tgtEl>
                                          <p:spTgt spid="10"/>
                                        </p:tgtEl>
                                      </p:cBhvr>
                                    </p:animEffect>
                                  </p:childTnLst>
                                </p:cTn>
                              </p:par>
                              <p:par>
                                <p:cTn id="39" presetID="10" presetClass="entr" presetSubtype="0" fill="hold" grpId="0" nodeType="withEffect">
                                  <p:stCondLst>
                                    <p:cond delay="90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600"/>
                                        <p:tgtEl>
                                          <p:spTgt spid="17"/>
                                        </p:tgtEl>
                                      </p:cBhvr>
                                    </p:animEffect>
                                  </p:childTnLst>
                                </p:cTn>
                              </p:par>
                              <p:par>
                                <p:cTn id="42" presetID="10" presetClass="entr" presetSubtype="0" fill="hold" grpId="0" nodeType="withEffect">
                                  <p:stCondLst>
                                    <p:cond delay="110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42" presetClass="entr" presetSubtype="0" fill="hold" grpId="0" nodeType="withEffect">
                                  <p:stCondLst>
                                    <p:cond delay="1160"/>
                                  </p:stCondLst>
                                  <p:childTnLst>
                                    <p:set>
                                      <p:cBhvr>
                                        <p:cTn id="46" dur="1" fill="hold">
                                          <p:stCondLst>
                                            <p:cond delay="0"/>
                                          </p:stCondLst>
                                        </p:cTn>
                                        <p:tgtEl>
                                          <p:spTgt spid="11"/>
                                        </p:tgtEl>
                                        <p:attrNameLst>
                                          <p:attrName>style.visibility</p:attrName>
                                        </p:attrNameLst>
                                      </p:cBhvr>
                                      <p:to>
                                        <p:strVal val="visible"/>
                                      </p:to>
                                    </p:set>
                                    <p:anim calcmode="lin" valueType="num">
                                      <p:cBhvr>
                                        <p:cTn id="47" dur="550" fill="hold"/>
                                        <p:tgtEl>
                                          <p:spTgt spid="11"/>
                                        </p:tgtEl>
                                        <p:attrNameLst>
                                          <p:attrName>ppt_y</p:attrName>
                                        </p:attrNameLst>
                                      </p:cBhvr>
                                      <p:tavLst>
                                        <p:tav tm="0">
                                          <p:val>
                                            <p:strVal val="#ppt_y+.05"/>
                                          </p:val>
                                        </p:tav>
                                        <p:tav tm="100000">
                                          <p:val>
                                            <p:strVal val="#ppt_y"/>
                                          </p:val>
                                        </p:tav>
                                      </p:tavLst>
                                    </p:anim>
                                    <p:animEffect transition="in" filter="fade">
                                      <p:cBhvr>
                                        <p:cTn id="48" dur="550"/>
                                        <p:tgtEl>
                                          <p:spTgt spid="11"/>
                                        </p:tgtEl>
                                      </p:cBhvr>
                                    </p:animEffect>
                                  </p:childTnLst>
                                </p:cTn>
                              </p:par>
                              <p:par>
                                <p:cTn id="49" presetID="42" presetClass="entr" presetSubtype="0" fill="hold" nodeType="withEffect">
                                  <p:stCondLst>
                                    <p:cond delay="1160"/>
                                  </p:stCondLst>
                                  <p:childTnLst>
                                    <p:set>
                                      <p:cBhvr>
                                        <p:cTn id="50" dur="1" fill="hold">
                                          <p:stCondLst>
                                            <p:cond delay="0"/>
                                          </p:stCondLst>
                                        </p:cTn>
                                        <p:tgtEl>
                                          <p:spTgt spid="12"/>
                                        </p:tgtEl>
                                        <p:attrNameLst>
                                          <p:attrName>style.visibility</p:attrName>
                                        </p:attrNameLst>
                                      </p:cBhvr>
                                      <p:to>
                                        <p:strVal val="visible"/>
                                      </p:to>
                                    </p:set>
                                    <p:anim calcmode="lin" valueType="num">
                                      <p:cBhvr>
                                        <p:cTn id="51" dur="550" fill="hold"/>
                                        <p:tgtEl>
                                          <p:spTgt spid="12"/>
                                        </p:tgtEl>
                                        <p:attrNameLst>
                                          <p:attrName>ppt_y</p:attrName>
                                        </p:attrNameLst>
                                      </p:cBhvr>
                                      <p:tavLst>
                                        <p:tav tm="0">
                                          <p:val>
                                            <p:strVal val="#ppt_y+.05"/>
                                          </p:val>
                                        </p:tav>
                                        <p:tav tm="100000">
                                          <p:val>
                                            <p:strVal val="#ppt_y"/>
                                          </p:val>
                                        </p:tav>
                                      </p:tavLst>
                                    </p:anim>
                                    <p:animEffect transition="in" filter="fade">
                                      <p:cBhvr>
                                        <p:cTn id="52" dur="550"/>
                                        <p:tgtEl>
                                          <p:spTgt spid="12"/>
                                        </p:tgtEl>
                                      </p:cBhvr>
                                    </p:animEffect>
                                  </p:childTnLst>
                                </p:cTn>
                              </p:par>
                              <p:par>
                                <p:cTn id="53" presetID="42" presetClass="entr" presetSubtype="0" fill="hold" grpId="0" nodeType="withEffect">
                                  <p:stCondLst>
                                    <p:cond delay="1160"/>
                                  </p:stCondLst>
                                  <p:childTnLst>
                                    <p:set>
                                      <p:cBhvr>
                                        <p:cTn id="54" dur="1" fill="hold">
                                          <p:stCondLst>
                                            <p:cond delay="0"/>
                                          </p:stCondLst>
                                        </p:cTn>
                                        <p:tgtEl>
                                          <p:spTgt spid="13"/>
                                        </p:tgtEl>
                                        <p:attrNameLst>
                                          <p:attrName>style.visibility</p:attrName>
                                        </p:attrNameLst>
                                      </p:cBhvr>
                                      <p:to>
                                        <p:strVal val="visible"/>
                                      </p:to>
                                    </p:set>
                                    <p:anim calcmode="lin" valueType="num">
                                      <p:cBhvr>
                                        <p:cTn id="55" dur="550" fill="hold"/>
                                        <p:tgtEl>
                                          <p:spTgt spid="13"/>
                                        </p:tgtEl>
                                        <p:attrNameLst>
                                          <p:attrName>ppt_y</p:attrName>
                                        </p:attrNameLst>
                                      </p:cBhvr>
                                      <p:tavLst>
                                        <p:tav tm="0">
                                          <p:val>
                                            <p:strVal val="#ppt_y+.05"/>
                                          </p:val>
                                        </p:tav>
                                        <p:tav tm="100000">
                                          <p:val>
                                            <p:strVal val="#ppt_y"/>
                                          </p:val>
                                        </p:tav>
                                      </p:tavLst>
                                    </p:anim>
                                    <p:animEffect transition="in" filter="fade">
                                      <p:cBhvr>
                                        <p:cTn id="56" dur="550"/>
                                        <p:tgtEl>
                                          <p:spTgt spid="13"/>
                                        </p:tgtEl>
                                      </p:cBhvr>
                                    </p:animEffect>
                                  </p:childTnLst>
                                </p:cTn>
                              </p:par>
                              <p:par>
                                <p:cTn id="57" presetID="42" presetClass="entr" presetSubtype="0" fill="hold" grpId="0" nodeType="withEffect">
                                  <p:stCondLst>
                                    <p:cond delay="1200"/>
                                  </p:stCondLst>
                                  <p:childTnLst>
                                    <p:set>
                                      <p:cBhvr>
                                        <p:cTn id="58" dur="1" fill="hold">
                                          <p:stCondLst>
                                            <p:cond delay="0"/>
                                          </p:stCondLst>
                                        </p:cTn>
                                        <p:tgtEl>
                                          <p:spTgt spid="19"/>
                                        </p:tgtEl>
                                        <p:attrNameLst>
                                          <p:attrName>style.visibility</p:attrName>
                                        </p:attrNameLst>
                                      </p:cBhvr>
                                      <p:to>
                                        <p:strVal val="visible"/>
                                      </p:to>
                                    </p:set>
                                    <p:anim calcmode="lin" valueType="num">
                                      <p:cBhvr>
                                        <p:cTn id="59" dur="550" fill="hold"/>
                                        <p:tgtEl>
                                          <p:spTgt spid="19"/>
                                        </p:tgtEl>
                                        <p:attrNameLst>
                                          <p:attrName>ppt_y</p:attrName>
                                        </p:attrNameLst>
                                      </p:cBhvr>
                                      <p:tavLst>
                                        <p:tav tm="0">
                                          <p:val>
                                            <p:strVal val="#ppt_y+.05"/>
                                          </p:val>
                                        </p:tav>
                                        <p:tav tm="100000">
                                          <p:val>
                                            <p:strVal val="#ppt_y"/>
                                          </p:val>
                                        </p:tav>
                                      </p:tavLst>
                                    </p:anim>
                                    <p:animEffect transition="in" filter="fade">
                                      <p:cBhvr>
                                        <p:cTn id="60" dur="550"/>
                                        <p:tgtEl>
                                          <p:spTgt spid="19"/>
                                        </p:tgtEl>
                                      </p:cBhvr>
                                    </p:animEffect>
                                  </p:childTnLst>
                                </p:cTn>
                              </p:par>
                              <p:par>
                                <p:cTn id="61" presetID="42" presetClass="entr" presetSubtype="0" fill="hold" grpId="0" nodeType="withEffect">
                                  <p:stCondLst>
                                    <p:cond delay="1440"/>
                                  </p:stCondLst>
                                  <p:childTnLst>
                                    <p:set>
                                      <p:cBhvr>
                                        <p:cTn id="62" dur="1" fill="hold">
                                          <p:stCondLst>
                                            <p:cond delay="0"/>
                                          </p:stCondLst>
                                        </p:cTn>
                                        <p:tgtEl>
                                          <p:spTgt spid="14"/>
                                        </p:tgtEl>
                                        <p:attrNameLst>
                                          <p:attrName>style.visibility</p:attrName>
                                        </p:attrNameLst>
                                      </p:cBhvr>
                                      <p:to>
                                        <p:strVal val="visible"/>
                                      </p:to>
                                    </p:set>
                                    <p:anim calcmode="lin" valueType="num">
                                      <p:cBhvr>
                                        <p:cTn id="63" dur="550" fill="hold"/>
                                        <p:tgtEl>
                                          <p:spTgt spid="14"/>
                                        </p:tgtEl>
                                        <p:attrNameLst>
                                          <p:attrName>ppt_y</p:attrName>
                                        </p:attrNameLst>
                                      </p:cBhvr>
                                      <p:tavLst>
                                        <p:tav tm="0">
                                          <p:val>
                                            <p:strVal val="#ppt_y+.05"/>
                                          </p:val>
                                        </p:tav>
                                        <p:tav tm="100000">
                                          <p:val>
                                            <p:strVal val="#ppt_y"/>
                                          </p:val>
                                        </p:tav>
                                      </p:tavLst>
                                    </p:anim>
                                    <p:animEffect transition="in" filter="fade">
                                      <p:cBhvr>
                                        <p:cTn id="64" dur="550"/>
                                        <p:tgtEl>
                                          <p:spTgt spid="14"/>
                                        </p:tgtEl>
                                      </p:cBhvr>
                                    </p:animEffect>
                                  </p:childTnLst>
                                </p:cTn>
                              </p:par>
                              <p:par>
                                <p:cTn id="65" presetID="42" presetClass="entr" presetSubtype="0" fill="hold" nodeType="withEffect">
                                  <p:stCondLst>
                                    <p:cond delay="1440"/>
                                  </p:stCondLst>
                                  <p:childTnLst>
                                    <p:set>
                                      <p:cBhvr>
                                        <p:cTn id="66" dur="1" fill="hold">
                                          <p:stCondLst>
                                            <p:cond delay="0"/>
                                          </p:stCondLst>
                                        </p:cTn>
                                        <p:tgtEl>
                                          <p:spTgt spid="15"/>
                                        </p:tgtEl>
                                        <p:attrNameLst>
                                          <p:attrName>style.visibility</p:attrName>
                                        </p:attrNameLst>
                                      </p:cBhvr>
                                      <p:to>
                                        <p:strVal val="visible"/>
                                      </p:to>
                                    </p:set>
                                    <p:anim calcmode="lin" valueType="num">
                                      <p:cBhvr>
                                        <p:cTn id="67" dur="550" fill="hold"/>
                                        <p:tgtEl>
                                          <p:spTgt spid="15"/>
                                        </p:tgtEl>
                                        <p:attrNameLst>
                                          <p:attrName>ppt_y</p:attrName>
                                        </p:attrNameLst>
                                      </p:cBhvr>
                                      <p:tavLst>
                                        <p:tav tm="0">
                                          <p:val>
                                            <p:strVal val="#ppt_y+.05"/>
                                          </p:val>
                                        </p:tav>
                                        <p:tav tm="100000">
                                          <p:val>
                                            <p:strVal val="#ppt_y"/>
                                          </p:val>
                                        </p:tav>
                                      </p:tavLst>
                                    </p:anim>
                                    <p:animEffect transition="in" filter="fade">
                                      <p:cBhvr>
                                        <p:cTn id="68" dur="550"/>
                                        <p:tgtEl>
                                          <p:spTgt spid="15"/>
                                        </p:tgtEl>
                                      </p:cBhvr>
                                    </p:animEffect>
                                  </p:childTnLst>
                                </p:cTn>
                              </p:par>
                              <p:par>
                                <p:cTn id="69" presetID="42" presetClass="entr" presetSubtype="0" fill="hold" grpId="0" nodeType="withEffect">
                                  <p:stCondLst>
                                    <p:cond delay="1440"/>
                                  </p:stCondLst>
                                  <p:childTnLst>
                                    <p:set>
                                      <p:cBhvr>
                                        <p:cTn id="70" dur="1" fill="hold">
                                          <p:stCondLst>
                                            <p:cond delay="0"/>
                                          </p:stCondLst>
                                        </p:cTn>
                                        <p:tgtEl>
                                          <p:spTgt spid="16"/>
                                        </p:tgtEl>
                                        <p:attrNameLst>
                                          <p:attrName>style.visibility</p:attrName>
                                        </p:attrNameLst>
                                      </p:cBhvr>
                                      <p:to>
                                        <p:strVal val="visible"/>
                                      </p:to>
                                    </p:set>
                                    <p:anim calcmode="lin" valueType="num">
                                      <p:cBhvr>
                                        <p:cTn id="71" dur="550" fill="hold"/>
                                        <p:tgtEl>
                                          <p:spTgt spid="16"/>
                                        </p:tgtEl>
                                        <p:attrNameLst>
                                          <p:attrName>ppt_y</p:attrName>
                                        </p:attrNameLst>
                                      </p:cBhvr>
                                      <p:tavLst>
                                        <p:tav tm="0">
                                          <p:val>
                                            <p:strVal val="#ppt_y+.05"/>
                                          </p:val>
                                        </p:tav>
                                        <p:tav tm="100000">
                                          <p:val>
                                            <p:strVal val="#ppt_y"/>
                                          </p:val>
                                        </p:tav>
                                      </p:tavLst>
                                    </p:anim>
                                    <p:animEffect transition="in" filter="fade">
                                      <p:cBhvr>
                                        <p:cTn id="72" dur="550"/>
                                        <p:tgtEl>
                                          <p:spTgt spid="16"/>
                                        </p:tgtEl>
                                      </p:cBhvr>
                                    </p:animEffect>
                                  </p:childTnLst>
                                </p:cTn>
                              </p:par>
                              <p:par>
                                <p:cTn id="73" presetID="22" presetClass="entr" presetSubtype="8" fill="hold" grpId="0" nodeType="withEffect">
                                  <p:stCondLst>
                                    <p:cond delay="1500"/>
                                  </p:stCondLst>
                                  <p:childTnLst>
                                    <p:set>
                                      <p:cBhvr>
                                        <p:cTn id="74" dur="1" fill="hold">
                                          <p:stCondLst>
                                            <p:cond delay="0"/>
                                          </p:stCondLst>
                                        </p:cTn>
                                        <p:tgtEl>
                                          <p:spTgt spid="20"/>
                                        </p:tgtEl>
                                        <p:attrNameLst>
                                          <p:attrName>style.visibility</p:attrName>
                                        </p:attrNameLst>
                                      </p:cBhvr>
                                      <p:to>
                                        <p:strVal val="visible"/>
                                      </p:to>
                                    </p:set>
                                    <p:animEffect transition="in" filter="wipe(left)">
                                      <p:cBhvr>
                                        <p:cTn id="75" dur="1200"/>
                                        <p:tgtEl>
                                          <p:spTgt spid="20"/>
                                        </p:tgtEl>
                                      </p:cBhvr>
                                    </p:animEffect>
                                  </p:childTnLst>
                                </p:cTn>
                              </p:par>
                              <p:par>
                                <p:cTn id="76" presetID="10" presetClass="entr" presetSubtype="0" fill="hold" grpId="0" nodeType="withEffect">
                                  <p:stCondLst>
                                    <p:cond delay="240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00"/>
                                        <p:tgtEl>
                                          <p:spTgt spid="21"/>
                                        </p:tgtEl>
                                      </p:cBhvr>
                                    </p:animEffect>
                                  </p:childTnLst>
                                </p:cTn>
                              </p:par>
                              <p:par>
                                <p:cTn id="79" presetID="10" presetClass="entr" presetSubtype="0" fill="hold" grpId="0" nodeType="withEffect">
                                  <p:stCondLst>
                                    <p:cond delay="2600"/>
                                  </p:stCondLst>
                                  <p:childTnLst>
                                    <p:set>
                                      <p:cBhvr>
                                        <p:cTn id="80" dur="1" fill="hold">
                                          <p:stCondLst>
                                            <p:cond delay="0"/>
                                          </p:stCondLst>
                                        </p:cTn>
                                        <p:tgtEl>
                                          <p:spTgt spid="22"/>
                                        </p:tgtEl>
                                        <p:attrNameLst>
                                          <p:attrName>style.visibility</p:attrName>
                                        </p:attrNameLst>
                                      </p:cBhvr>
                                      <p:to>
                                        <p:strVal val="visible"/>
                                      </p:to>
                                    </p:set>
                                    <p:animEffect transition="in" filter="fade">
                                      <p:cBhvr>
                                        <p:cTn id="8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animBg="1"/>
      <p:bldP spid="7" grpId="0"/>
      <p:bldP spid="8" grpId="0" animBg="1"/>
      <p:bldP spid="10" grpId="0"/>
      <p:bldP spid="17" grpId="0" animBg="1"/>
      <p:bldP spid="18" grpId="0"/>
      <p:bldP spid="11" grpId="0" animBg="1"/>
      <p:bldP spid="13" grpId="0"/>
      <p:bldP spid="19" grpId="0"/>
      <p:bldP spid="14" grpId="0" animBg="1"/>
      <p:bldP spid="16" grpId="0"/>
      <p:bldGraphic spid="20" grpId="0">
        <p:bldAsOne/>
      </p:bldGraphic>
      <p:bldP spid="21" grpId="0"/>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685800" y="502920"/>
            <a:ext cx="7315200" cy="274320"/>
          </a:xfrm>
          <a:prstGeom prst="rect">
            <a:avLst/>
          </a:prstGeom>
          <a:noFill/>
          <a:ln/>
        </p:spPr>
        <p:txBody>
          <a:bodyPr wrap="square" lIns="0" tIns="0" rIns="0" bIns="0" rtlCol="0" anchor="t"/>
          <a:lstStyle/>
          <a:p>
            <a:pPr algn="l" indent="0" marL="0">
              <a:buNone/>
            </a:pPr>
            <a:r>
              <a:rPr lang="en-US" sz="1300" b="1" spc="300" kern="0" dirty="0">
                <a:solidFill>
                  <a:schemeClr val="accent1"/>
                </a:solidFill>
              </a:rPr>
              <a:t>THE INITIAL MARKET</a:t>
            </a:r>
            <a:endParaRPr lang="en-US" sz="1300" dirty="0"/>
          </a:p>
        </p:txBody>
      </p:sp>
      <p:sp>
        <p:nvSpPr>
          <p:cNvPr id="3" name="Text 0"/>
          <p:cNvSpPr/>
          <p:nvPr>
            <p:ph idx="101" type="title" hasCustomPrompt="1"/>
          </p:nvPr>
        </p:nvSpPr>
        <p:spPr>
          <a:xfrm>
            <a:off x="685800" y="841248"/>
            <a:ext cx="10820400" cy="1325880"/>
          </a:xfrm>
          <a:prstGeom prst="rect">
            <a:avLst/>
          </a:prstGeom>
          <a:noFill/>
          <a:ln/>
        </p:spPr>
        <p:txBody>
          <a:bodyPr wrap="square" lIns="0" tIns="0" rIns="0" bIns="0" rtlCol="0" anchor="t"/>
          <a:lstStyle/>
          <a:p>
            <a:pPr algn="l" indent="0" marL="0">
              <a:lnSpc>
                <a:spcPct val="95000"/>
              </a:lnSpc>
              <a:buNone/>
            </a:pPr>
            <a:r>
              <a:rPr lang="en-US" sz="4000" b="1" dirty="0">
                <a:solidFill>
                  <a:schemeClr val="tx1"/>
                </a:solidFill>
                <a:latin typeface="+mj-lt" pitchFamily="34" charset="0"/>
                <a:ea typeface="+mj-lt" pitchFamily="34" charset="-122"/>
                <a:cs typeface="+mj-lt" pitchFamily="34" charset="-120"/>
              </a:rPr>
              <a:t>Why start in a condominium? </a:t>
            </a:r>
            <a:pPr algn="l" indent="0" marL="0">
              <a:lnSpc>
                <a:spcPct val="95000"/>
              </a:lnSpc>
              <a:buNone/>
            </a:pPr>
            <a:r>
              <a:rPr lang="en-US" sz="4000" b="1" i="1" dirty="0">
                <a:solidFill>
                  <a:schemeClr val="accent1"/>
                </a:solidFill>
                <a:latin typeface="+mj-lt" pitchFamily="34" charset="0"/>
                <a:ea typeface="+mj-lt" pitchFamily="34" charset="-122"/>
                <a:cs typeface="+mj-lt" pitchFamily="34" charset="-120"/>
              </a:rPr>
              <a:t>Four hypotheses.</a:t>
            </a:r>
            <a:endParaRPr lang="en-US" sz="4000" dirty="0"/>
          </a:p>
        </p:txBody>
      </p:sp>
      <p:sp>
        <p:nvSpPr>
          <p:cNvPr id="4" name="Ring 1"/>
          <p:cNvSpPr/>
          <p:nvPr/>
        </p:nvSpPr>
        <p:spPr>
          <a:xfrm>
            <a:off x="2450592" y="3547872"/>
            <a:ext cx="1133856" cy="1133856"/>
          </a:xfrm>
          <a:prstGeom prst="ellipse">
            <a:avLst/>
          </a:prstGeom>
          <a:solidFill>
            <a:schemeClr val="accent2">
              <a:alpha val="14000"/>
            </a:schemeClr>
          </a:solidFill>
          <a:ln w="22225">
            <a:solidFill>
              <a:schemeClr val="accent1">
                <a:alpha val="90000"/>
              </a:schemeClr>
            </a:solidFill>
            <a:prstDash val="solid"/>
          </a:ln>
        </p:spPr>
      </p:sp>
      <p:sp>
        <p:nvSpPr>
          <p:cNvPr id="5" name="Ring 2"/>
          <p:cNvSpPr/>
          <p:nvPr/>
        </p:nvSpPr>
        <p:spPr>
          <a:xfrm>
            <a:off x="1901952" y="2999232"/>
            <a:ext cx="2231136" cy="2231136"/>
          </a:xfrm>
          <a:prstGeom prst="ellipse">
            <a:avLst/>
          </a:prstGeom>
          <a:noFill/>
          <a:ln w="22225">
            <a:solidFill>
              <a:schemeClr val="accent1">
                <a:alpha val="70000"/>
              </a:schemeClr>
            </a:solidFill>
            <a:prstDash val="solid"/>
          </a:ln>
        </p:spPr>
      </p:sp>
      <p:sp>
        <p:nvSpPr>
          <p:cNvPr id="6" name="Ring 3"/>
          <p:cNvSpPr/>
          <p:nvPr/>
        </p:nvSpPr>
        <p:spPr>
          <a:xfrm>
            <a:off x="1353312" y="2450592"/>
            <a:ext cx="3328416" cy="3328416"/>
          </a:xfrm>
          <a:prstGeom prst="ellipse">
            <a:avLst/>
          </a:prstGeom>
          <a:noFill/>
          <a:ln w="15875">
            <a:solidFill>
              <a:schemeClr val="accent1">
                <a:alpha val="55000"/>
              </a:schemeClr>
            </a:solidFill>
            <a:prstDash val="dash"/>
          </a:ln>
        </p:spPr>
      </p:sp>
      <p:sp>
        <p:nvSpPr>
          <p:cNvPr id="7" name="Ring 1 label"/>
          <p:cNvSpPr txBox="1"/>
          <p:nvPr/>
        </p:nvSpPr>
        <p:spPr>
          <a:xfrm>
            <a:off x="2194560" y="3273552"/>
            <a:ext cx="1645920" cy="237744"/>
          </a:xfrm>
          <a:prstGeom prst="rect">
            <a:avLst/>
          </a:prstGeom>
          <a:noFill/>
          <a:ln/>
        </p:spPr>
        <p:txBody>
          <a:bodyPr wrap="square" lIns="0" tIns="0" rIns="0" bIns="0" rtlCol="0" anchor="t"/>
          <a:lstStyle/>
          <a:p>
            <a:pPr algn="ctr" indent="0" marL="0">
              <a:buNone/>
            </a:pPr>
            <a:r>
              <a:rPr lang="en-US" sz="1200" b="1" dirty="0">
                <a:solidFill>
                  <a:schemeClr val="accent1"/>
                </a:solidFill>
              </a:rPr>
              <a:t>Your tower</a:t>
            </a:r>
            <a:endParaRPr lang="en-US" sz="1200" dirty="0"/>
          </a:p>
        </p:txBody>
      </p:sp>
      <p:sp>
        <p:nvSpPr>
          <p:cNvPr id="8" name="Ring 2 label"/>
          <p:cNvSpPr txBox="1"/>
          <p:nvPr/>
        </p:nvSpPr>
        <p:spPr>
          <a:xfrm>
            <a:off x="1920240" y="2724912"/>
            <a:ext cx="2194560" cy="237744"/>
          </a:xfrm>
          <a:prstGeom prst="rect">
            <a:avLst/>
          </a:prstGeom>
          <a:noFill/>
          <a:ln/>
        </p:spPr>
        <p:txBody>
          <a:bodyPr wrap="square" lIns="0" tIns="0" rIns="0" bIns="0" rtlCol="0" anchor="t"/>
          <a:lstStyle/>
          <a:p>
            <a:pPr algn="ctr" indent="0" marL="0">
              <a:buNone/>
            </a:pPr>
            <a:r>
              <a:rPr lang="en-US" sz="1200" b="1" dirty="0">
                <a:solidFill>
                  <a:schemeClr val="accent1"/>
                </a:solidFill>
              </a:rPr>
              <a:t>Your community</a:t>
            </a:r>
            <a:endParaRPr lang="en-US" sz="1200" dirty="0"/>
          </a:p>
        </p:txBody>
      </p:sp>
      <p:sp>
        <p:nvSpPr>
          <p:cNvPr id="9" name="Ring 3 label"/>
          <p:cNvSpPr txBox="1"/>
          <p:nvPr/>
        </p:nvSpPr>
        <p:spPr>
          <a:xfrm>
            <a:off x="1554480" y="2176272"/>
            <a:ext cx="2926080" cy="237744"/>
          </a:xfrm>
          <a:prstGeom prst="rect">
            <a:avLst/>
          </a:prstGeom>
          <a:noFill/>
          <a:ln/>
        </p:spPr>
        <p:txBody>
          <a:bodyPr wrap="square" lIns="0" tIns="0" rIns="0" bIns="0" rtlCol="0" anchor="t"/>
          <a:lstStyle/>
          <a:p>
            <a:pPr algn="ctr" indent="0" marL="0">
              <a:buNone/>
            </a:pPr>
            <a:r>
              <a:rPr lang="en-US" sz="1200" b="1" dirty="0">
                <a:solidFill>
                  <a:srgbClr val="4A6B5A"/>
                </a:solidFill>
              </a:rPr>
              <a:t>Nearby communities, later</a:t>
            </a:r>
            <a:endParaRPr lang="en-US" sz="1200" dirty="0"/>
          </a:p>
        </p:txBody>
      </p:sp>
      <p:sp>
        <p:nvSpPr>
          <p:cNvPr id="10" name="Neighbor 1"/>
          <p:cNvSpPr/>
          <p:nvPr/>
        </p:nvSpPr>
        <p:spPr>
          <a:xfrm>
            <a:off x="2402486" y="3838603"/>
            <a:ext cx="164592" cy="164592"/>
          </a:xfrm>
          <a:prstGeom prst="ellipse">
            <a:avLst/>
          </a:prstGeom>
          <a:solidFill>
            <a:schemeClr val="accent2"/>
          </a:solidFill>
          <a:ln w="12700">
            <a:solidFill>
              <a:schemeClr val="bg1"/>
            </a:solidFill>
            <a:prstDash val="solid"/>
          </a:ln>
        </p:spPr>
      </p:sp>
      <p:sp>
        <p:nvSpPr>
          <p:cNvPr id="11" name="Neighbor 2"/>
          <p:cNvSpPr/>
          <p:nvPr/>
        </p:nvSpPr>
        <p:spPr>
          <a:xfrm>
            <a:off x="3426198" y="3749040"/>
            <a:ext cx="164592" cy="164592"/>
          </a:xfrm>
          <a:prstGeom prst="ellipse">
            <a:avLst/>
          </a:prstGeom>
          <a:solidFill>
            <a:schemeClr val="accent3"/>
          </a:solidFill>
          <a:ln w="12700">
            <a:solidFill>
              <a:schemeClr val="bg1"/>
            </a:solidFill>
            <a:prstDash val="solid"/>
          </a:ln>
        </p:spPr>
      </p:sp>
      <p:sp>
        <p:nvSpPr>
          <p:cNvPr id="12" name="Neighbor 3"/>
          <p:cNvSpPr/>
          <p:nvPr/>
        </p:nvSpPr>
        <p:spPr>
          <a:xfrm>
            <a:off x="3033670" y="4590819"/>
            <a:ext cx="164592" cy="164592"/>
          </a:xfrm>
          <a:prstGeom prst="ellipse">
            <a:avLst/>
          </a:prstGeom>
          <a:solidFill>
            <a:schemeClr val="accent2"/>
          </a:solidFill>
          <a:ln w="12700">
            <a:solidFill>
              <a:schemeClr val="bg1"/>
            </a:solidFill>
            <a:prstDash val="solid"/>
          </a:ln>
        </p:spPr>
      </p:sp>
      <p:sp>
        <p:nvSpPr>
          <p:cNvPr id="13" name="Neighbor 4"/>
          <p:cNvSpPr/>
          <p:nvPr/>
        </p:nvSpPr>
        <p:spPr>
          <a:xfrm>
            <a:off x="1969114" y="4590288"/>
            <a:ext cx="164592" cy="164592"/>
          </a:xfrm>
          <a:prstGeom prst="ellipse">
            <a:avLst/>
          </a:prstGeom>
          <a:solidFill>
            <a:schemeClr val="accent2"/>
          </a:solidFill>
          <a:ln w="12700">
            <a:solidFill>
              <a:schemeClr val="bg1"/>
            </a:solidFill>
            <a:prstDash val="solid"/>
          </a:ln>
        </p:spPr>
      </p:sp>
      <p:sp>
        <p:nvSpPr>
          <p:cNvPr id="14" name="Neighbor 5"/>
          <p:cNvSpPr/>
          <p:nvPr/>
        </p:nvSpPr>
        <p:spPr>
          <a:xfrm>
            <a:off x="3983515" y="4414051"/>
            <a:ext cx="164592" cy="164592"/>
          </a:xfrm>
          <a:prstGeom prst="ellipse">
            <a:avLst/>
          </a:prstGeom>
          <a:solidFill>
            <a:schemeClr val="accent3"/>
          </a:solidFill>
          <a:ln w="12700">
            <a:solidFill>
              <a:schemeClr val="bg1"/>
            </a:solidFill>
            <a:prstDash val="solid"/>
          </a:ln>
        </p:spPr>
      </p:sp>
      <p:sp>
        <p:nvSpPr>
          <p:cNvPr id="15" name="Neighbor 6"/>
          <p:cNvSpPr/>
          <p:nvPr/>
        </p:nvSpPr>
        <p:spPr>
          <a:xfrm>
            <a:off x="2553677" y="2984213"/>
            <a:ext cx="164592" cy="164592"/>
          </a:xfrm>
          <a:prstGeom prst="ellipse">
            <a:avLst/>
          </a:prstGeom>
          <a:solidFill>
            <a:schemeClr val="accent2"/>
          </a:solidFill>
          <a:ln w="12700">
            <a:solidFill>
              <a:schemeClr val="bg1"/>
            </a:solidFill>
            <a:prstDash val="solid"/>
          </a:ln>
        </p:spPr>
      </p:sp>
      <p:sp>
        <p:nvSpPr>
          <p:cNvPr id="16" name="Neighbor 7"/>
          <p:cNvSpPr/>
          <p:nvPr/>
        </p:nvSpPr>
        <p:spPr>
          <a:xfrm>
            <a:off x="2741508" y="5131124"/>
            <a:ext cx="164592" cy="164592"/>
          </a:xfrm>
          <a:prstGeom prst="ellipse">
            <a:avLst/>
          </a:prstGeom>
          <a:solidFill>
            <a:schemeClr val="accent2"/>
          </a:solidFill>
          <a:ln w="12700">
            <a:solidFill>
              <a:schemeClr val="bg1"/>
            </a:solidFill>
            <a:prstDash val="solid"/>
          </a:ln>
        </p:spPr>
      </p:sp>
      <p:sp>
        <p:nvSpPr>
          <p:cNvPr id="17" name="Neighbor 8"/>
          <p:cNvSpPr/>
          <p:nvPr/>
        </p:nvSpPr>
        <p:spPr>
          <a:xfrm>
            <a:off x="3575088" y="3118684"/>
            <a:ext cx="164592" cy="164592"/>
          </a:xfrm>
          <a:prstGeom prst="ellipse">
            <a:avLst/>
          </a:prstGeom>
          <a:solidFill>
            <a:schemeClr val="accent3"/>
          </a:solidFill>
          <a:ln w="12700">
            <a:solidFill>
              <a:schemeClr val="bg1"/>
            </a:solidFill>
            <a:prstDash val="solid"/>
          </a:ln>
        </p:spPr>
      </p:sp>
      <p:sp>
        <p:nvSpPr>
          <p:cNvPr id="18" name="Neighbor 9"/>
          <p:cNvSpPr/>
          <p:nvPr/>
        </p:nvSpPr>
        <p:spPr>
          <a:xfrm>
            <a:off x="4210081" y="5102236"/>
            <a:ext cx="164592" cy="164592"/>
          </a:xfrm>
          <a:prstGeom prst="ellipse">
            <a:avLst/>
          </a:prstGeom>
          <a:solidFill>
            <a:schemeClr val="accent2"/>
          </a:solidFill>
          <a:ln w="12700">
            <a:solidFill>
              <a:schemeClr val="bg1"/>
            </a:solidFill>
            <a:prstDash val="solid"/>
          </a:ln>
        </p:spPr>
      </p:sp>
      <p:sp>
        <p:nvSpPr>
          <p:cNvPr id="19" name="Neighbor 10"/>
          <p:cNvSpPr/>
          <p:nvPr/>
        </p:nvSpPr>
        <p:spPr>
          <a:xfrm>
            <a:off x="1571985" y="3077954"/>
            <a:ext cx="164592" cy="164592"/>
          </a:xfrm>
          <a:prstGeom prst="ellipse">
            <a:avLst/>
          </a:prstGeom>
          <a:solidFill>
            <a:schemeClr val="accent3"/>
          </a:solidFill>
          <a:ln w="12700">
            <a:solidFill>
              <a:schemeClr val="bg1"/>
            </a:solidFill>
            <a:prstDash val="solid"/>
          </a:ln>
        </p:spPr>
      </p:sp>
      <p:sp>
        <p:nvSpPr>
          <p:cNvPr id="20" name="Neighbor 11"/>
          <p:cNvSpPr/>
          <p:nvPr/>
        </p:nvSpPr>
        <p:spPr>
          <a:xfrm>
            <a:off x="1865492" y="5307361"/>
            <a:ext cx="164592" cy="164592"/>
          </a:xfrm>
          <a:prstGeom prst="ellipse">
            <a:avLst/>
          </a:prstGeom>
          <a:solidFill>
            <a:schemeClr val="accent2"/>
          </a:solidFill>
          <a:ln w="12700">
            <a:solidFill>
              <a:schemeClr val="bg1"/>
            </a:solidFill>
            <a:prstDash val="solid"/>
          </a:ln>
        </p:spPr>
      </p:sp>
      <p:sp>
        <p:nvSpPr>
          <p:cNvPr id="21" name="Neighbor 12"/>
          <p:cNvSpPr/>
          <p:nvPr/>
        </p:nvSpPr>
        <p:spPr>
          <a:xfrm>
            <a:off x="3365953" y="2425003"/>
            <a:ext cx="164592" cy="164592"/>
          </a:xfrm>
          <a:prstGeom prst="ellipse">
            <a:avLst/>
          </a:prstGeom>
          <a:solidFill>
            <a:schemeClr val="accent2"/>
          </a:solidFill>
          <a:ln w="12700">
            <a:solidFill>
              <a:schemeClr val="bg1"/>
            </a:solidFill>
            <a:prstDash val="solid"/>
          </a:ln>
        </p:spPr>
      </p:sp>
      <p:sp>
        <p:nvSpPr>
          <p:cNvPr id="22" name="You disc"/>
          <p:cNvSpPr/>
          <p:nvPr/>
        </p:nvSpPr>
        <p:spPr>
          <a:xfrm>
            <a:off x="2743200" y="3840480"/>
            <a:ext cx="548640" cy="548640"/>
          </a:xfrm>
          <a:prstGeom prst="ellipse">
            <a:avLst/>
          </a:prstGeom>
          <a:solidFill>
            <a:schemeClr val="accent1"/>
          </a:solidFill>
          <a:ln/>
        </p:spPr>
      </p:sp>
      <p:pic>
        <p:nvPicPr>
          <p:cNvPr id="23" name="You icon" descr="pin icon">    </p:cNvPr>
          <p:cNvPicPr>
            <a:picLocks noChangeAspect="1"/>
          </p:cNvPicPr>
          <p:nvPr/>
        </p:nvPicPr>
        <p:blipFill>
          <a:blip r:embed="rId1"/>
          <a:stretch>
            <a:fillRect/>
          </a:stretch>
        </p:blipFill>
        <p:spPr>
          <a:xfrm>
            <a:off x="2874874" y="3972154"/>
            <a:ext cx="285293" cy="285293"/>
          </a:xfrm>
          <a:prstGeom prst="rect">
            <a:avLst/>
          </a:prstGeom>
        </p:spPr>
      </p:pic>
      <p:sp>
        <p:nvSpPr>
          <p:cNvPr id="24" name="You label"/>
          <p:cNvSpPr txBox="1"/>
          <p:nvPr/>
        </p:nvSpPr>
        <p:spPr>
          <a:xfrm>
            <a:off x="2560320" y="4425696"/>
            <a:ext cx="914400" cy="237744"/>
          </a:xfrm>
          <a:prstGeom prst="rect">
            <a:avLst/>
          </a:prstGeom>
          <a:noFill/>
          <a:ln/>
        </p:spPr>
        <p:txBody>
          <a:bodyPr wrap="square" lIns="0" tIns="0" rIns="0" bIns="0" rtlCol="0" anchor="t"/>
          <a:lstStyle/>
          <a:p>
            <a:pPr algn="ctr" indent="0" marL="0">
              <a:buNone/>
            </a:pPr>
            <a:r>
              <a:rPr lang="en-US" sz="1200" b="1" dirty="0">
                <a:solidFill>
                  <a:schemeClr val="tx1"/>
                </a:solidFill>
              </a:rPr>
              <a:t>You</a:t>
            </a:r>
            <a:endParaRPr lang="en-US" sz="1200" dirty="0"/>
          </a:p>
        </p:txBody>
      </p:sp>
      <p:sp>
        <p:nvSpPr>
          <p:cNvPr id="25" name="Legend resident"/>
          <p:cNvSpPr/>
          <p:nvPr/>
        </p:nvSpPr>
        <p:spPr>
          <a:xfrm>
            <a:off x="749808" y="6053328"/>
            <a:ext cx="128016" cy="128016"/>
          </a:xfrm>
          <a:prstGeom prst="ellipse">
            <a:avLst/>
          </a:prstGeom>
          <a:solidFill>
            <a:schemeClr val="accent2"/>
          </a:solidFill>
          <a:ln/>
        </p:spPr>
      </p:sp>
      <p:sp>
        <p:nvSpPr>
          <p:cNvPr id="26" name="Legend resident text"/>
          <p:cNvSpPr txBox="1"/>
          <p:nvPr/>
        </p:nvSpPr>
        <p:spPr>
          <a:xfrm>
            <a:off x="960120" y="5998464"/>
            <a:ext cx="1005840" cy="237744"/>
          </a:xfrm>
          <a:prstGeom prst="rect">
            <a:avLst/>
          </a:prstGeom>
          <a:noFill/>
          <a:ln/>
        </p:spPr>
        <p:txBody>
          <a:bodyPr wrap="square" lIns="0" tIns="0" rIns="0" bIns="0" rtlCol="0" anchor="t"/>
          <a:lstStyle/>
          <a:p>
            <a:pPr algn="l" indent="0" marL="0">
              <a:buNone/>
            </a:pPr>
            <a:r>
              <a:rPr lang="en-US" sz="1200" dirty="0">
                <a:solidFill>
                  <a:srgbClr val="4A6B5A"/>
                </a:solidFill>
              </a:rPr>
              <a:t>Residents</a:t>
            </a:r>
            <a:endParaRPr lang="en-US" sz="1200" dirty="0"/>
          </a:p>
        </p:txBody>
      </p:sp>
      <p:sp>
        <p:nvSpPr>
          <p:cNvPr id="27" name="Legend seller"/>
          <p:cNvSpPr/>
          <p:nvPr/>
        </p:nvSpPr>
        <p:spPr>
          <a:xfrm>
            <a:off x="2011680" y="6053328"/>
            <a:ext cx="128016" cy="128016"/>
          </a:xfrm>
          <a:prstGeom prst="ellipse">
            <a:avLst/>
          </a:prstGeom>
          <a:solidFill>
            <a:schemeClr val="accent3"/>
          </a:solidFill>
          <a:ln/>
        </p:spPr>
      </p:sp>
      <p:sp>
        <p:nvSpPr>
          <p:cNvPr id="28" name="Legend seller text"/>
          <p:cNvSpPr txBox="1"/>
          <p:nvPr/>
        </p:nvSpPr>
        <p:spPr>
          <a:xfrm>
            <a:off x="2221992" y="5998464"/>
            <a:ext cx="1371600" cy="237744"/>
          </a:xfrm>
          <a:prstGeom prst="rect">
            <a:avLst/>
          </a:prstGeom>
          <a:noFill/>
          <a:ln/>
        </p:spPr>
        <p:txBody>
          <a:bodyPr wrap="square" lIns="0" tIns="0" rIns="0" bIns="0" rtlCol="0" anchor="t"/>
          <a:lstStyle/>
          <a:p>
            <a:pPr algn="l" indent="0" marL="0">
              <a:buNone/>
            </a:pPr>
            <a:r>
              <a:rPr lang="en-US" sz="1200" dirty="0">
                <a:solidFill>
                  <a:srgbClr val="4A6B5A"/>
                </a:solidFill>
              </a:rPr>
              <a:t>Nearby sellers</a:t>
            </a:r>
            <a:endParaRPr lang="en-US" sz="1200" dirty="0"/>
          </a:p>
        </p:txBody>
      </p:sp>
      <p:sp>
        <p:nvSpPr>
          <p:cNvPr id="29" name="Tag hypotheses"/>
          <p:cNvSpPr/>
          <p:nvPr/>
        </p:nvSpPr>
        <p:spPr>
          <a:xfrm>
            <a:off x="6035040" y="1965960"/>
            <a:ext cx="3977640" cy="329184"/>
          </a:xfrm>
          <a:prstGeom prst="roundRect">
            <a:avLst>
              <a:gd name="adj" fmla="val 50000"/>
            </a:avLst>
          </a:prstGeom>
          <a:noFill/>
          <a:ln w="19050">
            <a:solidFill>
              <a:schemeClr val="accent3"/>
            </a:solidFill>
          </a:ln>
        </p:spPr>
        <p:txBody>
          <a:bodyPr wrap="square" lIns="0" tIns="0" rIns="0" bIns="0" rtlCol="0" anchor="ctr"/>
          <a:lstStyle/>
          <a:p>
            <a:pPr algn="ctr" indent="0" marL="0">
              <a:buNone/>
            </a:pPr>
            <a:r>
              <a:rPr lang="en-US" sz="1200" b="1" spc="100" kern="0" dirty="0">
                <a:solidFill>
                  <a:schemeClr val="tx1"/>
                </a:solidFill>
              </a:rPr>
              <a:t>STRATEGIC HYPOTHESES, NOT PROVEN DEMAND</a:t>
            </a:r>
            <a:endParaRPr lang="en-US" sz="1200" dirty="0"/>
          </a:p>
        </p:txBody>
      </p:sp>
      <p:sp>
        <p:nvSpPr>
          <p:cNvPr id="30" name="Hypothesis 1 badge disc"/>
          <p:cNvSpPr/>
          <p:nvPr/>
        </p:nvSpPr>
        <p:spPr>
          <a:xfrm>
            <a:off x="6035040" y="2606040"/>
            <a:ext cx="512064" cy="512064"/>
          </a:xfrm>
          <a:prstGeom prst="ellipse">
            <a:avLst/>
          </a:prstGeom>
          <a:solidFill>
            <a:schemeClr val="accent1"/>
          </a:solidFill>
          <a:ln/>
        </p:spPr>
      </p:sp>
      <p:pic>
        <p:nvPicPr>
          <p:cNvPr id="31" name="Hypothesis 1 badge icon" descr="pin icon">    </p:cNvPr>
          <p:cNvPicPr>
            <a:picLocks noChangeAspect="1"/>
          </p:cNvPicPr>
          <p:nvPr/>
        </p:nvPicPr>
        <p:blipFill>
          <a:blip r:embed="rId2"/>
          <a:stretch>
            <a:fillRect/>
          </a:stretch>
        </p:blipFill>
        <p:spPr>
          <a:xfrm>
            <a:off x="6157935" y="2728935"/>
            <a:ext cx="266273" cy="266273"/>
          </a:xfrm>
          <a:prstGeom prst="rect">
            <a:avLst/>
          </a:prstGeom>
        </p:spPr>
      </p:pic>
      <p:sp>
        <p:nvSpPr>
          <p:cNvPr id="32" name="Hypothesis 1"/>
          <p:cNvSpPr txBox="1"/>
          <p:nvPr/>
        </p:nvSpPr>
        <p:spPr>
          <a:xfrm>
            <a:off x="6035040" y="3227832"/>
            <a:ext cx="2606040" cy="1005840"/>
          </a:xfrm>
          <a:prstGeom prst="rect">
            <a:avLst/>
          </a:prstGeom>
          <a:noFill/>
          <a:ln/>
        </p:spPr>
        <p:txBody>
          <a:bodyPr wrap="square" lIns="0" tIns="0" rIns="0" bIns="0" rtlCol="0" anchor="t"/>
          <a:lstStyle/>
          <a:p>
            <a:pPr algn="l" indent="0" marL="0">
              <a:lnSpc>
                <a:spcPct val="102000"/>
              </a:lnSpc>
              <a:buNone/>
            </a:pPr>
            <a:r>
              <a:rPr lang="en-US" sz="2000" b="1" dirty="0">
                <a:solidFill>
                  <a:schemeClr val="tx1"/>
                </a:solidFill>
              </a:rPr>
              <a:t>Proximity</a:t>
            </a:r>
            <a:endParaRPr lang="en-US" sz="2000" dirty="0"/>
          </a:p>
          <a:p>
            <a:pPr algn="l" indent="0" marL="0">
              <a:lnSpc>
                <a:spcPct val="102000"/>
              </a:lnSpc>
              <a:buNone/>
            </a:pPr>
            <a:r>
              <a:rPr lang="en-US" sz="1500" dirty="0">
                <a:solidFill>
                  <a:srgbClr val="4A6B5A"/>
                </a:solidFill>
              </a:rPr>
              <a:t>The nearest seller can be a few floors away, not across the city.</a:t>
            </a:r>
            <a:endParaRPr lang="en-US" sz="2000" dirty="0"/>
          </a:p>
        </p:txBody>
      </p:sp>
      <p:sp>
        <p:nvSpPr>
          <p:cNvPr id="33" name="Hypothesis 2 badge disc"/>
          <p:cNvSpPr/>
          <p:nvPr/>
        </p:nvSpPr>
        <p:spPr>
          <a:xfrm>
            <a:off x="8915400" y="2606040"/>
            <a:ext cx="512064" cy="512064"/>
          </a:xfrm>
          <a:prstGeom prst="ellipse">
            <a:avLst/>
          </a:prstGeom>
          <a:solidFill>
            <a:schemeClr val="accent1"/>
          </a:solidFill>
          <a:ln/>
        </p:spPr>
      </p:sp>
      <p:pic>
        <p:nvPicPr>
          <p:cNvPr id="34" name="Hypothesis 2 badge icon" descr="users icon">    </p:cNvPr>
          <p:cNvPicPr>
            <a:picLocks noChangeAspect="1"/>
          </p:cNvPicPr>
          <p:nvPr/>
        </p:nvPicPr>
        <p:blipFill>
          <a:blip r:embed="rId3"/>
          <a:stretch>
            <a:fillRect/>
          </a:stretch>
        </p:blipFill>
        <p:spPr>
          <a:xfrm>
            <a:off x="9038295" y="2728935"/>
            <a:ext cx="266273" cy="266273"/>
          </a:xfrm>
          <a:prstGeom prst="rect">
            <a:avLst/>
          </a:prstGeom>
        </p:spPr>
      </p:pic>
      <p:sp>
        <p:nvSpPr>
          <p:cNvPr id="35" name="Hypothesis 2"/>
          <p:cNvSpPr txBox="1"/>
          <p:nvPr/>
        </p:nvSpPr>
        <p:spPr>
          <a:xfrm>
            <a:off x="8915400" y="3227832"/>
            <a:ext cx="2606040" cy="1005840"/>
          </a:xfrm>
          <a:prstGeom prst="rect">
            <a:avLst/>
          </a:prstGeom>
          <a:noFill/>
          <a:ln/>
        </p:spPr>
        <p:txBody>
          <a:bodyPr wrap="square" lIns="0" tIns="0" rIns="0" bIns="0" rtlCol="0" anchor="t"/>
          <a:lstStyle/>
          <a:p>
            <a:pPr algn="l" indent="0" marL="0">
              <a:lnSpc>
                <a:spcPct val="102000"/>
              </a:lnSpc>
              <a:buNone/>
            </a:pPr>
            <a:r>
              <a:rPr lang="en-US" sz="2000" b="1" dirty="0">
                <a:solidFill>
                  <a:schemeClr val="tx1"/>
                </a:solidFill>
              </a:rPr>
              <a:t>Concentration</a:t>
            </a:r>
            <a:endParaRPr lang="en-US" sz="2000" dirty="0"/>
          </a:p>
          <a:p>
            <a:pPr algn="l" indent="0" marL="0">
              <a:lnSpc>
                <a:spcPct val="102000"/>
              </a:lnSpc>
              <a:buNone/>
            </a:pPr>
            <a:r>
              <a:rPr lang="en-US" sz="1500" dirty="0">
                <a:solidFill>
                  <a:srgbClr val="4A6B5A"/>
                </a:solidFill>
              </a:rPr>
              <a:t>Many households live in one place, close to each other.</a:t>
            </a:r>
            <a:endParaRPr lang="en-US" sz="2000" dirty="0"/>
          </a:p>
        </p:txBody>
      </p:sp>
      <p:sp>
        <p:nvSpPr>
          <p:cNvPr id="36" name="Hypothesis 3 badge disc"/>
          <p:cNvSpPr/>
          <p:nvPr/>
        </p:nvSpPr>
        <p:spPr>
          <a:xfrm>
            <a:off x="6035040" y="4297680"/>
            <a:ext cx="512064" cy="512064"/>
          </a:xfrm>
          <a:prstGeom prst="ellipse">
            <a:avLst/>
          </a:prstGeom>
          <a:solidFill>
            <a:schemeClr val="accent1"/>
          </a:solidFill>
          <a:ln/>
        </p:spPr>
      </p:sp>
      <p:pic>
        <p:nvPicPr>
          <p:cNvPr id="37" name="Hypothesis 3 badge icon" descr="home icon">    </p:cNvPr>
          <p:cNvPicPr>
            <a:picLocks noChangeAspect="1"/>
          </p:cNvPicPr>
          <p:nvPr/>
        </p:nvPicPr>
        <p:blipFill>
          <a:blip r:embed="rId4"/>
          <a:stretch>
            <a:fillRect/>
          </a:stretch>
        </p:blipFill>
        <p:spPr>
          <a:xfrm>
            <a:off x="6157935" y="4420575"/>
            <a:ext cx="266273" cy="266273"/>
          </a:xfrm>
          <a:prstGeom prst="rect">
            <a:avLst/>
          </a:prstGeom>
        </p:spPr>
      </p:pic>
      <p:sp>
        <p:nvSpPr>
          <p:cNvPr id="38" name="Hypothesis 3"/>
          <p:cNvSpPr txBox="1"/>
          <p:nvPr/>
        </p:nvSpPr>
        <p:spPr>
          <a:xfrm>
            <a:off x="6035040" y="4919472"/>
            <a:ext cx="2606040" cy="1005840"/>
          </a:xfrm>
          <a:prstGeom prst="rect">
            <a:avLst/>
          </a:prstGeom>
          <a:noFill/>
          <a:ln/>
        </p:spPr>
        <p:txBody>
          <a:bodyPr wrap="square" lIns="0" tIns="0" rIns="0" bIns="0" rtlCol="0" anchor="t"/>
          <a:lstStyle/>
          <a:p>
            <a:pPr algn="l" indent="0" marL="0">
              <a:lnSpc>
                <a:spcPct val="102000"/>
              </a:lnSpc>
              <a:buNone/>
            </a:pPr>
            <a:r>
              <a:rPr lang="en-US" sz="2000" b="1" dirty="0">
                <a:solidFill>
                  <a:schemeClr val="tx1"/>
                </a:solidFill>
              </a:rPr>
              <a:t>Convenience</a:t>
            </a:r>
            <a:endParaRPr lang="en-US" sz="2000" dirty="0"/>
          </a:p>
          <a:p>
            <a:pPr algn="l" indent="0" marL="0">
              <a:lnSpc>
                <a:spcPct val="102000"/>
              </a:lnSpc>
              <a:buNone/>
            </a:pPr>
            <a:r>
              <a:rPr lang="en-US" sz="1500" dirty="0">
                <a:solidFill>
                  <a:srgbClr val="4A6B5A"/>
                </a:solidFill>
              </a:rPr>
              <a:t>A door-to-door order that never leaves the building.</a:t>
            </a:r>
            <a:endParaRPr lang="en-US" sz="2000" dirty="0"/>
          </a:p>
        </p:txBody>
      </p:sp>
      <p:sp>
        <p:nvSpPr>
          <p:cNvPr id="39" name="Hypothesis 4 badge disc"/>
          <p:cNvSpPr/>
          <p:nvPr/>
        </p:nvSpPr>
        <p:spPr>
          <a:xfrm>
            <a:off x="8915400" y="4297680"/>
            <a:ext cx="512064" cy="512064"/>
          </a:xfrm>
          <a:prstGeom prst="ellipse">
            <a:avLst/>
          </a:prstGeom>
          <a:solidFill>
            <a:schemeClr val="accent1"/>
          </a:solidFill>
          <a:ln/>
        </p:spPr>
      </p:sp>
      <p:pic>
        <p:nvPicPr>
          <p:cNvPr id="40" name="Hypothesis 4 badge icon" descr="store icon">    </p:cNvPr>
          <p:cNvPicPr>
            <a:picLocks noChangeAspect="1"/>
          </p:cNvPicPr>
          <p:nvPr/>
        </p:nvPicPr>
        <p:blipFill>
          <a:blip r:embed="rId5"/>
          <a:stretch>
            <a:fillRect/>
          </a:stretch>
        </p:blipFill>
        <p:spPr>
          <a:xfrm>
            <a:off x="9038295" y="4420575"/>
            <a:ext cx="266273" cy="266273"/>
          </a:xfrm>
          <a:prstGeom prst="rect">
            <a:avLst/>
          </a:prstGeom>
        </p:spPr>
      </p:pic>
      <p:sp>
        <p:nvSpPr>
          <p:cNvPr id="41" name="Hypothesis 4"/>
          <p:cNvSpPr txBox="1"/>
          <p:nvPr/>
        </p:nvSpPr>
        <p:spPr>
          <a:xfrm>
            <a:off x="8915400" y="4919472"/>
            <a:ext cx="2606040" cy="1005840"/>
          </a:xfrm>
          <a:prstGeom prst="rect">
            <a:avLst/>
          </a:prstGeom>
          <a:noFill/>
          <a:ln/>
        </p:spPr>
        <p:txBody>
          <a:bodyPr wrap="square" lIns="0" tIns="0" rIns="0" bIns="0" rtlCol="0" anchor="t"/>
          <a:lstStyle/>
          <a:p>
            <a:pPr algn="l" indent="0" marL="0">
              <a:lnSpc>
                <a:spcPct val="102000"/>
              </a:lnSpc>
              <a:buNone/>
            </a:pPr>
            <a:r>
              <a:rPr lang="en-US" sz="2000" b="1" dirty="0">
                <a:solidFill>
                  <a:schemeClr val="tx1"/>
                </a:solidFill>
              </a:rPr>
              <a:t>Access</a:t>
            </a:r>
            <a:endParaRPr lang="en-US" sz="2000" dirty="0"/>
          </a:p>
          <a:p>
            <a:pPr algn="l" indent="0" marL="0">
              <a:lnSpc>
                <a:spcPct val="102000"/>
              </a:lnSpc>
              <a:buNone/>
            </a:pPr>
            <a:r>
              <a:rPr lang="en-US" sz="1500" dirty="0">
                <a:solidFill>
                  <a:srgbClr val="4A6B5A"/>
                </a:solidFill>
              </a:rPr>
              <a:t>Neighbors who sell can be found without needing a storefront.</a:t>
            </a:r>
            <a:endParaRPr lang="en-US" sz="2000" dirty="0"/>
          </a:p>
        </p:txBody>
      </p:sp>
      <p:sp>
        <p:nvSpPr>
          <p:cNvPr id="42" name="Pilot pill"/>
          <p:cNvSpPr/>
          <p:nvPr/>
        </p:nvSpPr>
        <p:spPr>
          <a:xfrm>
            <a:off x="6035040" y="5943600"/>
            <a:ext cx="5440680" cy="365760"/>
          </a:xfrm>
          <a:prstGeom prst="roundRect">
            <a:avLst>
              <a:gd name="adj" fmla="val 50000"/>
            </a:avLst>
          </a:prstGeom>
          <a:solidFill>
            <a:schemeClr val="accent2">
              <a:alpha val="15000"/>
            </a:schemeClr>
          </a:solidFill>
          <a:ln/>
        </p:spPr>
      </p:sp>
      <p:sp>
        <p:nvSpPr>
          <p:cNvPr id="43" name="Pilot text"/>
          <p:cNvSpPr txBox="1"/>
          <p:nvPr/>
        </p:nvSpPr>
        <p:spPr>
          <a:xfrm>
            <a:off x="6217920" y="5943600"/>
            <a:ext cx="5120640" cy="365760"/>
          </a:xfrm>
          <a:prstGeom prst="rect">
            <a:avLst/>
          </a:prstGeom>
          <a:noFill/>
          <a:ln/>
        </p:spPr>
        <p:txBody>
          <a:bodyPr wrap="square" lIns="0" tIns="0" rIns="0" bIns="0" rtlCol="0" anchor="ctr"/>
          <a:lstStyle/>
          <a:p>
            <a:pPr algn="l" indent="0" marL="0">
              <a:buNone/>
            </a:pPr>
            <a:r>
              <a:rPr lang="en-US" sz="1500" b="1" dirty="0">
                <a:solidFill>
                  <a:schemeClr val="tx1"/>
                </a:solidFill>
              </a:rPr>
              <a:t>Pilot community: </a:t>
            </a:r>
            <a:pPr algn="l" indent="0" marL="0">
              <a:buNone/>
            </a:pPr>
            <a:r>
              <a:rPr lang="en-US" sz="1500" dirty="0">
                <a:solidFill>
                  <a:schemeClr val="tx1"/>
                </a:solidFill>
              </a:rPr>
              <a:t>GRASS Residences, Quezon City (5 towers)</a:t>
            </a:r>
            <a:endParaRPr lang="en-US" sz="1500" dirty="0"/>
          </a:p>
        </p:txBody>
      </p:sp>
      <p:sp>
        <p:nvSpPr>
          <p:cNvPr id="44" name="Footnote"/>
          <p:cNvSpPr txBox="1"/>
          <p:nvPr/>
        </p:nvSpPr>
        <p:spPr>
          <a:xfrm>
            <a:off x="1115568" y="6382512"/>
            <a:ext cx="4754880" cy="274320"/>
          </a:xfrm>
          <a:prstGeom prst="rect">
            <a:avLst/>
          </a:prstGeom>
          <a:noFill/>
          <a:ln/>
        </p:spPr>
        <p:txBody>
          <a:bodyPr wrap="square" lIns="0" tIns="0" rIns="0" bIns="0" rtlCol="0" anchor="ctr"/>
          <a:lstStyle/>
          <a:p>
            <a:pPr algn="l" indent="0" marL="0">
              <a:buNone/>
            </a:pPr>
            <a:r>
              <a:rPr lang="en-US" sz="1200" dirty="0">
                <a:solidFill>
                  <a:srgbClr val="4A6B5A"/>
                </a:solidFill>
              </a:rPr>
              <a:t>No market-size estimate is claimed.</a:t>
            </a:r>
            <a:endParaRPr lang="en-US" sz="1200" dirty="0"/>
          </a:p>
        </p:txBody>
      </p:sp>
      <p:sp>
        <p:nvSpPr>
          <p:cNvPr id="45" name="Slide Number Placeholder 0"/>
          <p:cNvSpPr>
            <a:spLocks noGrp="1"/>
          </p:cNvSpPr>
          <p:nvPr>
            <p:ph type="sldNum" sz="quarter" idx="4294967295"/>
          </p:nvPr>
        </p:nvSpPr>
        <p:spPr>
          <a:xfrm>
            <a:off x="10957560" y="6373368"/>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accent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3"/>
                                        </p:tgtEl>
                                        <p:attrNameLst>
                                          <p:attrName>style.visibility</p:attrName>
                                        </p:attrNameLst>
                                      </p:cBhvr>
                                      <p:to>
                                        <p:strVal val="visible"/>
                                      </p:to>
                                    </p:set>
                                    <p:anim calcmode="lin" valueType="num">
                                      <p:cBhvr>
                                        <p:cTn id="10" dur="550" fill="hold"/>
                                        <p:tgtEl>
                                          <p:spTgt spid="3"/>
                                        </p:tgtEl>
                                        <p:attrNameLst>
                                          <p:attrName>ppt_y</p:attrName>
                                        </p:attrNameLst>
                                      </p:cBhvr>
                                      <p:tavLst>
                                        <p:tav tm="0">
                                          <p:val>
                                            <p:strVal val="#ppt_y+.05"/>
                                          </p:val>
                                        </p:tav>
                                        <p:tav tm="100000">
                                          <p:val>
                                            <p:strVal val="#ppt_y"/>
                                          </p:val>
                                        </p:tav>
                                      </p:tavLst>
                                    </p:anim>
                                    <p:animEffect transition="in" filter="fade">
                                      <p:cBhvr>
                                        <p:cTn id="11" dur="550"/>
                                        <p:tgtEl>
                                          <p:spTgt spid="3"/>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500"/>
                                        <p:tgtEl>
                                          <p:spTgt spid="22"/>
                                        </p:tgtEl>
                                      </p:cBhvr>
                                    </p:animEffect>
                                  </p:childTnLst>
                                </p:cTn>
                              </p:par>
                              <p:par>
                                <p:cTn id="15" presetID="10" presetClass="entr" presetSubtype="0" fill="hold" nodeType="withEffect">
                                  <p:stCondLst>
                                    <p:cond delay="30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par>
                                <p:cTn id="18" presetID="10" presetClass="entr" presetSubtype="0" fill="hold" grpId="0" nodeType="withEffect">
                                  <p:stCondLst>
                                    <p:cond delay="30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600"/>
                                        <p:tgtEl>
                                          <p:spTgt spid="4"/>
                                        </p:tgtEl>
                                      </p:cBhvr>
                                    </p:animEffect>
                                  </p:childTnLst>
                                </p:cTn>
                              </p:par>
                              <p:par>
                                <p:cTn id="24" presetID="10" presetClass="entr" presetSubtype="0" fill="hold" grpId="0" nodeType="withEffect">
                                  <p:stCondLst>
                                    <p:cond delay="60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par>
                                <p:cTn id="27" presetID="10" presetClass="entr" presetSubtype="0" fill="hold" grpId="0" nodeType="withEffect">
                                  <p:stCondLst>
                                    <p:cond delay="70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par>
                                <p:cTn id="30" presetID="10" presetClass="entr" presetSubtype="0" fill="hold" grpId="0" nodeType="withEffect">
                                  <p:stCondLst>
                                    <p:cond delay="80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600"/>
                                        <p:tgtEl>
                                          <p:spTgt spid="5"/>
                                        </p:tgtEl>
                                      </p:cBhvr>
                                    </p:animEffect>
                                  </p:childTnLst>
                                </p:cTn>
                              </p:par>
                              <p:par>
                                <p:cTn id="33" presetID="42" presetClass="entr" presetSubtype="0" fill="hold" grpId="0" nodeType="withEffect">
                                  <p:stCondLst>
                                    <p:cond delay="900"/>
                                  </p:stCondLst>
                                  <p:childTnLst>
                                    <p:set>
                                      <p:cBhvr>
                                        <p:cTn id="34" dur="1" fill="hold">
                                          <p:stCondLst>
                                            <p:cond delay="0"/>
                                          </p:stCondLst>
                                        </p:cTn>
                                        <p:tgtEl>
                                          <p:spTgt spid="30"/>
                                        </p:tgtEl>
                                        <p:attrNameLst>
                                          <p:attrName>style.visibility</p:attrName>
                                        </p:attrNameLst>
                                      </p:cBhvr>
                                      <p:to>
                                        <p:strVal val="visible"/>
                                      </p:to>
                                    </p:set>
                                    <p:anim calcmode="lin" valueType="num">
                                      <p:cBhvr>
                                        <p:cTn id="35" dur="550" fill="hold"/>
                                        <p:tgtEl>
                                          <p:spTgt spid="30"/>
                                        </p:tgtEl>
                                        <p:attrNameLst>
                                          <p:attrName>ppt_y</p:attrName>
                                        </p:attrNameLst>
                                      </p:cBhvr>
                                      <p:tavLst>
                                        <p:tav tm="0">
                                          <p:val>
                                            <p:strVal val="#ppt_y+.05"/>
                                          </p:val>
                                        </p:tav>
                                        <p:tav tm="100000">
                                          <p:val>
                                            <p:strVal val="#ppt_y"/>
                                          </p:val>
                                        </p:tav>
                                      </p:tavLst>
                                    </p:anim>
                                    <p:animEffect transition="in" filter="fade">
                                      <p:cBhvr>
                                        <p:cTn id="36" dur="550"/>
                                        <p:tgtEl>
                                          <p:spTgt spid="30"/>
                                        </p:tgtEl>
                                      </p:cBhvr>
                                    </p:animEffect>
                                  </p:childTnLst>
                                </p:cTn>
                              </p:par>
                              <p:par>
                                <p:cTn id="37" presetID="42" presetClass="entr" presetSubtype="0" fill="hold" nodeType="withEffect">
                                  <p:stCondLst>
                                    <p:cond delay="900"/>
                                  </p:stCondLst>
                                  <p:childTnLst>
                                    <p:set>
                                      <p:cBhvr>
                                        <p:cTn id="38" dur="1" fill="hold">
                                          <p:stCondLst>
                                            <p:cond delay="0"/>
                                          </p:stCondLst>
                                        </p:cTn>
                                        <p:tgtEl>
                                          <p:spTgt spid="31"/>
                                        </p:tgtEl>
                                        <p:attrNameLst>
                                          <p:attrName>style.visibility</p:attrName>
                                        </p:attrNameLst>
                                      </p:cBhvr>
                                      <p:to>
                                        <p:strVal val="visible"/>
                                      </p:to>
                                    </p:set>
                                    <p:anim calcmode="lin" valueType="num">
                                      <p:cBhvr>
                                        <p:cTn id="39" dur="550" fill="hold"/>
                                        <p:tgtEl>
                                          <p:spTgt spid="31"/>
                                        </p:tgtEl>
                                        <p:attrNameLst>
                                          <p:attrName>ppt_y</p:attrName>
                                        </p:attrNameLst>
                                      </p:cBhvr>
                                      <p:tavLst>
                                        <p:tav tm="0">
                                          <p:val>
                                            <p:strVal val="#ppt_y+.05"/>
                                          </p:val>
                                        </p:tav>
                                        <p:tav tm="100000">
                                          <p:val>
                                            <p:strVal val="#ppt_y"/>
                                          </p:val>
                                        </p:tav>
                                      </p:tavLst>
                                    </p:anim>
                                    <p:animEffect transition="in" filter="fade">
                                      <p:cBhvr>
                                        <p:cTn id="40" dur="550"/>
                                        <p:tgtEl>
                                          <p:spTgt spid="31"/>
                                        </p:tgtEl>
                                      </p:cBhvr>
                                    </p:animEffect>
                                  </p:childTnLst>
                                </p:cTn>
                              </p:par>
                              <p:par>
                                <p:cTn id="41" presetID="42" presetClass="entr" presetSubtype="0" fill="hold" grpId="0" nodeType="withEffect">
                                  <p:stCondLst>
                                    <p:cond delay="900"/>
                                  </p:stCondLst>
                                  <p:childTnLst>
                                    <p:set>
                                      <p:cBhvr>
                                        <p:cTn id="42" dur="1" fill="hold">
                                          <p:stCondLst>
                                            <p:cond delay="0"/>
                                          </p:stCondLst>
                                        </p:cTn>
                                        <p:tgtEl>
                                          <p:spTgt spid="32"/>
                                        </p:tgtEl>
                                        <p:attrNameLst>
                                          <p:attrName>style.visibility</p:attrName>
                                        </p:attrNameLst>
                                      </p:cBhvr>
                                      <p:to>
                                        <p:strVal val="visible"/>
                                      </p:to>
                                    </p:set>
                                    <p:anim calcmode="lin" valueType="num">
                                      <p:cBhvr>
                                        <p:cTn id="43" dur="550" fill="hold"/>
                                        <p:tgtEl>
                                          <p:spTgt spid="32"/>
                                        </p:tgtEl>
                                        <p:attrNameLst>
                                          <p:attrName>ppt_y</p:attrName>
                                        </p:attrNameLst>
                                      </p:cBhvr>
                                      <p:tavLst>
                                        <p:tav tm="0">
                                          <p:val>
                                            <p:strVal val="#ppt_y+.05"/>
                                          </p:val>
                                        </p:tav>
                                        <p:tav tm="100000">
                                          <p:val>
                                            <p:strVal val="#ppt_y"/>
                                          </p:val>
                                        </p:tav>
                                      </p:tavLst>
                                    </p:anim>
                                    <p:animEffect transition="in" filter="fade">
                                      <p:cBhvr>
                                        <p:cTn id="44" dur="550"/>
                                        <p:tgtEl>
                                          <p:spTgt spid="32"/>
                                        </p:tgtEl>
                                      </p:cBhvr>
                                    </p:animEffect>
                                  </p:childTnLst>
                                </p:cTn>
                              </p:par>
                              <p:par>
                                <p:cTn id="45" presetID="10" presetClass="entr" presetSubtype="0" fill="hold" grpId="0" nodeType="withEffect">
                                  <p:stCondLst>
                                    <p:cond delay="1000"/>
                                  </p:stCondLst>
                                  <p:childTnLst>
                                    <p:set>
                                      <p:cBhvr>
                                        <p:cTn id="46" dur="1" fill="hold">
                                          <p:stCondLst>
                                            <p:cond delay="0"/>
                                          </p:stCondLst>
                                        </p:cTn>
                                        <p:tgtEl>
                                          <p:spTgt spid="8"/>
                                        </p:tgtEl>
                                        <p:attrNameLst>
                                          <p:attrName>style.visibility</p:attrName>
                                        </p:attrNameLst>
                                      </p:cBhvr>
                                      <p:to>
                                        <p:strVal val="visible"/>
                                      </p:to>
                                    </p:set>
                                    <p:animEffect transition="in" filter="fade">
                                      <p:cBhvr>
                                        <p:cTn id="47" dur="500"/>
                                        <p:tgtEl>
                                          <p:spTgt spid="8"/>
                                        </p:tgtEl>
                                      </p:cBhvr>
                                    </p:animEffect>
                                  </p:childTnLst>
                                </p:cTn>
                              </p:par>
                              <p:par>
                                <p:cTn id="48" presetID="10" presetClass="entr" presetSubtype="0" fill="hold" grpId="0" nodeType="withEffect">
                                  <p:stCondLst>
                                    <p:cond delay="1100"/>
                                  </p:stCondLst>
                                  <p:childTnLst>
                                    <p:set>
                                      <p:cBhvr>
                                        <p:cTn id="49" dur="1" fill="hold">
                                          <p:stCondLst>
                                            <p:cond delay="0"/>
                                          </p:stCondLst>
                                        </p:cTn>
                                        <p:tgtEl>
                                          <p:spTgt spid="6"/>
                                        </p:tgtEl>
                                        <p:attrNameLst>
                                          <p:attrName>style.visibility</p:attrName>
                                        </p:attrNameLst>
                                      </p:cBhvr>
                                      <p:to>
                                        <p:strVal val="visible"/>
                                      </p:to>
                                    </p:set>
                                    <p:animEffect transition="in" filter="fade">
                                      <p:cBhvr>
                                        <p:cTn id="50" dur="600"/>
                                        <p:tgtEl>
                                          <p:spTgt spid="6"/>
                                        </p:tgtEl>
                                      </p:cBhvr>
                                    </p:animEffect>
                                  </p:childTnLst>
                                </p:cTn>
                              </p:par>
                              <p:par>
                                <p:cTn id="51" presetID="42" presetClass="entr" presetSubtype="0" fill="hold" grpId="0" nodeType="withEffect">
                                  <p:stCondLst>
                                    <p:cond delay="1150"/>
                                  </p:stCondLst>
                                  <p:childTnLst>
                                    <p:set>
                                      <p:cBhvr>
                                        <p:cTn id="52" dur="1" fill="hold">
                                          <p:stCondLst>
                                            <p:cond delay="0"/>
                                          </p:stCondLst>
                                        </p:cTn>
                                        <p:tgtEl>
                                          <p:spTgt spid="33"/>
                                        </p:tgtEl>
                                        <p:attrNameLst>
                                          <p:attrName>style.visibility</p:attrName>
                                        </p:attrNameLst>
                                      </p:cBhvr>
                                      <p:to>
                                        <p:strVal val="visible"/>
                                      </p:to>
                                    </p:set>
                                    <p:anim calcmode="lin" valueType="num">
                                      <p:cBhvr>
                                        <p:cTn id="53" dur="550" fill="hold"/>
                                        <p:tgtEl>
                                          <p:spTgt spid="33"/>
                                        </p:tgtEl>
                                        <p:attrNameLst>
                                          <p:attrName>ppt_y</p:attrName>
                                        </p:attrNameLst>
                                      </p:cBhvr>
                                      <p:tavLst>
                                        <p:tav tm="0">
                                          <p:val>
                                            <p:strVal val="#ppt_y+.05"/>
                                          </p:val>
                                        </p:tav>
                                        <p:tav tm="100000">
                                          <p:val>
                                            <p:strVal val="#ppt_y"/>
                                          </p:val>
                                        </p:tav>
                                      </p:tavLst>
                                    </p:anim>
                                    <p:animEffect transition="in" filter="fade">
                                      <p:cBhvr>
                                        <p:cTn id="54" dur="550"/>
                                        <p:tgtEl>
                                          <p:spTgt spid="33"/>
                                        </p:tgtEl>
                                      </p:cBhvr>
                                    </p:animEffect>
                                  </p:childTnLst>
                                </p:cTn>
                              </p:par>
                              <p:par>
                                <p:cTn id="55" presetID="42" presetClass="entr" presetSubtype="0" fill="hold" nodeType="withEffect">
                                  <p:stCondLst>
                                    <p:cond delay="1150"/>
                                  </p:stCondLst>
                                  <p:childTnLst>
                                    <p:set>
                                      <p:cBhvr>
                                        <p:cTn id="56" dur="1" fill="hold">
                                          <p:stCondLst>
                                            <p:cond delay="0"/>
                                          </p:stCondLst>
                                        </p:cTn>
                                        <p:tgtEl>
                                          <p:spTgt spid="34"/>
                                        </p:tgtEl>
                                        <p:attrNameLst>
                                          <p:attrName>style.visibility</p:attrName>
                                        </p:attrNameLst>
                                      </p:cBhvr>
                                      <p:to>
                                        <p:strVal val="visible"/>
                                      </p:to>
                                    </p:set>
                                    <p:anim calcmode="lin" valueType="num">
                                      <p:cBhvr>
                                        <p:cTn id="57" dur="550" fill="hold"/>
                                        <p:tgtEl>
                                          <p:spTgt spid="34"/>
                                        </p:tgtEl>
                                        <p:attrNameLst>
                                          <p:attrName>ppt_y</p:attrName>
                                        </p:attrNameLst>
                                      </p:cBhvr>
                                      <p:tavLst>
                                        <p:tav tm="0">
                                          <p:val>
                                            <p:strVal val="#ppt_y+.05"/>
                                          </p:val>
                                        </p:tav>
                                        <p:tav tm="100000">
                                          <p:val>
                                            <p:strVal val="#ppt_y"/>
                                          </p:val>
                                        </p:tav>
                                      </p:tavLst>
                                    </p:anim>
                                    <p:animEffect transition="in" filter="fade">
                                      <p:cBhvr>
                                        <p:cTn id="58" dur="550"/>
                                        <p:tgtEl>
                                          <p:spTgt spid="34"/>
                                        </p:tgtEl>
                                      </p:cBhvr>
                                    </p:animEffect>
                                  </p:childTnLst>
                                </p:cTn>
                              </p:par>
                              <p:par>
                                <p:cTn id="59" presetID="42" presetClass="entr" presetSubtype="0" fill="hold" grpId="0" nodeType="withEffect">
                                  <p:stCondLst>
                                    <p:cond delay="1150"/>
                                  </p:stCondLst>
                                  <p:childTnLst>
                                    <p:set>
                                      <p:cBhvr>
                                        <p:cTn id="60" dur="1" fill="hold">
                                          <p:stCondLst>
                                            <p:cond delay="0"/>
                                          </p:stCondLst>
                                        </p:cTn>
                                        <p:tgtEl>
                                          <p:spTgt spid="35"/>
                                        </p:tgtEl>
                                        <p:attrNameLst>
                                          <p:attrName>style.visibility</p:attrName>
                                        </p:attrNameLst>
                                      </p:cBhvr>
                                      <p:to>
                                        <p:strVal val="visible"/>
                                      </p:to>
                                    </p:set>
                                    <p:anim calcmode="lin" valueType="num">
                                      <p:cBhvr>
                                        <p:cTn id="61" dur="550" fill="hold"/>
                                        <p:tgtEl>
                                          <p:spTgt spid="35"/>
                                        </p:tgtEl>
                                        <p:attrNameLst>
                                          <p:attrName>ppt_y</p:attrName>
                                        </p:attrNameLst>
                                      </p:cBhvr>
                                      <p:tavLst>
                                        <p:tav tm="0">
                                          <p:val>
                                            <p:strVal val="#ppt_y+.05"/>
                                          </p:val>
                                        </p:tav>
                                        <p:tav tm="100000">
                                          <p:val>
                                            <p:strVal val="#ppt_y"/>
                                          </p:val>
                                        </p:tav>
                                      </p:tavLst>
                                    </p:anim>
                                    <p:animEffect transition="in" filter="fade">
                                      <p:cBhvr>
                                        <p:cTn id="62" dur="550"/>
                                        <p:tgtEl>
                                          <p:spTgt spid="35"/>
                                        </p:tgtEl>
                                      </p:cBhvr>
                                    </p:animEffect>
                                  </p:childTnLst>
                                </p:cTn>
                              </p:par>
                              <p:par>
                                <p:cTn id="63" presetID="10" presetClass="entr" presetSubtype="0" fill="hold" grpId="0" nodeType="withEffect">
                                  <p:stCondLst>
                                    <p:cond delay="1300"/>
                                  </p:stCondLst>
                                  <p:childTnLst>
                                    <p:set>
                                      <p:cBhvr>
                                        <p:cTn id="64" dur="1" fill="hold">
                                          <p:stCondLst>
                                            <p:cond delay="0"/>
                                          </p:stCondLst>
                                        </p:cTn>
                                        <p:tgtEl>
                                          <p:spTgt spid="9"/>
                                        </p:tgtEl>
                                        <p:attrNameLst>
                                          <p:attrName>style.visibility</p:attrName>
                                        </p:attrNameLst>
                                      </p:cBhvr>
                                      <p:to>
                                        <p:strVal val="visible"/>
                                      </p:to>
                                    </p:set>
                                    <p:animEffect transition="in" filter="fade">
                                      <p:cBhvr>
                                        <p:cTn id="65" dur="500"/>
                                        <p:tgtEl>
                                          <p:spTgt spid="9"/>
                                        </p:tgtEl>
                                      </p:cBhvr>
                                    </p:animEffect>
                                  </p:childTnLst>
                                </p:cTn>
                              </p:par>
                              <p:par>
                                <p:cTn id="66" presetID="42" presetClass="entr" presetSubtype="0" fill="hold" grpId="0" nodeType="withEffect">
                                  <p:stCondLst>
                                    <p:cond delay="1400"/>
                                  </p:stCondLst>
                                  <p:childTnLst>
                                    <p:set>
                                      <p:cBhvr>
                                        <p:cTn id="67" dur="1" fill="hold">
                                          <p:stCondLst>
                                            <p:cond delay="0"/>
                                          </p:stCondLst>
                                        </p:cTn>
                                        <p:tgtEl>
                                          <p:spTgt spid="36"/>
                                        </p:tgtEl>
                                        <p:attrNameLst>
                                          <p:attrName>style.visibility</p:attrName>
                                        </p:attrNameLst>
                                      </p:cBhvr>
                                      <p:to>
                                        <p:strVal val="visible"/>
                                      </p:to>
                                    </p:set>
                                    <p:anim calcmode="lin" valueType="num">
                                      <p:cBhvr>
                                        <p:cTn id="68" dur="550" fill="hold"/>
                                        <p:tgtEl>
                                          <p:spTgt spid="36"/>
                                        </p:tgtEl>
                                        <p:attrNameLst>
                                          <p:attrName>ppt_y</p:attrName>
                                        </p:attrNameLst>
                                      </p:cBhvr>
                                      <p:tavLst>
                                        <p:tav tm="0">
                                          <p:val>
                                            <p:strVal val="#ppt_y+.05"/>
                                          </p:val>
                                        </p:tav>
                                        <p:tav tm="100000">
                                          <p:val>
                                            <p:strVal val="#ppt_y"/>
                                          </p:val>
                                        </p:tav>
                                      </p:tavLst>
                                    </p:anim>
                                    <p:animEffect transition="in" filter="fade">
                                      <p:cBhvr>
                                        <p:cTn id="69" dur="550"/>
                                        <p:tgtEl>
                                          <p:spTgt spid="36"/>
                                        </p:tgtEl>
                                      </p:cBhvr>
                                    </p:animEffect>
                                  </p:childTnLst>
                                </p:cTn>
                              </p:par>
                              <p:par>
                                <p:cTn id="70" presetID="42" presetClass="entr" presetSubtype="0" fill="hold" nodeType="withEffect">
                                  <p:stCondLst>
                                    <p:cond delay="1400"/>
                                  </p:stCondLst>
                                  <p:childTnLst>
                                    <p:set>
                                      <p:cBhvr>
                                        <p:cTn id="71" dur="1" fill="hold">
                                          <p:stCondLst>
                                            <p:cond delay="0"/>
                                          </p:stCondLst>
                                        </p:cTn>
                                        <p:tgtEl>
                                          <p:spTgt spid="37"/>
                                        </p:tgtEl>
                                        <p:attrNameLst>
                                          <p:attrName>style.visibility</p:attrName>
                                        </p:attrNameLst>
                                      </p:cBhvr>
                                      <p:to>
                                        <p:strVal val="visible"/>
                                      </p:to>
                                    </p:set>
                                    <p:anim calcmode="lin" valueType="num">
                                      <p:cBhvr>
                                        <p:cTn id="72" dur="550" fill="hold"/>
                                        <p:tgtEl>
                                          <p:spTgt spid="37"/>
                                        </p:tgtEl>
                                        <p:attrNameLst>
                                          <p:attrName>ppt_y</p:attrName>
                                        </p:attrNameLst>
                                      </p:cBhvr>
                                      <p:tavLst>
                                        <p:tav tm="0">
                                          <p:val>
                                            <p:strVal val="#ppt_y+.05"/>
                                          </p:val>
                                        </p:tav>
                                        <p:tav tm="100000">
                                          <p:val>
                                            <p:strVal val="#ppt_y"/>
                                          </p:val>
                                        </p:tav>
                                      </p:tavLst>
                                    </p:anim>
                                    <p:animEffect transition="in" filter="fade">
                                      <p:cBhvr>
                                        <p:cTn id="73" dur="550"/>
                                        <p:tgtEl>
                                          <p:spTgt spid="37"/>
                                        </p:tgtEl>
                                      </p:cBhvr>
                                    </p:animEffect>
                                  </p:childTnLst>
                                </p:cTn>
                              </p:par>
                              <p:par>
                                <p:cTn id="74" presetID="42" presetClass="entr" presetSubtype="0" fill="hold" grpId="0" nodeType="withEffect">
                                  <p:stCondLst>
                                    <p:cond delay="1400"/>
                                  </p:stCondLst>
                                  <p:childTnLst>
                                    <p:set>
                                      <p:cBhvr>
                                        <p:cTn id="75" dur="1" fill="hold">
                                          <p:stCondLst>
                                            <p:cond delay="0"/>
                                          </p:stCondLst>
                                        </p:cTn>
                                        <p:tgtEl>
                                          <p:spTgt spid="38"/>
                                        </p:tgtEl>
                                        <p:attrNameLst>
                                          <p:attrName>style.visibility</p:attrName>
                                        </p:attrNameLst>
                                      </p:cBhvr>
                                      <p:to>
                                        <p:strVal val="visible"/>
                                      </p:to>
                                    </p:set>
                                    <p:anim calcmode="lin" valueType="num">
                                      <p:cBhvr>
                                        <p:cTn id="76" dur="550" fill="hold"/>
                                        <p:tgtEl>
                                          <p:spTgt spid="38"/>
                                        </p:tgtEl>
                                        <p:attrNameLst>
                                          <p:attrName>ppt_y</p:attrName>
                                        </p:attrNameLst>
                                      </p:cBhvr>
                                      <p:tavLst>
                                        <p:tav tm="0">
                                          <p:val>
                                            <p:strVal val="#ppt_y+.05"/>
                                          </p:val>
                                        </p:tav>
                                        <p:tav tm="100000">
                                          <p:val>
                                            <p:strVal val="#ppt_y"/>
                                          </p:val>
                                        </p:tav>
                                      </p:tavLst>
                                    </p:anim>
                                    <p:animEffect transition="in" filter="fade">
                                      <p:cBhvr>
                                        <p:cTn id="77" dur="550"/>
                                        <p:tgtEl>
                                          <p:spTgt spid="38"/>
                                        </p:tgtEl>
                                      </p:cBhvr>
                                    </p:animEffect>
                                  </p:childTnLst>
                                </p:cTn>
                              </p:par>
                              <p:par>
                                <p:cTn id="78" presetID="10" presetClass="entr" presetSubtype="0" fill="hold" grpId="0" nodeType="withEffect">
                                  <p:stCondLst>
                                    <p:cond delay="1400"/>
                                  </p:stCondLst>
                                  <p:childTnLst>
                                    <p:set>
                                      <p:cBhvr>
                                        <p:cTn id="79" dur="1" fill="hold">
                                          <p:stCondLst>
                                            <p:cond delay="0"/>
                                          </p:stCondLst>
                                        </p:cTn>
                                        <p:tgtEl>
                                          <p:spTgt spid="10"/>
                                        </p:tgtEl>
                                        <p:attrNameLst>
                                          <p:attrName>style.visibility</p:attrName>
                                        </p:attrNameLst>
                                      </p:cBhvr>
                                      <p:to>
                                        <p:strVal val="visible"/>
                                      </p:to>
                                    </p:set>
                                    <p:animEffect transition="in" filter="fade">
                                      <p:cBhvr>
                                        <p:cTn id="80" dur="400"/>
                                        <p:tgtEl>
                                          <p:spTgt spid="10"/>
                                        </p:tgtEl>
                                      </p:cBhvr>
                                    </p:animEffect>
                                  </p:childTnLst>
                                </p:cTn>
                              </p:par>
                              <p:par>
                                <p:cTn id="81" presetID="10" presetClass="entr" presetSubtype="0" fill="hold" grpId="0" nodeType="withEffect">
                                  <p:stCondLst>
                                    <p:cond delay="1400"/>
                                  </p:stCondLst>
                                  <p:childTnLst>
                                    <p:set>
                                      <p:cBhvr>
                                        <p:cTn id="82" dur="1" fill="hold">
                                          <p:stCondLst>
                                            <p:cond delay="0"/>
                                          </p:stCondLst>
                                        </p:cTn>
                                        <p:tgtEl>
                                          <p:spTgt spid="14"/>
                                        </p:tgtEl>
                                        <p:attrNameLst>
                                          <p:attrName>style.visibility</p:attrName>
                                        </p:attrNameLst>
                                      </p:cBhvr>
                                      <p:to>
                                        <p:strVal val="visible"/>
                                      </p:to>
                                    </p:set>
                                    <p:animEffect transition="in" filter="fade">
                                      <p:cBhvr>
                                        <p:cTn id="83" dur="400"/>
                                        <p:tgtEl>
                                          <p:spTgt spid="14"/>
                                        </p:tgtEl>
                                      </p:cBhvr>
                                    </p:animEffect>
                                  </p:childTnLst>
                                </p:cTn>
                              </p:par>
                              <p:par>
                                <p:cTn id="84" presetID="10" presetClass="entr" presetSubtype="0" fill="hold" grpId="0" nodeType="withEffect">
                                  <p:stCondLst>
                                    <p:cond delay="1400"/>
                                  </p:stCondLst>
                                  <p:childTnLst>
                                    <p:set>
                                      <p:cBhvr>
                                        <p:cTn id="85" dur="1" fill="hold">
                                          <p:stCondLst>
                                            <p:cond delay="0"/>
                                          </p:stCondLst>
                                        </p:cTn>
                                        <p:tgtEl>
                                          <p:spTgt spid="18"/>
                                        </p:tgtEl>
                                        <p:attrNameLst>
                                          <p:attrName>style.visibility</p:attrName>
                                        </p:attrNameLst>
                                      </p:cBhvr>
                                      <p:to>
                                        <p:strVal val="visible"/>
                                      </p:to>
                                    </p:set>
                                    <p:animEffect transition="in" filter="fade">
                                      <p:cBhvr>
                                        <p:cTn id="86" dur="400"/>
                                        <p:tgtEl>
                                          <p:spTgt spid="18"/>
                                        </p:tgtEl>
                                      </p:cBhvr>
                                    </p:animEffect>
                                  </p:childTnLst>
                                </p:cTn>
                              </p:par>
                              <p:par>
                                <p:cTn id="87" presetID="10" presetClass="entr" presetSubtype="0" fill="hold" grpId="0" nodeType="withEffect">
                                  <p:stCondLst>
                                    <p:cond delay="1460"/>
                                  </p:stCondLst>
                                  <p:childTnLst>
                                    <p:set>
                                      <p:cBhvr>
                                        <p:cTn id="88" dur="1" fill="hold">
                                          <p:stCondLst>
                                            <p:cond delay="0"/>
                                          </p:stCondLst>
                                        </p:cTn>
                                        <p:tgtEl>
                                          <p:spTgt spid="11"/>
                                        </p:tgtEl>
                                        <p:attrNameLst>
                                          <p:attrName>style.visibility</p:attrName>
                                        </p:attrNameLst>
                                      </p:cBhvr>
                                      <p:to>
                                        <p:strVal val="visible"/>
                                      </p:to>
                                    </p:set>
                                    <p:animEffect transition="in" filter="fade">
                                      <p:cBhvr>
                                        <p:cTn id="89" dur="400"/>
                                        <p:tgtEl>
                                          <p:spTgt spid="11"/>
                                        </p:tgtEl>
                                      </p:cBhvr>
                                    </p:animEffect>
                                  </p:childTnLst>
                                </p:cTn>
                              </p:par>
                              <p:par>
                                <p:cTn id="90" presetID="10" presetClass="entr" presetSubtype="0" fill="hold" grpId="0" nodeType="withEffect">
                                  <p:stCondLst>
                                    <p:cond delay="1460"/>
                                  </p:stCondLst>
                                  <p:childTnLst>
                                    <p:set>
                                      <p:cBhvr>
                                        <p:cTn id="91" dur="1" fill="hold">
                                          <p:stCondLst>
                                            <p:cond delay="0"/>
                                          </p:stCondLst>
                                        </p:cTn>
                                        <p:tgtEl>
                                          <p:spTgt spid="15"/>
                                        </p:tgtEl>
                                        <p:attrNameLst>
                                          <p:attrName>style.visibility</p:attrName>
                                        </p:attrNameLst>
                                      </p:cBhvr>
                                      <p:to>
                                        <p:strVal val="visible"/>
                                      </p:to>
                                    </p:set>
                                    <p:animEffect transition="in" filter="fade">
                                      <p:cBhvr>
                                        <p:cTn id="92" dur="400"/>
                                        <p:tgtEl>
                                          <p:spTgt spid="15"/>
                                        </p:tgtEl>
                                      </p:cBhvr>
                                    </p:animEffect>
                                  </p:childTnLst>
                                </p:cTn>
                              </p:par>
                              <p:par>
                                <p:cTn id="93" presetID="10" presetClass="entr" presetSubtype="0" fill="hold" grpId="0" nodeType="withEffect">
                                  <p:stCondLst>
                                    <p:cond delay="1460"/>
                                  </p:stCondLst>
                                  <p:childTnLst>
                                    <p:set>
                                      <p:cBhvr>
                                        <p:cTn id="94" dur="1" fill="hold">
                                          <p:stCondLst>
                                            <p:cond delay="0"/>
                                          </p:stCondLst>
                                        </p:cTn>
                                        <p:tgtEl>
                                          <p:spTgt spid="19"/>
                                        </p:tgtEl>
                                        <p:attrNameLst>
                                          <p:attrName>style.visibility</p:attrName>
                                        </p:attrNameLst>
                                      </p:cBhvr>
                                      <p:to>
                                        <p:strVal val="visible"/>
                                      </p:to>
                                    </p:set>
                                    <p:animEffect transition="in" filter="fade">
                                      <p:cBhvr>
                                        <p:cTn id="95" dur="400"/>
                                        <p:tgtEl>
                                          <p:spTgt spid="19"/>
                                        </p:tgtEl>
                                      </p:cBhvr>
                                    </p:animEffect>
                                  </p:childTnLst>
                                </p:cTn>
                              </p:par>
                              <p:par>
                                <p:cTn id="96" presetID="10" presetClass="entr" presetSubtype="0" fill="hold" grpId="0" nodeType="withEffect">
                                  <p:stCondLst>
                                    <p:cond delay="1520"/>
                                  </p:stCondLst>
                                  <p:childTnLst>
                                    <p:set>
                                      <p:cBhvr>
                                        <p:cTn id="97" dur="1" fill="hold">
                                          <p:stCondLst>
                                            <p:cond delay="0"/>
                                          </p:stCondLst>
                                        </p:cTn>
                                        <p:tgtEl>
                                          <p:spTgt spid="12"/>
                                        </p:tgtEl>
                                        <p:attrNameLst>
                                          <p:attrName>style.visibility</p:attrName>
                                        </p:attrNameLst>
                                      </p:cBhvr>
                                      <p:to>
                                        <p:strVal val="visible"/>
                                      </p:to>
                                    </p:set>
                                    <p:animEffect transition="in" filter="fade">
                                      <p:cBhvr>
                                        <p:cTn id="98" dur="400"/>
                                        <p:tgtEl>
                                          <p:spTgt spid="12"/>
                                        </p:tgtEl>
                                      </p:cBhvr>
                                    </p:animEffect>
                                  </p:childTnLst>
                                </p:cTn>
                              </p:par>
                              <p:par>
                                <p:cTn id="99" presetID="10" presetClass="entr" presetSubtype="0" fill="hold" grpId="0" nodeType="withEffect">
                                  <p:stCondLst>
                                    <p:cond delay="1520"/>
                                  </p:stCondLst>
                                  <p:childTnLst>
                                    <p:set>
                                      <p:cBhvr>
                                        <p:cTn id="100" dur="1" fill="hold">
                                          <p:stCondLst>
                                            <p:cond delay="0"/>
                                          </p:stCondLst>
                                        </p:cTn>
                                        <p:tgtEl>
                                          <p:spTgt spid="16"/>
                                        </p:tgtEl>
                                        <p:attrNameLst>
                                          <p:attrName>style.visibility</p:attrName>
                                        </p:attrNameLst>
                                      </p:cBhvr>
                                      <p:to>
                                        <p:strVal val="visible"/>
                                      </p:to>
                                    </p:set>
                                    <p:animEffect transition="in" filter="fade">
                                      <p:cBhvr>
                                        <p:cTn id="101" dur="400"/>
                                        <p:tgtEl>
                                          <p:spTgt spid="16"/>
                                        </p:tgtEl>
                                      </p:cBhvr>
                                    </p:animEffect>
                                  </p:childTnLst>
                                </p:cTn>
                              </p:par>
                              <p:par>
                                <p:cTn id="102" presetID="10" presetClass="entr" presetSubtype="0" fill="hold" grpId="0" nodeType="withEffect">
                                  <p:stCondLst>
                                    <p:cond delay="1520"/>
                                  </p:stCondLst>
                                  <p:childTnLst>
                                    <p:set>
                                      <p:cBhvr>
                                        <p:cTn id="103" dur="1" fill="hold">
                                          <p:stCondLst>
                                            <p:cond delay="0"/>
                                          </p:stCondLst>
                                        </p:cTn>
                                        <p:tgtEl>
                                          <p:spTgt spid="20"/>
                                        </p:tgtEl>
                                        <p:attrNameLst>
                                          <p:attrName>style.visibility</p:attrName>
                                        </p:attrNameLst>
                                      </p:cBhvr>
                                      <p:to>
                                        <p:strVal val="visible"/>
                                      </p:to>
                                    </p:set>
                                    <p:animEffect transition="in" filter="fade">
                                      <p:cBhvr>
                                        <p:cTn id="104" dur="400"/>
                                        <p:tgtEl>
                                          <p:spTgt spid="20"/>
                                        </p:tgtEl>
                                      </p:cBhvr>
                                    </p:animEffect>
                                  </p:childTnLst>
                                </p:cTn>
                              </p:par>
                              <p:par>
                                <p:cTn id="105" presetID="10" presetClass="entr" presetSubtype="0" fill="hold" grpId="0" nodeType="withEffect">
                                  <p:stCondLst>
                                    <p:cond delay="1580"/>
                                  </p:stCondLst>
                                  <p:childTnLst>
                                    <p:set>
                                      <p:cBhvr>
                                        <p:cTn id="106" dur="1" fill="hold">
                                          <p:stCondLst>
                                            <p:cond delay="0"/>
                                          </p:stCondLst>
                                        </p:cTn>
                                        <p:tgtEl>
                                          <p:spTgt spid="13"/>
                                        </p:tgtEl>
                                        <p:attrNameLst>
                                          <p:attrName>style.visibility</p:attrName>
                                        </p:attrNameLst>
                                      </p:cBhvr>
                                      <p:to>
                                        <p:strVal val="visible"/>
                                      </p:to>
                                    </p:set>
                                    <p:animEffect transition="in" filter="fade">
                                      <p:cBhvr>
                                        <p:cTn id="107" dur="400"/>
                                        <p:tgtEl>
                                          <p:spTgt spid="13"/>
                                        </p:tgtEl>
                                      </p:cBhvr>
                                    </p:animEffect>
                                  </p:childTnLst>
                                </p:cTn>
                              </p:par>
                              <p:par>
                                <p:cTn id="108" presetID="10" presetClass="entr" presetSubtype="0" fill="hold" grpId="0" nodeType="withEffect">
                                  <p:stCondLst>
                                    <p:cond delay="1580"/>
                                  </p:stCondLst>
                                  <p:childTnLst>
                                    <p:set>
                                      <p:cBhvr>
                                        <p:cTn id="109" dur="1" fill="hold">
                                          <p:stCondLst>
                                            <p:cond delay="0"/>
                                          </p:stCondLst>
                                        </p:cTn>
                                        <p:tgtEl>
                                          <p:spTgt spid="17"/>
                                        </p:tgtEl>
                                        <p:attrNameLst>
                                          <p:attrName>style.visibility</p:attrName>
                                        </p:attrNameLst>
                                      </p:cBhvr>
                                      <p:to>
                                        <p:strVal val="visible"/>
                                      </p:to>
                                    </p:set>
                                    <p:animEffect transition="in" filter="fade">
                                      <p:cBhvr>
                                        <p:cTn id="110" dur="400"/>
                                        <p:tgtEl>
                                          <p:spTgt spid="17"/>
                                        </p:tgtEl>
                                      </p:cBhvr>
                                    </p:animEffect>
                                  </p:childTnLst>
                                </p:cTn>
                              </p:par>
                              <p:par>
                                <p:cTn id="111" presetID="10" presetClass="entr" presetSubtype="0" fill="hold" grpId="0" nodeType="withEffect">
                                  <p:stCondLst>
                                    <p:cond delay="1580"/>
                                  </p:stCondLst>
                                  <p:childTnLst>
                                    <p:set>
                                      <p:cBhvr>
                                        <p:cTn id="112" dur="1" fill="hold">
                                          <p:stCondLst>
                                            <p:cond delay="0"/>
                                          </p:stCondLst>
                                        </p:cTn>
                                        <p:tgtEl>
                                          <p:spTgt spid="21"/>
                                        </p:tgtEl>
                                        <p:attrNameLst>
                                          <p:attrName>style.visibility</p:attrName>
                                        </p:attrNameLst>
                                      </p:cBhvr>
                                      <p:to>
                                        <p:strVal val="visible"/>
                                      </p:to>
                                    </p:set>
                                    <p:animEffect transition="in" filter="fade">
                                      <p:cBhvr>
                                        <p:cTn id="113" dur="400"/>
                                        <p:tgtEl>
                                          <p:spTgt spid="21"/>
                                        </p:tgtEl>
                                      </p:cBhvr>
                                    </p:animEffect>
                                  </p:childTnLst>
                                </p:cTn>
                              </p:par>
                              <p:par>
                                <p:cTn id="114" presetID="42" presetClass="entr" presetSubtype="0" fill="hold" grpId="0" nodeType="withEffect">
                                  <p:stCondLst>
                                    <p:cond delay="1650"/>
                                  </p:stCondLst>
                                  <p:childTnLst>
                                    <p:set>
                                      <p:cBhvr>
                                        <p:cTn id="115" dur="1" fill="hold">
                                          <p:stCondLst>
                                            <p:cond delay="0"/>
                                          </p:stCondLst>
                                        </p:cTn>
                                        <p:tgtEl>
                                          <p:spTgt spid="39"/>
                                        </p:tgtEl>
                                        <p:attrNameLst>
                                          <p:attrName>style.visibility</p:attrName>
                                        </p:attrNameLst>
                                      </p:cBhvr>
                                      <p:to>
                                        <p:strVal val="visible"/>
                                      </p:to>
                                    </p:set>
                                    <p:anim calcmode="lin" valueType="num">
                                      <p:cBhvr>
                                        <p:cTn id="116" dur="550" fill="hold"/>
                                        <p:tgtEl>
                                          <p:spTgt spid="39"/>
                                        </p:tgtEl>
                                        <p:attrNameLst>
                                          <p:attrName>ppt_y</p:attrName>
                                        </p:attrNameLst>
                                      </p:cBhvr>
                                      <p:tavLst>
                                        <p:tav tm="0">
                                          <p:val>
                                            <p:strVal val="#ppt_y+.05"/>
                                          </p:val>
                                        </p:tav>
                                        <p:tav tm="100000">
                                          <p:val>
                                            <p:strVal val="#ppt_y"/>
                                          </p:val>
                                        </p:tav>
                                      </p:tavLst>
                                    </p:anim>
                                    <p:animEffect transition="in" filter="fade">
                                      <p:cBhvr>
                                        <p:cTn id="117" dur="550"/>
                                        <p:tgtEl>
                                          <p:spTgt spid="39"/>
                                        </p:tgtEl>
                                      </p:cBhvr>
                                    </p:animEffect>
                                  </p:childTnLst>
                                </p:cTn>
                              </p:par>
                              <p:par>
                                <p:cTn id="118" presetID="42" presetClass="entr" presetSubtype="0" fill="hold" nodeType="withEffect">
                                  <p:stCondLst>
                                    <p:cond delay="1650"/>
                                  </p:stCondLst>
                                  <p:childTnLst>
                                    <p:set>
                                      <p:cBhvr>
                                        <p:cTn id="119" dur="1" fill="hold">
                                          <p:stCondLst>
                                            <p:cond delay="0"/>
                                          </p:stCondLst>
                                        </p:cTn>
                                        <p:tgtEl>
                                          <p:spTgt spid="40"/>
                                        </p:tgtEl>
                                        <p:attrNameLst>
                                          <p:attrName>style.visibility</p:attrName>
                                        </p:attrNameLst>
                                      </p:cBhvr>
                                      <p:to>
                                        <p:strVal val="visible"/>
                                      </p:to>
                                    </p:set>
                                    <p:anim calcmode="lin" valueType="num">
                                      <p:cBhvr>
                                        <p:cTn id="120" dur="550" fill="hold"/>
                                        <p:tgtEl>
                                          <p:spTgt spid="40"/>
                                        </p:tgtEl>
                                        <p:attrNameLst>
                                          <p:attrName>ppt_y</p:attrName>
                                        </p:attrNameLst>
                                      </p:cBhvr>
                                      <p:tavLst>
                                        <p:tav tm="0">
                                          <p:val>
                                            <p:strVal val="#ppt_y+.05"/>
                                          </p:val>
                                        </p:tav>
                                        <p:tav tm="100000">
                                          <p:val>
                                            <p:strVal val="#ppt_y"/>
                                          </p:val>
                                        </p:tav>
                                      </p:tavLst>
                                    </p:anim>
                                    <p:animEffect transition="in" filter="fade">
                                      <p:cBhvr>
                                        <p:cTn id="121" dur="550"/>
                                        <p:tgtEl>
                                          <p:spTgt spid="40"/>
                                        </p:tgtEl>
                                      </p:cBhvr>
                                    </p:animEffect>
                                  </p:childTnLst>
                                </p:cTn>
                              </p:par>
                              <p:par>
                                <p:cTn id="122" presetID="42" presetClass="entr" presetSubtype="0" fill="hold" grpId="0" nodeType="withEffect">
                                  <p:stCondLst>
                                    <p:cond delay="1650"/>
                                  </p:stCondLst>
                                  <p:childTnLst>
                                    <p:set>
                                      <p:cBhvr>
                                        <p:cTn id="123" dur="1" fill="hold">
                                          <p:stCondLst>
                                            <p:cond delay="0"/>
                                          </p:stCondLst>
                                        </p:cTn>
                                        <p:tgtEl>
                                          <p:spTgt spid="41"/>
                                        </p:tgtEl>
                                        <p:attrNameLst>
                                          <p:attrName>style.visibility</p:attrName>
                                        </p:attrNameLst>
                                      </p:cBhvr>
                                      <p:to>
                                        <p:strVal val="visible"/>
                                      </p:to>
                                    </p:set>
                                    <p:anim calcmode="lin" valueType="num">
                                      <p:cBhvr>
                                        <p:cTn id="124" dur="550" fill="hold"/>
                                        <p:tgtEl>
                                          <p:spTgt spid="41"/>
                                        </p:tgtEl>
                                        <p:attrNameLst>
                                          <p:attrName>ppt_y</p:attrName>
                                        </p:attrNameLst>
                                      </p:cBhvr>
                                      <p:tavLst>
                                        <p:tav tm="0">
                                          <p:val>
                                            <p:strVal val="#ppt_y+.05"/>
                                          </p:val>
                                        </p:tav>
                                        <p:tav tm="100000">
                                          <p:val>
                                            <p:strVal val="#ppt_y"/>
                                          </p:val>
                                        </p:tav>
                                      </p:tavLst>
                                    </p:anim>
                                    <p:animEffect transition="in" filter="fade">
                                      <p:cBhvr>
                                        <p:cTn id="125" dur="550"/>
                                        <p:tgtEl>
                                          <p:spTgt spid="41"/>
                                        </p:tgtEl>
                                      </p:cBhvr>
                                    </p:animEffect>
                                  </p:childTnLst>
                                </p:cTn>
                              </p:par>
                              <p:par>
                                <p:cTn id="126" presetID="10" presetClass="entr" presetSubtype="0" fill="hold" grpId="0" nodeType="withEffect">
                                  <p:stCondLst>
                                    <p:cond delay="1800"/>
                                  </p:stCondLst>
                                  <p:childTnLst>
                                    <p:set>
                                      <p:cBhvr>
                                        <p:cTn id="127" dur="1" fill="hold">
                                          <p:stCondLst>
                                            <p:cond delay="0"/>
                                          </p:stCondLst>
                                        </p:cTn>
                                        <p:tgtEl>
                                          <p:spTgt spid="25"/>
                                        </p:tgtEl>
                                        <p:attrNameLst>
                                          <p:attrName>style.visibility</p:attrName>
                                        </p:attrNameLst>
                                      </p:cBhvr>
                                      <p:to>
                                        <p:strVal val="visible"/>
                                      </p:to>
                                    </p:set>
                                    <p:animEffect transition="in" filter="fade">
                                      <p:cBhvr>
                                        <p:cTn id="128" dur="500"/>
                                        <p:tgtEl>
                                          <p:spTgt spid="25"/>
                                        </p:tgtEl>
                                      </p:cBhvr>
                                    </p:animEffect>
                                  </p:childTnLst>
                                </p:cTn>
                              </p:par>
                              <p:par>
                                <p:cTn id="129" presetID="10" presetClass="entr" presetSubtype="0" fill="hold" grpId="0" nodeType="withEffect">
                                  <p:stCondLst>
                                    <p:cond delay="1800"/>
                                  </p:stCondLst>
                                  <p:childTnLst>
                                    <p:set>
                                      <p:cBhvr>
                                        <p:cTn id="130" dur="1" fill="hold">
                                          <p:stCondLst>
                                            <p:cond delay="0"/>
                                          </p:stCondLst>
                                        </p:cTn>
                                        <p:tgtEl>
                                          <p:spTgt spid="26"/>
                                        </p:tgtEl>
                                        <p:attrNameLst>
                                          <p:attrName>style.visibility</p:attrName>
                                        </p:attrNameLst>
                                      </p:cBhvr>
                                      <p:to>
                                        <p:strVal val="visible"/>
                                      </p:to>
                                    </p:set>
                                    <p:animEffect transition="in" filter="fade">
                                      <p:cBhvr>
                                        <p:cTn id="131" dur="500"/>
                                        <p:tgtEl>
                                          <p:spTgt spid="26"/>
                                        </p:tgtEl>
                                      </p:cBhvr>
                                    </p:animEffect>
                                  </p:childTnLst>
                                </p:cTn>
                              </p:par>
                              <p:par>
                                <p:cTn id="132" presetID="10" presetClass="entr" presetSubtype="0" fill="hold" grpId="0" nodeType="withEffect">
                                  <p:stCondLst>
                                    <p:cond delay="1800"/>
                                  </p:stCondLst>
                                  <p:childTnLst>
                                    <p:set>
                                      <p:cBhvr>
                                        <p:cTn id="133" dur="1" fill="hold">
                                          <p:stCondLst>
                                            <p:cond delay="0"/>
                                          </p:stCondLst>
                                        </p:cTn>
                                        <p:tgtEl>
                                          <p:spTgt spid="27"/>
                                        </p:tgtEl>
                                        <p:attrNameLst>
                                          <p:attrName>style.visibility</p:attrName>
                                        </p:attrNameLst>
                                      </p:cBhvr>
                                      <p:to>
                                        <p:strVal val="visible"/>
                                      </p:to>
                                    </p:set>
                                    <p:animEffect transition="in" filter="fade">
                                      <p:cBhvr>
                                        <p:cTn id="134" dur="500"/>
                                        <p:tgtEl>
                                          <p:spTgt spid="27"/>
                                        </p:tgtEl>
                                      </p:cBhvr>
                                    </p:animEffect>
                                  </p:childTnLst>
                                </p:cTn>
                              </p:par>
                              <p:par>
                                <p:cTn id="135" presetID="10" presetClass="entr" presetSubtype="0" fill="hold" grpId="0" nodeType="withEffect">
                                  <p:stCondLst>
                                    <p:cond delay="1800"/>
                                  </p:stCondLst>
                                  <p:childTnLst>
                                    <p:set>
                                      <p:cBhvr>
                                        <p:cTn id="136" dur="1" fill="hold">
                                          <p:stCondLst>
                                            <p:cond delay="0"/>
                                          </p:stCondLst>
                                        </p:cTn>
                                        <p:tgtEl>
                                          <p:spTgt spid="28"/>
                                        </p:tgtEl>
                                        <p:attrNameLst>
                                          <p:attrName>style.visibility</p:attrName>
                                        </p:attrNameLst>
                                      </p:cBhvr>
                                      <p:to>
                                        <p:strVal val="visible"/>
                                      </p:to>
                                    </p:set>
                                    <p:animEffect transition="in" filter="fade">
                                      <p:cBhvr>
                                        <p:cTn id="137" dur="500"/>
                                        <p:tgtEl>
                                          <p:spTgt spid="28"/>
                                        </p:tgtEl>
                                      </p:cBhvr>
                                    </p:animEffect>
                                  </p:childTnLst>
                                </p:cTn>
                              </p:par>
                              <p:par>
                                <p:cTn id="138" presetID="10" presetClass="entr" presetSubtype="0" fill="hold" grpId="0" nodeType="withEffect">
                                  <p:stCondLst>
                                    <p:cond delay="2000"/>
                                  </p:stCondLst>
                                  <p:childTnLst>
                                    <p:set>
                                      <p:cBhvr>
                                        <p:cTn id="139" dur="1" fill="hold">
                                          <p:stCondLst>
                                            <p:cond delay="0"/>
                                          </p:stCondLst>
                                        </p:cTn>
                                        <p:tgtEl>
                                          <p:spTgt spid="42"/>
                                        </p:tgtEl>
                                        <p:attrNameLst>
                                          <p:attrName>style.visibility</p:attrName>
                                        </p:attrNameLst>
                                      </p:cBhvr>
                                      <p:to>
                                        <p:strVal val="visible"/>
                                      </p:to>
                                    </p:set>
                                    <p:animEffect transition="in" filter="fade">
                                      <p:cBhvr>
                                        <p:cTn id="140" dur="500"/>
                                        <p:tgtEl>
                                          <p:spTgt spid="42"/>
                                        </p:tgtEl>
                                      </p:cBhvr>
                                    </p:animEffect>
                                  </p:childTnLst>
                                </p:cTn>
                              </p:par>
                              <p:par>
                                <p:cTn id="141" presetID="10" presetClass="entr" presetSubtype="0" fill="hold" grpId="0" nodeType="withEffect">
                                  <p:stCondLst>
                                    <p:cond delay="200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3" dur="500"/>
                                        <p:tgtEl>
                                          <p:spTgt spid="43"/>
                                        </p:tgtEl>
                                      </p:cBhvr>
                                    </p:animEffect>
                                  </p:childTnLst>
                                </p:cTn>
                              </p:par>
                              <p:par>
                                <p:cTn id="144" presetID="10" presetClass="entr" presetSubtype="0" fill="hold" grpId="0" nodeType="withEffect">
                                  <p:stCondLst>
                                    <p:cond delay="2200"/>
                                  </p:stCondLst>
                                  <p:childTnLst>
                                    <p:set>
                                      <p:cBhvr>
                                        <p:cTn id="145" dur="1" fill="hold">
                                          <p:stCondLst>
                                            <p:cond delay="0"/>
                                          </p:stCondLst>
                                        </p:cTn>
                                        <p:tgtEl>
                                          <p:spTgt spid="44"/>
                                        </p:tgtEl>
                                        <p:attrNameLst>
                                          <p:attrName>style.visibility</p:attrName>
                                        </p:attrNameLst>
                                      </p:cBhvr>
                                      <p:to>
                                        <p:strVal val="visible"/>
                                      </p:to>
                                    </p:set>
                                    <p:animEffect transition="in" filter="fade">
                                      <p:cBhvr>
                                        <p:cTn id="146"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22" grpId="0" animBg="1"/>
      <p:bldP spid="24" grpId="0"/>
      <p:bldP spid="4" grpId="0" animBg="1"/>
      <p:bldP spid="29" grpId="0" animBg="1"/>
      <p:bldP spid="7" grpId="0"/>
      <p:bldP spid="5" grpId="0" animBg="1"/>
      <p:bldP spid="30" grpId="0" animBg="1"/>
      <p:bldP spid="32" grpId="0"/>
      <p:bldP spid="8" grpId="0"/>
      <p:bldP spid="6" grpId="0" animBg="1"/>
      <p:bldP spid="33" grpId="0" animBg="1"/>
      <p:bldP spid="35" grpId="0"/>
      <p:bldP spid="9" grpId="0"/>
      <p:bldP spid="36" grpId="0" animBg="1"/>
      <p:bldP spid="38" grpId="0"/>
      <p:bldP spid="10" grpId="0" animBg="1"/>
      <p:bldP spid="14" grpId="0" animBg="1"/>
      <p:bldP spid="18" grpId="0" animBg="1"/>
      <p:bldP spid="11" grpId="0" animBg="1"/>
      <p:bldP spid="15" grpId="0" animBg="1"/>
      <p:bldP spid="19" grpId="0" animBg="1"/>
      <p:bldP spid="12" grpId="0" animBg="1"/>
      <p:bldP spid="16" grpId="0" animBg="1"/>
      <p:bldP spid="20" grpId="0" animBg="1"/>
      <p:bldP spid="13" grpId="0" animBg="1"/>
      <p:bldP spid="17" grpId="0" animBg="1"/>
      <p:bldP spid="21" grpId="0" animBg="1"/>
      <p:bldP spid="39" grpId="0" animBg="1"/>
      <p:bldP spid="41" grpId="0"/>
      <p:bldP spid="25" grpId="0" animBg="1"/>
      <p:bldP spid="26" grpId="0"/>
      <p:bldP spid="27" grpId="0" animBg="1"/>
      <p:bldP spid="28" grpId="0"/>
      <p:bldP spid="42" grpId="0" animBg="1"/>
      <p:bldP spid="43" grpId="0"/>
      <p:bldP spid="44"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685800" y="502920"/>
            <a:ext cx="7315200" cy="274320"/>
          </a:xfrm>
          <a:prstGeom prst="rect">
            <a:avLst/>
          </a:prstGeom>
          <a:noFill/>
          <a:ln/>
        </p:spPr>
        <p:txBody>
          <a:bodyPr wrap="square" lIns="0" tIns="0" rIns="0" bIns="0" rtlCol="0" anchor="t"/>
          <a:lstStyle/>
          <a:p>
            <a:pPr algn="l" indent="0" marL="0">
              <a:buNone/>
            </a:pPr>
            <a:r>
              <a:rPr lang="en-US" sz="1300" b="1" spc="300" kern="0" dirty="0">
                <a:solidFill>
                  <a:srgbClr val="3FD39B"/>
                </a:solidFill>
              </a:rPr>
              <a:t>CURRENT TRACTION</a:t>
            </a:r>
            <a:endParaRPr lang="en-US" sz="1300" dirty="0"/>
          </a:p>
        </p:txBody>
      </p:sp>
      <p:sp>
        <p:nvSpPr>
          <p:cNvPr id="3" name="Text 0"/>
          <p:cNvSpPr/>
          <p:nvPr>
            <p:ph idx="101" type="title" hasCustomPrompt="1"/>
          </p:nvPr>
        </p:nvSpPr>
        <p:spPr>
          <a:xfrm>
            <a:off x="685800" y="841248"/>
            <a:ext cx="10820400" cy="1325880"/>
          </a:xfrm>
          <a:prstGeom prst="rect">
            <a:avLst/>
          </a:prstGeom>
          <a:noFill/>
          <a:ln/>
        </p:spPr>
        <p:txBody>
          <a:bodyPr wrap="square" lIns="0" tIns="0" rIns="0" bIns="0" rtlCol="0" anchor="t"/>
          <a:lstStyle/>
          <a:p>
            <a:pPr algn="l" indent="0" marL="0">
              <a:lnSpc>
                <a:spcPct val="95000"/>
              </a:lnSpc>
              <a:buNone/>
            </a:pPr>
            <a:r>
              <a:rPr lang="en-US" sz="4000" b="1" dirty="0">
                <a:solidFill>
                  <a:schemeClr val="bg1"/>
                </a:solidFill>
                <a:latin typeface="+mj-lt" pitchFamily="34" charset="0"/>
                <a:ea typeface="+mj-lt" pitchFamily="34" charset="-122"/>
                <a:cs typeface="+mj-lt" pitchFamily="34" charset="-120"/>
              </a:rPr>
              <a:t>What we have </a:t>
            </a:r>
            <a:pPr algn="l" indent="0" marL="0">
              <a:lnSpc>
                <a:spcPct val="95000"/>
              </a:lnSpc>
              <a:buNone/>
            </a:pPr>
            <a:r>
              <a:rPr lang="en-US" sz="4000" b="1" i="1" dirty="0">
                <a:solidFill>
                  <a:srgbClr val="3FD39B"/>
                </a:solidFill>
                <a:latin typeface="+mj-lt" pitchFamily="34" charset="0"/>
                <a:ea typeface="+mj-lt" pitchFamily="34" charset="-122"/>
                <a:cs typeface="+mj-lt" pitchFamily="34" charset="-120"/>
              </a:rPr>
              <a:t>seen so far.</a:t>
            </a:r>
            <a:endParaRPr lang="en-US" sz="4000" dirty="0"/>
          </a:p>
        </p:txBody>
      </p:sp>
      <p:sp>
        <p:nvSpPr>
          <p:cNvPr id="4" name="Tag reported"/>
          <p:cNvSpPr/>
          <p:nvPr/>
        </p:nvSpPr>
        <p:spPr>
          <a:xfrm>
            <a:off x="685800" y="1938528"/>
            <a:ext cx="2880360"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spc="100" kern="0" dirty="0">
                <a:solidFill>
                  <a:schemeClr val="tx1"/>
                </a:solidFill>
              </a:rPr>
              <a:t>FOUNDER-REPORTED · NOT AUDITED</a:t>
            </a:r>
            <a:endParaRPr lang="en-US" sz="1200" dirty="0"/>
          </a:p>
        </p:txBody>
      </p:sp>
      <p:sp>
        <p:nvSpPr>
          <p:cNvPr id="5" name="Sales figure"/>
          <p:cNvSpPr txBox="1"/>
          <p:nvPr/>
        </p:nvSpPr>
        <p:spPr>
          <a:xfrm>
            <a:off x="640080" y="2240280"/>
            <a:ext cx="7040880" cy="1645920"/>
          </a:xfrm>
          <a:prstGeom prst="rect">
            <a:avLst/>
          </a:prstGeom>
          <a:noFill/>
          <a:ln/>
        </p:spPr>
        <p:txBody>
          <a:bodyPr wrap="square" lIns="0" tIns="0" rIns="0" bIns="0" rtlCol="0" anchor="ctr"/>
          <a:lstStyle/>
          <a:p>
            <a:pPr algn="l" indent="0" marL="0">
              <a:buNone/>
            </a:pPr>
            <a:r>
              <a:rPr lang="en-US" sz="6000" dirty="0">
                <a:solidFill>
                  <a:srgbClr val="3FD39B"/>
                </a:solidFill>
                <a:latin typeface="+mj-lt" pitchFamily="34" charset="0"/>
                <a:ea typeface="+mj-lt" pitchFamily="34" charset="-122"/>
                <a:cs typeface="+mj-lt" pitchFamily="34" charset="-120"/>
              </a:rPr>
              <a:t>≈ </a:t>
            </a:r>
            <a:pPr algn="l" indent="0" marL="0">
              <a:buNone/>
            </a:pPr>
            <a:r>
              <a:rPr lang="en-US" sz="11800" b="1" dirty="0">
                <a:solidFill>
                  <a:schemeClr val="accent3"/>
                </a:solidFill>
                <a:latin typeface="+mj-lt" pitchFamily="34" charset="0"/>
                <a:ea typeface="+mj-lt" pitchFamily="34" charset="-122"/>
                <a:cs typeface="+mj-lt" pitchFamily="34" charset="-120"/>
              </a:rPr>
              <a:t>₱23,000</a:t>
            </a:r>
            <a:endParaRPr lang="en-US" sz="6000" dirty="0"/>
          </a:p>
        </p:txBody>
      </p:sp>
      <p:sp>
        <p:nvSpPr>
          <p:cNvPr id="6" name="Sales caption"/>
          <p:cNvSpPr txBox="1"/>
          <p:nvPr/>
        </p:nvSpPr>
        <p:spPr>
          <a:xfrm>
            <a:off x="713232" y="3913632"/>
            <a:ext cx="6949440" cy="411480"/>
          </a:xfrm>
          <a:prstGeom prst="rect">
            <a:avLst/>
          </a:prstGeom>
          <a:noFill/>
          <a:ln/>
        </p:spPr>
        <p:txBody>
          <a:bodyPr wrap="square" lIns="0" tIns="0" rIns="0" bIns="0" rtlCol="0" anchor="t"/>
          <a:lstStyle/>
          <a:p>
            <a:pPr algn="l" indent="0" marL="0">
              <a:buNone/>
            </a:pPr>
            <a:r>
              <a:rPr lang="en-US" sz="2200" dirty="0">
                <a:solidFill>
                  <a:srgbClr val="EBEEED"/>
                </a:solidFill>
              </a:rPr>
              <a:t>in sales through the earlier web app, over several months.</a:t>
            </a:r>
            <a:endParaRPr lang="en-US" sz="2200" dirty="0"/>
          </a:p>
        </p:txBody>
      </p:sp>
      <p:sp>
        <p:nvSpPr>
          <p:cNvPr id="7" name="Tile 1 card"/>
          <p:cNvSpPr/>
          <p:nvPr/>
        </p:nvSpPr>
        <p:spPr>
          <a:xfrm>
            <a:off x="713232" y="4681728"/>
            <a:ext cx="2240280" cy="1325880"/>
          </a:xfrm>
          <a:prstGeom prst="roundRect">
            <a:avLst>
              <a:gd name="adj" fmla="val 6897"/>
            </a:avLst>
          </a:prstGeom>
          <a:solidFill>
            <a:schemeClr val="bg1">
              <a:alpha val="8000"/>
            </a:schemeClr>
          </a:solidFill>
          <a:ln w="9525">
            <a:solidFill>
              <a:schemeClr val="bg1">
                <a:alpha val="18000"/>
              </a:schemeClr>
            </a:solidFill>
            <a:prstDash val="solid"/>
          </a:ln>
        </p:spPr>
      </p:sp>
      <p:sp>
        <p:nvSpPr>
          <p:cNvPr id="8" name="Tile 1"/>
          <p:cNvSpPr txBox="1"/>
          <p:nvPr/>
        </p:nvSpPr>
        <p:spPr>
          <a:xfrm>
            <a:off x="896112" y="4846320"/>
            <a:ext cx="1920240" cy="1051560"/>
          </a:xfrm>
          <a:prstGeom prst="rect">
            <a:avLst/>
          </a:prstGeom>
          <a:noFill/>
          <a:ln/>
        </p:spPr>
        <p:txBody>
          <a:bodyPr wrap="square" lIns="0" tIns="0" rIns="0" bIns="0" rtlCol="0" anchor="t"/>
          <a:lstStyle/>
          <a:p>
            <a:pPr algn="l" indent="0" marL="0">
              <a:lnSpc>
                <a:spcPct val="102000"/>
              </a:lnSpc>
              <a:spcAft>
                <a:spcPts val="400"/>
              </a:spcAft>
              <a:buNone/>
            </a:pPr>
            <a:r>
              <a:rPr lang="en-US" sz="1200" b="1" spc="300" kern="0" dirty="0">
                <a:solidFill>
                  <a:srgbClr val="3FD39B"/>
                </a:solidFill>
              </a:rPr>
              <a:t>ANDROID</a:t>
            </a:r>
            <a:endParaRPr lang="en-US" sz="1200" dirty="0"/>
          </a:p>
          <a:p>
            <a:pPr algn="l" indent="0" marL="0">
              <a:lnSpc>
                <a:spcPct val="102000"/>
              </a:lnSpc>
              <a:buNone/>
            </a:pPr>
            <a:r>
              <a:rPr lang="en-US" sz="1500" dirty="0">
                <a:solidFill>
                  <a:schemeClr val="bg1"/>
                </a:solidFill>
              </a:rPr>
              <a:t>Available on Google Play.</a:t>
            </a:r>
            <a:endParaRPr lang="en-US" sz="1200" dirty="0"/>
          </a:p>
        </p:txBody>
      </p:sp>
      <p:sp>
        <p:nvSpPr>
          <p:cNvPr id="9" name="Tile 2 card"/>
          <p:cNvSpPr/>
          <p:nvPr/>
        </p:nvSpPr>
        <p:spPr>
          <a:xfrm>
            <a:off x="3108960" y="4681728"/>
            <a:ext cx="2240280" cy="1325880"/>
          </a:xfrm>
          <a:prstGeom prst="roundRect">
            <a:avLst>
              <a:gd name="adj" fmla="val 6897"/>
            </a:avLst>
          </a:prstGeom>
          <a:solidFill>
            <a:schemeClr val="bg1">
              <a:alpha val="8000"/>
            </a:schemeClr>
          </a:solidFill>
          <a:ln w="9525">
            <a:solidFill>
              <a:schemeClr val="bg1">
                <a:alpha val="18000"/>
              </a:schemeClr>
            </a:solidFill>
            <a:prstDash val="solid"/>
          </a:ln>
        </p:spPr>
      </p:sp>
      <p:sp>
        <p:nvSpPr>
          <p:cNvPr id="10" name="Tile 2"/>
          <p:cNvSpPr txBox="1"/>
          <p:nvPr/>
        </p:nvSpPr>
        <p:spPr>
          <a:xfrm>
            <a:off x="3291840" y="4846320"/>
            <a:ext cx="1920240" cy="1051560"/>
          </a:xfrm>
          <a:prstGeom prst="rect">
            <a:avLst/>
          </a:prstGeom>
          <a:noFill/>
          <a:ln/>
        </p:spPr>
        <p:txBody>
          <a:bodyPr wrap="square" lIns="0" tIns="0" rIns="0" bIns="0" rtlCol="0" anchor="t"/>
          <a:lstStyle/>
          <a:p>
            <a:pPr algn="l" indent="0" marL="0">
              <a:lnSpc>
                <a:spcPct val="102000"/>
              </a:lnSpc>
              <a:spcAft>
                <a:spcPts val="400"/>
              </a:spcAft>
              <a:buNone/>
            </a:pPr>
            <a:r>
              <a:rPr lang="en-US" sz="1200" b="1" spc="300" kern="0" dirty="0">
                <a:solidFill>
                  <a:srgbClr val="3FD39B"/>
                </a:solidFill>
              </a:rPr>
              <a:t>IPHONE</a:t>
            </a:r>
            <a:endParaRPr lang="en-US" sz="1200" dirty="0"/>
          </a:p>
          <a:p>
            <a:pPr algn="l" indent="0" marL="0">
              <a:lnSpc>
                <a:spcPct val="102000"/>
              </a:lnSpc>
              <a:buNone/>
            </a:pPr>
            <a:r>
              <a:rPr lang="en-US" sz="1500" dirty="0">
                <a:solidFill>
                  <a:schemeClr val="bg1"/>
                </a:solidFill>
              </a:rPr>
              <a:t>App Store approval pending as of October 2026.</a:t>
            </a:r>
            <a:endParaRPr lang="en-US" sz="1200" dirty="0"/>
          </a:p>
        </p:txBody>
      </p:sp>
      <p:sp>
        <p:nvSpPr>
          <p:cNvPr id="11" name="Tile 3 card"/>
          <p:cNvSpPr/>
          <p:nvPr/>
        </p:nvSpPr>
        <p:spPr>
          <a:xfrm>
            <a:off x="5504688" y="4681728"/>
            <a:ext cx="2240280" cy="1325880"/>
          </a:xfrm>
          <a:prstGeom prst="roundRect">
            <a:avLst>
              <a:gd name="adj" fmla="val 6897"/>
            </a:avLst>
          </a:prstGeom>
          <a:solidFill>
            <a:schemeClr val="bg1">
              <a:alpha val="8000"/>
            </a:schemeClr>
          </a:solidFill>
          <a:ln w="9525">
            <a:solidFill>
              <a:schemeClr val="bg1">
                <a:alpha val="18000"/>
              </a:schemeClr>
            </a:solidFill>
            <a:prstDash val="solid"/>
          </a:ln>
        </p:spPr>
      </p:sp>
      <p:sp>
        <p:nvSpPr>
          <p:cNvPr id="12" name="Tile 3"/>
          <p:cNvSpPr txBox="1"/>
          <p:nvPr/>
        </p:nvSpPr>
        <p:spPr>
          <a:xfrm>
            <a:off x="5687568" y="4846320"/>
            <a:ext cx="1920240" cy="1051560"/>
          </a:xfrm>
          <a:prstGeom prst="rect">
            <a:avLst/>
          </a:prstGeom>
          <a:noFill/>
          <a:ln/>
        </p:spPr>
        <p:txBody>
          <a:bodyPr wrap="square" lIns="0" tIns="0" rIns="0" bIns="0" rtlCol="0" anchor="t"/>
          <a:lstStyle/>
          <a:p>
            <a:pPr algn="l" indent="0" marL="0">
              <a:lnSpc>
                <a:spcPct val="102000"/>
              </a:lnSpc>
              <a:spcAft>
                <a:spcPts val="400"/>
              </a:spcAft>
              <a:buNone/>
            </a:pPr>
            <a:r>
              <a:rPr lang="en-US" sz="1200" b="1" spc="300" kern="0" dirty="0">
                <a:solidFill>
                  <a:srgbClr val="3FD39B"/>
                </a:solidFill>
              </a:rPr>
              <a:t>RELIABILITY</a:t>
            </a:r>
            <a:endParaRPr lang="en-US" sz="1200" dirty="0"/>
          </a:p>
          <a:p>
            <a:pPr algn="l" indent="0" marL="0">
              <a:lnSpc>
                <a:spcPct val="102000"/>
              </a:lnSpc>
              <a:buNone/>
            </a:pPr>
            <a:r>
              <a:rPr lang="en-US" sz="1500" dirty="0">
                <a:solidFill>
                  <a:schemeClr val="bg1"/>
                </a:solidFill>
              </a:rPr>
              <a:t>Sales came despite notification problems.</a:t>
            </a:r>
            <a:endParaRPr lang="en-US" sz="1200" dirty="0"/>
          </a:p>
        </p:txBody>
      </p:sp>
      <p:sp>
        <p:nvSpPr>
          <p:cNvPr id="13" name="Read card"/>
          <p:cNvSpPr/>
          <p:nvPr/>
        </p:nvSpPr>
        <p:spPr>
          <a:xfrm>
            <a:off x="8229600" y="1874520"/>
            <a:ext cx="3291840" cy="4297680"/>
          </a:xfrm>
          <a:prstGeom prst="roundRect">
            <a:avLst>
              <a:gd name="adj" fmla="val 3333"/>
            </a:avLst>
          </a:prstGeom>
          <a:solidFill>
            <a:schemeClr val="bg1">
              <a:alpha val="7000"/>
            </a:schemeClr>
          </a:solidFill>
          <a:ln w="9525">
            <a:solidFill>
              <a:schemeClr val="bg1">
                <a:alpha val="18000"/>
              </a:schemeClr>
            </a:solidFill>
            <a:prstDash val="solid"/>
          </a:ln>
        </p:spPr>
      </p:sp>
      <p:sp>
        <p:nvSpPr>
          <p:cNvPr id="14" name="Read label"/>
          <p:cNvSpPr txBox="1"/>
          <p:nvPr/>
        </p:nvSpPr>
        <p:spPr>
          <a:xfrm>
            <a:off x="8503920" y="2057400"/>
            <a:ext cx="2743200" cy="274320"/>
          </a:xfrm>
          <a:prstGeom prst="rect">
            <a:avLst/>
          </a:prstGeom>
          <a:noFill/>
          <a:ln/>
        </p:spPr>
        <p:txBody>
          <a:bodyPr wrap="square" lIns="0" tIns="0" rIns="0" bIns="0" rtlCol="0" anchor="t"/>
          <a:lstStyle/>
          <a:p>
            <a:pPr algn="l" indent="0" marL="0">
              <a:buNone/>
            </a:pPr>
            <a:r>
              <a:rPr lang="en-US" sz="1200" b="1" spc="200" kern="0" dirty="0">
                <a:solidFill>
                  <a:srgbClr val="3FD39B"/>
                </a:solidFill>
              </a:rPr>
              <a:t>HOW TO READ THIS NUMBER</a:t>
            </a:r>
            <a:endParaRPr lang="en-US" sz="1200" dirty="0"/>
          </a:p>
        </p:txBody>
      </p:sp>
      <p:sp>
        <p:nvSpPr>
          <p:cNvPr id="15" name="Is label"/>
          <p:cNvSpPr txBox="1"/>
          <p:nvPr/>
        </p:nvSpPr>
        <p:spPr>
          <a:xfrm>
            <a:off x="8503920" y="2450592"/>
            <a:ext cx="1371600" cy="274320"/>
          </a:xfrm>
          <a:prstGeom prst="rect">
            <a:avLst/>
          </a:prstGeom>
          <a:noFill/>
          <a:ln/>
        </p:spPr>
        <p:txBody>
          <a:bodyPr wrap="square" lIns="0" tIns="0" rIns="0" bIns="0" rtlCol="0" anchor="t"/>
          <a:lstStyle/>
          <a:p>
            <a:pPr algn="l" indent="0" marL="0">
              <a:buNone/>
            </a:pPr>
            <a:r>
              <a:rPr lang="en-US" sz="1500" b="1" dirty="0">
                <a:solidFill>
                  <a:schemeClr val="bg1"/>
                </a:solidFill>
              </a:rPr>
              <a:t>It is</a:t>
            </a:r>
            <a:endParaRPr lang="en-US" sz="1500" dirty="0"/>
          </a:p>
        </p:txBody>
      </p:sp>
      <p:sp>
        <p:nvSpPr>
          <p:cNvPr id="16" name="Is text"/>
          <p:cNvSpPr txBox="1"/>
          <p:nvPr/>
        </p:nvSpPr>
        <p:spPr>
          <a:xfrm>
            <a:off x="8503920" y="2743200"/>
            <a:ext cx="2743200" cy="594360"/>
          </a:xfrm>
          <a:prstGeom prst="rect">
            <a:avLst/>
          </a:prstGeom>
          <a:noFill/>
          <a:ln/>
        </p:spPr>
        <p:txBody>
          <a:bodyPr wrap="square" lIns="0" tIns="0" rIns="0" bIns="0" rtlCol="0" anchor="t"/>
          <a:lstStyle/>
          <a:p>
            <a:pPr algn="l" indent="0" marL="0">
              <a:lnSpc>
                <a:spcPct val="100000"/>
              </a:lnSpc>
              <a:buNone/>
            </a:pPr>
            <a:r>
              <a:rPr lang="en-US" sz="1500" dirty="0">
                <a:solidFill>
                  <a:srgbClr val="EBEEED"/>
                </a:solidFill>
              </a:rPr>
              <a:t>Sales reported by the founder from the earlier web app.</a:t>
            </a:r>
            <a:endParaRPr lang="en-US" sz="1500" dirty="0"/>
          </a:p>
        </p:txBody>
      </p:sp>
      <p:sp>
        <p:nvSpPr>
          <p:cNvPr id="17" name="Not label"/>
          <p:cNvSpPr txBox="1"/>
          <p:nvPr/>
        </p:nvSpPr>
        <p:spPr>
          <a:xfrm>
            <a:off x="8503920" y="3429000"/>
            <a:ext cx="1645920" cy="274320"/>
          </a:xfrm>
          <a:prstGeom prst="rect">
            <a:avLst/>
          </a:prstGeom>
          <a:noFill/>
          <a:ln/>
        </p:spPr>
        <p:txBody>
          <a:bodyPr wrap="square" lIns="0" tIns="0" rIns="0" bIns="0" rtlCol="0" anchor="t"/>
          <a:lstStyle/>
          <a:p>
            <a:pPr algn="l" indent="0" marL="0">
              <a:buNone/>
            </a:pPr>
            <a:r>
              <a:rPr lang="en-US" sz="1500" b="1" dirty="0">
                <a:solidFill>
                  <a:schemeClr val="accent3"/>
                </a:solidFill>
              </a:rPr>
              <a:t>It is not</a:t>
            </a:r>
            <a:endParaRPr lang="en-US" sz="1500" dirty="0"/>
          </a:p>
        </p:txBody>
      </p:sp>
      <p:pic>
        <p:nvPicPr>
          <p:cNvPr id="18" name="Not 1 icon" descr="x icon">    </p:cNvPr>
          <p:cNvPicPr>
            <a:picLocks noChangeAspect="1"/>
          </p:cNvPicPr>
          <p:nvPr/>
        </p:nvPicPr>
        <p:blipFill>
          <a:blip r:embed="rId1"/>
          <a:stretch>
            <a:fillRect/>
          </a:stretch>
        </p:blipFill>
        <p:spPr>
          <a:xfrm>
            <a:off x="8503920" y="3794760"/>
            <a:ext cx="201168" cy="201168"/>
          </a:xfrm>
          <a:prstGeom prst="rect">
            <a:avLst/>
          </a:prstGeom>
        </p:spPr>
      </p:pic>
      <p:sp>
        <p:nvSpPr>
          <p:cNvPr id="19" name="Not 1"/>
          <p:cNvSpPr txBox="1"/>
          <p:nvPr/>
        </p:nvSpPr>
        <p:spPr>
          <a:xfrm>
            <a:off x="8823960" y="3767328"/>
            <a:ext cx="2423160" cy="292608"/>
          </a:xfrm>
          <a:prstGeom prst="rect">
            <a:avLst/>
          </a:prstGeom>
          <a:noFill/>
          <a:ln/>
        </p:spPr>
        <p:txBody>
          <a:bodyPr wrap="square" lIns="0" tIns="0" rIns="0" bIns="0" rtlCol="0" anchor="ctr"/>
          <a:lstStyle/>
          <a:p>
            <a:pPr algn="l" indent="0" marL="0">
              <a:buNone/>
            </a:pPr>
            <a:r>
              <a:rPr lang="en-US" sz="1500" dirty="0">
                <a:solidFill>
                  <a:srgbClr val="F0F2F1"/>
                </a:solidFill>
              </a:rPr>
              <a:t>Profit</a:t>
            </a:r>
            <a:endParaRPr lang="en-US" sz="1500" dirty="0"/>
          </a:p>
        </p:txBody>
      </p:sp>
      <p:pic>
        <p:nvPicPr>
          <p:cNvPr id="20" name="Not 2 icon" descr="x icon">    </p:cNvPr>
          <p:cNvPicPr>
            <a:picLocks noChangeAspect="1"/>
          </p:cNvPicPr>
          <p:nvPr/>
        </p:nvPicPr>
        <p:blipFill>
          <a:blip r:embed="rId2"/>
          <a:stretch>
            <a:fillRect/>
          </a:stretch>
        </p:blipFill>
        <p:spPr>
          <a:xfrm>
            <a:off x="8503920" y="4160520"/>
            <a:ext cx="201168" cy="201168"/>
          </a:xfrm>
          <a:prstGeom prst="rect">
            <a:avLst/>
          </a:prstGeom>
        </p:spPr>
      </p:pic>
      <p:sp>
        <p:nvSpPr>
          <p:cNvPr id="21" name="Not 2"/>
          <p:cNvSpPr txBox="1"/>
          <p:nvPr/>
        </p:nvSpPr>
        <p:spPr>
          <a:xfrm>
            <a:off x="8823960" y="4133088"/>
            <a:ext cx="2423160" cy="292608"/>
          </a:xfrm>
          <a:prstGeom prst="rect">
            <a:avLst/>
          </a:prstGeom>
          <a:noFill/>
          <a:ln/>
        </p:spPr>
        <p:txBody>
          <a:bodyPr wrap="square" lIns="0" tIns="0" rIns="0" bIns="0" rtlCol="0" anchor="ctr"/>
          <a:lstStyle/>
          <a:p>
            <a:pPr algn="l" indent="0" marL="0">
              <a:buNone/>
            </a:pPr>
            <a:r>
              <a:rPr lang="en-US" sz="1500" dirty="0">
                <a:solidFill>
                  <a:srgbClr val="F0F2F1"/>
                </a:solidFill>
              </a:rPr>
              <a:t>Lokal Finder’s revenue</a:t>
            </a:r>
            <a:endParaRPr lang="en-US" sz="1500" dirty="0"/>
          </a:p>
        </p:txBody>
      </p:sp>
      <p:pic>
        <p:nvPicPr>
          <p:cNvPr id="22" name="Not 3 icon" descr="x icon">    </p:cNvPr>
          <p:cNvPicPr>
            <a:picLocks noChangeAspect="1"/>
          </p:cNvPicPr>
          <p:nvPr/>
        </p:nvPicPr>
        <p:blipFill>
          <a:blip r:embed="rId3"/>
          <a:stretch>
            <a:fillRect/>
          </a:stretch>
        </p:blipFill>
        <p:spPr>
          <a:xfrm>
            <a:off x="8503920" y="4526280"/>
            <a:ext cx="201168" cy="201168"/>
          </a:xfrm>
          <a:prstGeom prst="rect">
            <a:avLst/>
          </a:prstGeom>
        </p:spPr>
      </p:pic>
      <p:sp>
        <p:nvSpPr>
          <p:cNvPr id="23" name="Not 3"/>
          <p:cNvSpPr txBox="1"/>
          <p:nvPr/>
        </p:nvSpPr>
        <p:spPr>
          <a:xfrm>
            <a:off x="8823960" y="4498848"/>
            <a:ext cx="2423160" cy="292608"/>
          </a:xfrm>
          <a:prstGeom prst="rect">
            <a:avLst/>
          </a:prstGeom>
          <a:noFill/>
          <a:ln/>
        </p:spPr>
        <p:txBody>
          <a:bodyPr wrap="square" lIns="0" tIns="0" rIns="0" bIns="0" rtlCol="0" anchor="ctr"/>
          <a:lstStyle/>
          <a:p>
            <a:pPr algn="l" indent="0" marL="0">
              <a:buNone/>
            </a:pPr>
            <a:r>
              <a:rPr lang="en-US" sz="1500" dirty="0">
                <a:solidFill>
                  <a:srgbClr val="F0F2F1"/>
                </a:solidFill>
              </a:rPr>
              <a:t>An audited figure</a:t>
            </a:r>
            <a:endParaRPr lang="en-US" sz="1500" dirty="0"/>
          </a:p>
        </p:txBody>
      </p:sp>
      <p:pic>
        <p:nvPicPr>
          <p:cNvPr id="24" name="Not 4 icon" descr="x icon">    </p:cNvPr>
          <p:cNvPicPr>
            <a:picLocks noChangeAspect="1"/>
          </p:cNvPicPr>
          <p:nvPr/>
        </p:nvPicPr>
        <p:blipFill>
          <a:blip r:embed="rId4"/>
          <a:stretch>
            <a:fillRect/>
          </a:stretch>
        </p:blipFill>
        <p:spPr>
          <a:xfrm>
            <a:off x="8503920" y="4892040"/>
            <a:ext cx="201168" cy="201168"/>
          </a:xfrm>
          <a:prstGeom prst="rect">
            <a:avLst/>
          </a:prstGeom>
        </p:spPr>
      </p:pic>
      <p:sp>
        <p:nvSpPr>
          <p:cNvPr id="25" name="Not 4"/>
          <p:cNvSpPr txBox="1"/>
          <p:nvPr/>
        </p:nvSpPr>
        <p:spPr>
          <a:xfrm>
            <a:off x="8823960" y="4864608"/>
            <a:ext cx="2423160" cy="292608"/>
          </a:xfrm>
          <a:prstGeom prst="rect">
            <a:avLst/>
          </a:prstGeom>
          <a:noFill/>
          <a:ln/>
        </p:spPr>
        <p:txBody>
          <a:bodyPr wrap="square" lIns="0" tIns="0" rIns="0" bIns="0" rtlCol="0" anchor="ctr"/>
          <a:lstStyle/>
          <a:p>
            <a:pPr algn="l" indent="0" marL="0">
              <a:buNone/>
            </a:pPr>
            <a:r>
              <a:rPr lang="en-US" sz="1500" dirty="0">
                <a:solidFill>
                  <a:srgbClr val="F0F2F1"/>
                </a:solidFill>
              </a:rPr>
              <a:t>A count of customers or orders</a:t>
            </a:r>
            <a:endParaRPr lang="en-US" sz="1500" dirty="0"/>
          </a:p>
        </p:txBody>
      </p:sp>
      <p:sp>
        <p:nvSpPr>
          <p:cNvPr id="26" name="Not claimed"/>
          <p:cNvSpPr txBox="1"/>
          <p:nvPr/>
        </p:nvSpPr>
        <p:spPr>
          <a:xfrm>
            <a:off x="8503920" y="5349240"/>
            <a:ext cx="2743200" cy="685800"/>
          </a:xfrm>
          <a:prstGeom prst="rect">
            <a:avLst/>
          </a:prstGeom>
          <a:noFill/>
          <a:ln/>
        </p:spPr>
        <p:txBody>
          <a:bodyPr wrap="square" lIns="0" tIns="0" rIns="0" bIns="0" rtlCol="0" anchor="t"/>
          <a:lstStyle/>
          <a:p>
            <a:pPr algn="l" indent="0" marL="0">
              <a:lnSpc>
                <a:spcPct val="100000"/>
              </a:lnSpc>
              <a:buNone/>
            </a:pPr>
            <a:r>
              <a:rPr lang="en-US" sz="1300" i="1" dirty="0">
                <a:solidFill>
                  <a:srgbClr val="C2CAC7"/>
                </a:solidFill>
              </a:rPr>
              <a:t>Not claimed: orders, repeat rate, growth, or customer and seller counts. They have not been measured yet.</a:t>
            </a:r>
            <a:endParaRPr lang="en-US" sz="1300" dirty="0"/>
          </a:p>
        </p:txBody>
      </p:sp>
      <p:sp>
        <p:nvSpPr>
          <p:cNvPr id="27" name="Footnote"/>
          <p:cNvSpPr txBox="1"/>
          <p:nvPr/>
        </p:nvSpPr>
        <p:spPr>
          <a:xfrm>
            <a:off x="1115568" y="6382512"/>
            <a:ext cx="9692640" cy="274320"/>
          </a:xfrm>
          <a:prstGeom prst="rect">
            <a:avLst/>
          </a:prstGeom>
          <a:noFill/>
          <a:ln/>
        </p:spPr>
        <p:txBody>
          <a:bodyPr wrap="square" lIns="0" tIns="0" rIns="0" bIns="0" rtlCol="0" anchor="ctr"/>
          <a:lstStyle/>
          <a:p>
            <a:pPr algn="l" indent="0" marL="0">
              <a:buNone/>
            </a:pPr>
            <a:r>
              <a:rPr lang="en-US" sz="1200" dirty="0">
                <a:solidFill>
                  <a:schemeClr val="accent5"/>
                </a:solidFill>
              </a:rPr>
              <a:t>Sales figure and store status are founder-reported; no store listing or sales record was checked for this deck.</a:t>
            </a:r>
            <a:endParaRPr lang="en-US" sz="1200" dirty="0"/>
          </a:p>
        </p:txBody>
      </p:sp>
      <p:sp>
        <p:nvSpPr>
          <p:cNvPr id="28" name="Slide Number Placeholder 0"/>
          <p:cNvSpPr>
            <a:spLocks noGrp="1"/>
          </p:cNvSpPr>
          <p:nvPr>
            <p:ph type="sldNum" sz="quarter" idx="4294967295"/>
          </p:nvPr>
        </p:nvSpPr>
        <p:spPr>
          <a:xfrm>
            <a:off x="10957560" y="6373368"/>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accent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3"/>
                                        </p:tgtEl>
                                        <p:attrNameLst>
                                          <p:attrName>style.visibility</p:attrName>
                                        </p:attrNameLst>
                                      </p:cBhvr>
                                      <p:to>
                                        <p:strVal val="visible"/>
                                      </p:to>
                                    </p:set>
                                    <p:anim calcmode="lin" valueType="num">
                                      <p:cBhvr>
                                        <p:cTn id="10" dur="550" fill="hold"/>
                                        <p:tgtEl>
                                          <p:spTgt spid="3"/>
                                        </p:tgtEl>
                                        <p:attrNameLst>
                                          <p:attrName>ppt_y</p:attrName>
                                        </p:attrNameLst>
                                      </p:cBhvr>
                                      <p:tavLst>
                                        <p:tav tm="0">
                                          <p:val>
                                            <p:strVal val="#ppt_y+.05"/>
                                          </p:val>
                                        </p:tav>
                                        <p:tav tm="100000">
                                          <p:val>
                                            <p:strVal val="#ppt_y"/>
                                          </p:val>
                                        </p:tav>
                                      </p:tavLst>
                                    </p:anim>
                                    <p:animEffect transition="in" filter="fade">
                                      <p:cBhvr>
                                        <p:cTn id="11" dur="550"/>
                                        <p:tgtEl>
                                          <p:spTgt spid="3"/>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15" presetID="42" presetClass="entr" presetSubtype="0" fill="hold" grpId="0" nodeType="withEffect">
                                  <p:stCondLst>
                                    <p:cond delay="800"/>
                                  </p:stCondLst>
                                  <p:childTnLst>
                                    <p:set>
                                      <p:cBhvr>
                                        <p:cTn id="16" dur="1" fill="hold">
                                          <p:stCondLst>
                                            <p:cond delay="0"/>
                                          </p:stCondLst>
                                        </p:cTn>
                                        <p:tgtEl>
                                          <p:spTgt spid="5"/>
                                        </p:tgtEl>
                                        <p:attrNameLst>
                                          <p:attrName>style.visibility</p:attrName>
                                        </p:attrNameLst>
                                      </p:cBhvr>
                                      <p:to>
                                        <p:strVal val="visible"/>
                                      </p:to>
                                    </p:set>
                                    <p:anim calcmode="lin" valueType="num">
                                      <p:cBhvr>
                                        <p:cTn id="17" dur="800" fill="hold"/>
                                        <p:tgtEl>
                                          <p:spTgt spid="5"/>
                                        </p:tgtEl>
                                        <p:attrNameLst>
                                          <p:attrName>ppt_y</p:attrName>
                                        </p:attrNameLst>
                                      </p:cBhvr>
                                      <p:tavLst>
                                        <p:tav tm="0">
                                          <p:val>
                                            <p:strVal val="#ppt_y+.05"/>
                                          </p:val>
                                        </p:tav>
                                        <p:tav tm="100000">
                                          <p:val>
                                            <p:strVal val="#ppt_y"/>
                                          </p:val>
                                        </p:tav>
                                      </p:tavLst>
                                    </p:anim>
                                    <p:animEffect transition="in" filter="fade">
                                      <p:cBhvr>
                                        <p:cTn id="18" dur="800"/>
                                        <p:tgtEl>
                                          <p:spTgt spid="5"/>
                                        </p:tgtEl>
                                      </p:cBhvr>
                                    </p:animEffect>
                                  </p:childTnLst>
                                </p:cTn>
                              </p:par>
                              <p:par>
                                <p:cTn id="19" presetID="10" presetClass="entr" presetSubtype="0" fill="hold" grpId="0" nodeType="withEffect">
                                  <p:stCondLst>
                                    <p:cond delay="100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600"/>
                                        <p:tgtEl>
                                          <p:spTgt spid="13"/>
                                        </p:tgtEl>
                                      </p:cBhvr>
                                    </p:animEffect>
                                  </p:childTnLst>
                                </p:cTn>
                              </p:par>
                              <p:par>
                                <p:cTn id="22" presetID="10" presetClass="entr" presetSubtype="0" fill="hold" grpId="0" nodeType="withEffect">
                                  <p:stCondLst>
                                    <p:cond delay="120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grpId="0" nodeType="withEffect">
                                  <p:stCondLst>
                                    <p:cond delay="130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130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1" presetID="10" presetClass="entr" presetSubtype="0" fill="hold" grpId="0" nodeType="withEffect">
                                  <p:stCondLst>
                                    <p:cond delay="150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par>
                                <p:cTn id="34" presetID="10" presetClass="entr" presetSubtype="0" fill="hold" grpId="0" nodeType="withEffect">
                                  <p:stCondLst>
                                    <p:cond delay="150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par>
                                <p:cTn id="37" presetID="10" presetClass="entr" presetSubtype="0" fill="hold" nodeType="withEffect">
                                  <p:stCondLst>
                                    <p:cond delay="160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par>
                                <p:cTn id="40" presetID="10" presetClass="entr" presetSubtype="0" fill="hold" grpId="0" nodeType="withEffect">
                                  <p:stCondLst>
                                    <p:cond delay="160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par>
                                <p:cTn id="43" presetID="10" presetClass="entr" presetSubtype="0" fill="hold" nodeType="withEffect">
                                  <p:stCondLst>
                                    <p:cond delay="175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par>
                                <p:cTn id="46" presetID="10" presetClass="entr" presetSubtype="0" fill="hold" grpId="0" nodeType="withEffect">
                                  <p:stCondLst>
                                    <p:cond delay="175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par>
                                <p:cTn id="49" presetID="42" presetClass="entr" presetSubtype="0" fill="hold" grpId="0" nodeType="withEffect">
                                  <p:stCondLst>
                                    <p:cond delay="1800"/>
                                  </p:stCondLst>
                                  <p:childTnLst>
                                    <p:set>
                                      <p:cBhvr>
                                        <p:cTn id="50" dur="1" fill="hold">
                                          <p:stCondLst>
                                            <p:cond delay="0"/>
                                          </p:stCondLst>
                                        </p:cTn>
                                        <p:tgtEl>
                                          <p:spTgt spid="7"/>
                                        </p:tgtEl>
                                        <p:attrNameLst>
                                          <p:attrName>style.visibility</p:attrName>
                                        </p:attrNameLst>
                                      </p:cBhvr>
                                      <p:to>
                                        <p:strVal val="visible"/>
                                      </p:to>
                                    </p:set>
                                    <p:anim calcmode="lin" valueType="num">
                                      <p:cBhvr>
                                        <p:cTn id="51" dur="550" fill="hold"/>
                                        <p:tgtEl>
                                          <p:spTgt spid="7"/>
                                        </p:tgtEl>
                                        <p:attrNameLst>
                                          <p:attrName>ppt_y</p:attrName>
                                        </p:attrNameLst>
                                      </p:cBhvr>
                                      <p:tavLst>
                                        <p:tav tm="0">
                                          <p:val>
                                            <p:strVal val="#ppt_y+.05"/>
                                          </p:val>
                                        </p:tav>
                                        <p:tav tm="100000">
                                          <p:val>
                                            <p:strVal val="#ppt_y"/>
                                          </p:val>
                                        </p:tav>
                                      </p:tavLst>
                                    </p:anim>
                                    <p:animEffect transition="in" filter="fade">
                                      <p:cBhvr>
                                        <p:cTn id="52" dur="550"/>
                                        <p:tgtEl>
                                          <p:spTgt spid="7"/>
                                        </p:tgtEl>
                                      </p:cBhvr>
                                    </p:animEffect>
                                  </p:childTnLst>
                                </p:cTn>
                              </p:par>
                              <p:par>
                                <p:cTn id="53" presetID="42" presetClass="entr" presetSubtype="0" fill="hold" grpId="0" nodeType="withEffect">
                                  <p:stCondLst>
                                    <p:cond delay="1800"/>
                                  </p:stCondLst>
                                  <p:childTnLst>
                                    <p:set>
                                      <p:cBhvr>
                                        <p:cTn id="54" dur="1" fill="hold">
                                          <p:stCondLst>
                                            <p:cond delay="0"/>
                                          </p:stCondLst>
                                        </p:cTn>
                                        <p:tgtEl>
                                          <p:spTgt spid="8"/>
                                        </p:tgtEl>
                                        <p:attrNameLst>
                                          <p:attrName>style.visibility</p:attrName>
                                        </p:attrNameLst>
                                      </p:cBhvr>
                                      <p:to>
                                        <p:strVal val="visible"/>
                                      </p:to>
                                    </p:set>
                                    <p:anim calcmode="lin" valueType="num">
                                      <p:cBhvr>
                                        <p:cTn id="55" dur="550" fill="hold"/>
                                        <p:tgtEl>
                                          <p:spTgt spid="8"/>
                                        </p:tgtEl>
                                        <p:attrNameLst>
                                          <p:attrName>ppt_y</p:attrName>
                                        </p:attrNameLst>
                                      </p:cBhvr>
                                      <p:tavLst>
                                        <p:tav tm="0">
                                          <p:val>
                                            <p:strVal val="#ppt_y+.05"/>
                                          </p:val>
                                        </p:tav>
                                        <p:tav tm="100000">
                                          <p:val>
                                            <p:strVal val="#ppt_y"/>
                                          </p:val>
                                        </p:tav>
                                      </p:tavLst>
                                    </p:anim>
                                    <p:animEffect transition="in" filter="fade">
                                      <p:cBhvr>
                                        <p:cTn id="56" dur="550"/>
                                        <p:tgtEl>
                                          <p:spTgt spid="8"/>
                                        </p:tgtEl>
                                      </p:cBhvr>
                                    </p:animEffect>
                                  </p:childTnLst>
                                </p:cTn>
                              </p:par>
                              <p:par>
                                <p:cTn id="57" presetID="10" presetClass="entr" presetSubtype="0" fill="hold" nodeType="withEffect">
                                  <p:stCondLst>
                                    <p:cond delay="190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500"/>
                                        <p:tgtEl>
                                          <p:spTgt spid="22"/>
                                        </p:tgtEl>
                                      </p:cBhvr>
                                    </p:animEffect>
                                  </p:childTnLst>
                                </p:cTn>
                              </p:par>
                              <p:par>
                                <p:cTn id="60" presetID="10" presetClass="entr" presetSubtype="0" fill="hold" grpId="0" nodeType="withEffect">
                                  <p:stCondLst>
                                    <p:cond delay="190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500"/>
                                        <p:tgtEl>
                                          <p:spTgt spid="23"/>
                                        </p:tgtEl>
                                      </p:cBhvr>
                                    </p:animEffect>
                                  </p:childTnLst>
                                </p:cTn>
                              </p:par>
                              <p:par>
                                <p:cTn id="63" presetID="42" presetClass="entr" presetSubtype="0" fill="hold" grpId="0" nodeType="withEffect">
                                  <p:stCondLst>
                                    <p:cond delay="2050"/>
                                  </p:stCondLst>
                                  <p:childTnLst>
                                    <p:set>
                                      <p:cBhvr>
                                        <p:cTn id="64" dur="1" fill="hold">
                                          <p:stCondLst>
                                            <p:cond delay="0"/>
                                          </p:stCondLst>
                                        </p:cTn>
                                        <p:tgtEl>
                                          <p:spTgt spid="9"/>
                                        </p:tgtEl>
                                        <p:attrNameLst>
                                          <p:attrName>style.visibility</p:attrName>
                                        </p:attrNameLst>
                                      </p:cBhvr>
                                      <p:to>
                                        <p:strVal val="visible"/>
                                      </p:to>
                                    </p:set>
                                    <p:anim calcmode="lin" valueType="num">
                                      <p:cBhvr>
                                        <p:cTn id="65" dur="550" fill="hold"/>
                                        <p:tgtEl>
                                          <p:spTgt spid="9"/>
                                        </p:tgtEl>
                                        <p:attrNameLst>
                                          <p:attrName>ppt_y</p:attrName>
                                        </p:attrNameLst>
                                      </p:cBhvr>
                                      <p:tavLst>
                                        <p:tav tm="0">
                                          <p:val>
                                            <p:strVal val="#ppt_y+.05"/>
                                          </p:val>
                                        </p:tav>
                                        <p:tav tm="100000">
                                          <p:val>
                                            <p:strVal val="#ppt_y"/>
                                          </p:val>
                                        </p:tav>
                                      </p:tavLst>
                                    </p:anim>
                                    <p:animEffect transition="in" filter="fade">
                                      <p:cBhvr>
                                        <p:cTn id="66" dur="550"/>
                                        <p:tgtEl>
                                          <p:spTgt spid="9"/>
                                        </p:tgtEl>
                                      </p:cBhvr>
                                    </p:animEffect>
                                  </p:childTnLst>
                                </p:cTn>
                              </p:par>
                              <p:par>
                                <p:cTn id="67" presetID="42" presetClass="entr" presetSubtype="0" fill="hold" grpId="0" nodeType="withEffect">
                                  <p:stCondLst>
                                    <p:cond delay="2050"/>
                                  </p:stCondLst>
                                  <p:childTnLst>
                                    <p:set>
                                      <p:cBhvr>
                                        <p:cTn id="68" dur="1" fill="hold">
                                          <p:stCondLst>
                                            <p:cond delay="0"/>
                                          </p:stCondLst>
                                        </p:cTn>
                                        <p:tgtEl>
                                          <p:spTgt spid="10"/>
                                        </p:tgtEl>
                                        <p:attrNameLst>
                                          <p:attrName>style.visibility</p:attrName>
                                        </p:attrNameLst>
                                      </p:cBhvr>
                                      <p:to>
                                        <p:strVal val="visible"/>
                                      </p:to>
                                    </p:set>
                                    <p:anim calcmode="lin" valueType="num">
                                      <p:cBhvr>
                                        <p:cTn id="69" dur="550" fill="hold"/>
                                        <p:tgtEl>
                                          <p:spTgt spid="10"/>
                                        </p:tgtEl>
                                        <p:attrNameLst>
                                          <p:attrName>ppt_y</p:attrName>
                                        </p:attrNameLst>
                                      </p:cBhvr>
                                      <p:tavLst>
                                        <p:tav tm="0">
                                          <p:val>
                                            <p:strVal val="#ppt_y+.05"/>
                                          </p:val>
                                        </p:tav>
                                        <p:tav tm="100000">
                                          <p:val>
                                            <p:strVal val="#ppt_y"/>
                                          </p:val>
                                        </p:tav>
                                      </p:tavLst>
                                    </p:anim>
                                    <p:animEffect transition="in" filter="fade">
                                      <p:cBhvr>
                                        <p:cTn id="70" dur="550"/>
                                        <p:tgtEl>
                                          <p:spTgt spid="10"/>
                                        </p:tgtEl>
                                      </p:cBhvr>
                                    </p:animEffect>
                                  </p:childTnLst>
                                </p:cTn>
                              </p:par>
                              <p:par>
                                <p:cTn id="71" presetID="10" presetClass="entr" presetSubtype="0" fill="hold" nodeType="withEffect">
                                  <p:stCondLst>
                                    <p:cond delay="205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par>
                                <p:cTn id="74" presetID="10" presetClass="entr" presetSubtype="0" fill="hold" grpId="0" nodeType="withEffect">
                                  <p:stCondLst>
                                    <p:cond delay="205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500"/>
                                        <p:tgtEl>
                                          <p:spTgt spid="25"/>
                                        </p:tgtEl>
                                      </p:cBhvr>
                                    </p:animEffect>
                                  </p:childTnLst>
                                </p:cTn>
                              </p:par>
                              <p:par>
                                <p:cTn id="77" presetID="42" presetClass="entr" presetSubtype="0" fill="hold" grpId="0" nodeType="withEffect">
                                  <p:stCondLst>
                                    <p:cond delay="2300"/>
                                  </p:stCondLst>
                                  <p:childTnLst>
                                    <p:set>
                                      <p:cBhvr>
                                        <p:cTn id="78" dur="1" fill="hold">
                                          <p:stCondLst>
                                            <p:cond delay="0"/>
                                          </p:stCondLst>
                                        </p:cTn>
                                        <p:tgtEl>
                                          <p:spTgt spid="11"/>
                                        </p:tgtEl>
                                        <p:attrNameLst>
                                          <p:attrName>style.visibility</p:attrName>
                                        </p:attrNameLst>
                                      </p:cBhvr>
                                      <p:to>
                                        <p:strVal val="visible"/>
                                      </p:to>
                                    </p:set>
                                    <p:anim calcmode="lin" valueType="num">
                                      <p:cBhvr>
                                        <p:cTn id="79" dur="550" fill="hold"/>
                                        <p:tgtEl>
                                          <p:spTgt spid="11"/>
                                        </p:tgtEl>
                                        <p:attrNameLst>
                                          <p:attrName>ppt_y</p:attrName>
                                        </p:attrNameLst>
                                      </p:cBhvr>
                                      <p:tavLst>
                                        <p:tav tm="0">
                                          <p:val>
                                            <p:strVal val="#ppt_y+.05"/>
                                          </p:val>
                                        </p:tav>
                                        <p:tav tm="100000">
                                          <p:val>
                                            <p:strVal val="#ppt_y"/>
                                          </p:val>
                                        </p:tav>
                                      </p:tavLst>
                                    </p:anim>
                                    <p:animEffect transition="in" filter="fade">
                                      <p:cBhvr>
                                        <p:cTn id="80" dur="550"/>
                                        <p:tgtEl>
                                          <p:spTgt spid="11"/>
                                        </p:tgtEl>
                                      </p:cBhvr>
                                    </p:animEffect>
                                  </p:childTnLst>
                                </p:cTn>
                              </p:par>
                              <p:par>
                                <p:cTn id="81" presetID="42" presetClass="entr" presetSubtype="0" fill="hold" grpId="0" nodeType="withEffect">
                                  <p:stCondLst>
                                    <p:cond delay="2300"/>
                                  </p:stCondLst>
                                  <p:childTnLst>
                                    <p:set>
                                      <p:cBhvr>
                                        <p:cTn id="82" dur="1" fill="hold">
                                          <p:stCondLst>
                                            <p:cond delay="0"/>
                                          </p:stCondLst>
                                        </p:cTn>
                                        <p:tgtEl>
                                          <p:spTgt spid="12"/>
                                        </p:tgtEl>
                                        <p:attrNameLst>
                                          <p:attrName>style.visibility</p:attrName>
                                        </p:attrNameLst>
                                      </p:cBhvr>
                                      <p:to>
                                        <p:strVal val="visible"/>
                                      </p:to>
                                    </p:set>
                                    <p:anim calcmode="lin" valueType="num">
                                      <p:cBhvr>
                                        <p:cTn id="83" dur="550" fill="hold"/>
                                        <p:tgtEl>
                                          <p:spTgt spid="12"/>
                                        </p:tgtEl>
                                        <p:attrNameLst>
                                          <p:attrName>ppt_y</p:attrName>
                                        </p:attrNameLst>
                                      </p:cBhvr>
                                      <p:tavLst>
                                        <p:tav tm="0">
                                          <p:val>
                                            <p:strVal val="#ppt_y+.05"/>
                                          </p:val>
                                        </p:tav>
                                        <p:tav tm="100000">
                                          <p:val>
                                            <p:strVal val="#ppt_y"/>
                                          </p:val>
                                        </p:tav>
                                      </p:tavLst>
                                    </p:anim>
                                    <p:animEffect transition="in" filter="fade">
                                      <p:cBhvr>
                                        <p:cTn id="84" dur="550"/>
                                        <p:tgtEl>
                                          <p:spTgt spid="12"/>
                                        </p:tgtEl>
                                      </p:cBhvr>
                                    </p:animEffect>
                                  </p:childTnLst>
                                </p:cTn>
                              </p:par>
                              <p:par>
                                <p:cTn id="85" presetID="10" presetClass="entr" presetSubtype="0" fill="hold" grpId="0" nodeType="withEffect">
                                  <p:stCondLst>
                                    <p:cond delay="2300"/>
                                  </p:stCondLst>
                                  <p:childTnLst>
                                    <p:set>
                                      <p:cBhvr>
                                        <p:cTn id="86" dur="1" fill="hold">
                                          <p:stCondLst>
                                            <p:cond delay="0"/>
                                          </p:stCondLst>
                                        </p:cTn>
                                        <p:tgtEl>
                                          <p:spTgt spid="26"/>
                                        </p:tgtEl>
                                        <p:attrNameLst>
                                          <p:attrName>style.visibility</p:attrName>
                                        </p:attrNameLst>
                                      </p:cBhvr>
                                      <p:to>
                                        <p:strVal val="visible"/>
                                      </p:to>
                                    </p:set>
                                    <p:animEffect transition="in" filter="fade">
                                      <p:cBhvr>
                                        <p:cTn id="87" dur="500"/>
                                        <p:tgtEl>
                                          <p:spTgt spid="26"/>
                                        </p:tgtEl>
                                      </p:cBhvr>
                                    </p:animEffect>
                                  </p:childTnLst>
                                </p:cTn>
                              </p:par>
                              <p:par>
                                <p:cTn id="88" presetID="10" presetClass="entr" presetSubtype="0" fill="hold" grpId="0" nodeType="withEffect">
                                  <p:stCondLst>
                                    <p:cond delay="2500"/>
                                  </p:stCondLst>
                                  <p:childTnLst>
                                    <p:set>
                                      <p:cBhvr>
                                        <p:cTn id="89" dur="1" fill="hold">
                                          <p:stCondLst>
                                            <p:cond delay="0"/>
                                          </p:stCondLst>
                                        </p:cTn>
                                        <p:tgtEl>
                                          <p:spTgt spid="27"/>
                                        </p:tgtEl>
                                        <p:attrNameLst>
                                          <p:attrName>style.visibility</p:attrName>
                                        </p:attrNameLst>
                                      </p:cBhvr>
                                      <p:to>
                                        <p:strVal val="visible"/>
                                      </p:to>
                                    </p:set>
                                    <p:animEffect transition="in" filter="fade">
                                      <p:cBhvr>
                                        <p:cTn id="9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p:bldP spid="13" grpId="0" animBg="1"/>
      <p:bldP spid="14" grpId="0"/>
      <p:bldP spid="15" grpId="0"/>
      <p:bldP spid="16" grpId="0"/>
      <p:bldP spid="6" grpId="0"/>
      <p:bldP spid="17" grpId="0"/>
      <p:bldP spid="19" grpId="0"/>
      <p:bldP spid="21" grpId="0"/>
      <p:bldP spid="7" grpId="0" animBg="1"/>
      <p:bldP spid="8" grpId="0"/>
      <p:bldP spid="23" grpId="0"/>
      <p:bldP spid="9" grpId="0" animBg="1"/>
      <p:bldP spid="10" grpId="0"/>
      <p:bldP spid="25" grpId="0"/>
      <p:bldP spid="11" grpId="0" animBg="1"/>
      <p:bldP spid="12" grpId="0"/>
      <p:bldP spid="26" grpId="0"/>
      <p:bldP spid="27"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685800" y="502920"/>
            <a:ext cx="7315200" cy="274320"/>
          </a:xfrm>
          <a:prstGeom prst="rect">
            <a:avLst/>
          </a:prstGeom>
          <a:noFill/>
          <a:ln/>
        </p:spPr>
        <p:txBody>
          <a:bodyPr wrap="square" lIns="0" tIns="0" rIns="0" bIns="0" rtlCol="0" anchor="t"/>
          <a:lstStyle/>
          <a:p>
            <a:pPr algn="l" indent="0" marL="0">
              <a:buNone/>
            </a:pPr>
            <a:r>
              <a:rPr lang="en-US" sz="1300" b="1" spc="300" kern="0" dirty="0">
                <a:solidFill>
                  <a:schemeClr val="accent1"/>
                </a:solidFill>
              </a:rPr>
              <a:t>WHAT WE HAVE LEARNED</a:t>
            </a:r>
            <a:endParaRPr lang="en-US" sz="1300" dirty="0"/>
          </a:p>
        </p:txBody>
      </p:sp>
      <p:sp>
        <p:nvSpPr>
          <p:cNvPr id="3" name="Text 0"/>
          <p:cNvSpPr/>
          <p:nvPr>
            <p:ph idx="101" type="title" hasCustomPrompt="1"/>
          </p:nvPr>
        </p:nvSpPr>
        <p:spPr>
          <a:xfrm>
            <a:off x="685800" y="841248"/>
            <a:ext cx="10820400" cy="1325880"/>
          </a:xfrm>
          <a:prstGeom prst="rect">
            <a:avLst/>
          </a:prstGeom>
          <a:noFill/>
          <a:ln/>
        </p:spPr>
        <p:txBody>
          <a:bodyPr wrap="square" lIns="0" tIns="0" rIns="0" bIns="0" rtlCol="0" anchor="t"/>
          <a:lstStyle/>
          <a:p>
            <a:pPr algn="l" indent="0" marL="0">
              <a:lnSpc>
                <a:spcPct val="95000"/>
              </a:lnSpc>
              <a:buNone/>
            </a:pPr>
            <a:r>
              <a:rPr lang="en-US" sz="4000" b="1" dirty="0">
                <a:solidFill>
                  <a:schemeClr val="tx1"/>
                </a:solidFill>
                <a:latin typeface="+mj-lt" pitchFamily="34" charset="0"/>
                <a:ea typeface="+mj-lt" pitchFamily="34" charset="-122"/>
                <a:cs typeface="+mj-lt" pitchFamily="34" charset="-120"/>
              </a:rPr>
              <a:t>What the evidence says, </a:t>
            </a:r>
            <a:pPr algn="l" indent="0" marL="0">
              <a:lnSpc>
                <a:spcPct val="95000"/>
              </a:lnSpc>
              <a:buNone/>
            </a:pPr>
            <a:r>
              <a:rPr lang="en-US" sz="4000" b="1" i="1" dirty="0">
                <a:solidFill>
                  <a:schemeClr val="accent1"/>
                </a:solidFill>
                <a:latin typeface="+mj-lt" pitchFamily="34" charset="0"/>
                <a:ea typeface="+mj-lt" pitchFamily="34" charset="-122"/>
                <a:cs typeface="+mj-lt" pitchFamily="34" charset="-120"/>
              </a:rPr>
              <a:t>and what it doesn’t.</a:t>
            </a:r>
            <a:endParaRPr lang="en-US" sz="4000" dirty="0"/>
          </a:p>
        </p:txBody>
      </p:sp>
      <p:sp>
        <p:nvSpPr>
          <p:cNvPr id="4" name="Card 1"/>
          <p:cNvSpPr/>
          <p:nvPr/>
        </p:nvSpPr>
        <p:spPr>
          <a:xfrm>
            <a:off x="685800" y="2057400"/>
            <a:ext cx="3474720" cy="3749040"/>
          </a:xfrm>
          <a:prstGeom prst="roundRect">
            <a:avLst>
              <a:gd name="adj" fmla="val 3684"/>
            </a:avLst>
          </a:prstGeom>
          <a:solidFill>
            <a:schemeClr val="bg1"/>
          </a:solidFill>
          <a:ln w="15875">
            <a:solidFill>
              <a:schemeClr val="accent1"/>
            </a:solidFill>
            <a:prstDash val="solid"/>
          </a:ln>
        </p:spPr>
      </p:sp>
      <p:sp>
        <p:nvSpPr>
          <p:cNvPr id="5" name="Head 1 wash"/>
          <p:cNvSpPr/>
          <p:nvPr/>
        </p:nvSpPr>
        <p:spPr>
          <a:xfrm>
            <a:off x="685800" y="2057400"/>
            <a:ext cx="3474720" cy="868680"/>
          </a:xfrm>
          <a:prstGeom prst="roundRect">
            <a:avLst>
              <a:gd name="adj" fmla="val 14737"/>
            </a:avLst>
          </a:prstGeom>
          <a:solidFill>
            <a:schemeClr val="accent1"/>
          </a:solidFill>
          <a:ln/>
        </p:spPr>
      </p:sp>
      <p:sp>
        <p:nvSpPr>
          <p:cNvPr id="6" name="Icon 1 disc"/>
          <p:cNvSpPr/>
          <p:nvPr/>
        </p:nvSpPr>
        <p:spPr>
          <a:xfrm>
            <a:off x="960120" y="2240280"/>
            <a:ext cx="502920" cy="502920"/>
          </a:xfrm>
          <a:prstGeom prst="ellipse">
            <a:avLst/>
          </a:prstGeom>
          <a:solidFill>
            <a:schemeClr val="accent1"/>
          </a:solidFill>
          <a:ln/>
        </p:spPr>
      </p:sp>
      <p:pic>
        <p:nvPicPr>
          <p:cNvPr id="7" name="Icon 1 icon" descr="check icon">    </p:cNvPr>
          <p:cNvPicPr>
            <a:picLocks noChangeAspect="1"/>
          </p:cNvPicPr>
          <p:nvPr/>
        </p:nvPicPr>
        <p:blipFill>
          <a:blip r:embed="rId1"/>
          <a:stretch>
            <a:fillRect/>
          </a:stretch>
        </p:blipFill>
        <p:spPr>
          <a:xfrm>
            <a:off x="1080821" y="2360981"/>
            <a:ext cx="261518" cy="261518"/>
          </a:xfrm>
          <a:prstGeom prst="rect">
            <a:avLst/>
          </a:prstGeom>
        </p:spPr>
      </p:pic>
      <p:sp>
        <p:nvSpPr>
          <p:cNvPr id="8" name="Heading 1"/>
          <p:cNvSpPr txBox="1"/>
          <p:nvPr/>
        </p:nvSpPr>
        <p:spPr>
          <a:xfrm>
            <a:off x="1600200" y="2212848"/>
            <a:ext cx="2377440" cy="594360"/>
          </a:xfrm>
          <a:prstGeom prst="rect">
            <a:avLst/>
          </a:prstGeom>
          <a:noFill/>
          <a:ln/>
        </p:spPr>
        <p:txBody>
          <a:bodyPr wrap="square" lIns="0" tIns="0" rIns="0" bIns="0" rtlCol="0" anchor="ctr"/>
          <a:lstStyle/>
          <a:p>
            <a:pPr algn="l" indent="0" marL="0">
              <a:lnSpc>
                <a:spcPct val="98000"/>
              </a:lnSpc>
              <a:buNone/>
            </a:pPr>
            <a:r>
              <a:rPr lang="en-US" sz="2200" b="1" dirty="0">
                <a:solidFill>
                  <a:schemeClr val="bg1"/>
                </a:solidFill>
                <a:latin typeface="+mj-lt" pitchFamily="34" charset="0"/>
                <a:ea typeface="+mj-lt" pitchFamily="34" charset="-122"/>
                <a:cs typeface="+mj-lt" pitchFamily="34" charset="-120"/>
              </a:rPr>
              <a:t>Demonstrated</a:t>
            </a:r>
            <a:endParaRPr lang="en-US" sz="2200" dirty="0"/>
          </a:p>
          <a:p>
            <a:pPr algn="l" indent="0" marL="0">
              <a:lnSpc>
                <a:spcPct val="98000"/>
              </a:lnSpc>
              <a:buNone/>
            </a:pPr>
            <a:r>
              <a:rPr lang="en-US" sz="1300" dirty="0">
                <a:solidFill>
                  <a:schemeClr val="bg1"/>
                </a:solidFill>
              </a:rPr>
              <a:t>Evidence on file</a:t>
            </a:r>
            <a:endParaRPr lang="en-US" sz="2200" dirty="0"/>
          </a:p>
        </p:txBody>
      </p:sp>
      <p:sp>
        <p:nvSpPr>
          <p:cNvPr id="9" name="List 1"/>
          <p:cNvSpPr txBox="1"/>
          <p:nvPr/>
        </p:nvSpPr>
        <p:spPr>
          <a:xfrm>
            <a:off x="960120" y="3154680"/>
            <a:ext cx="2971800" cy="2514600"/>
          </a:xfrm>
          <a:prstGeom prst="rect">
            <a:avLst/>
          </a:prstGeom>
          <a:noFill/>
          <a:ln/>
        </p:spPr>
        <p:txBody>
          <a:bodyPr wrap="square" lIns="0" tIns="0" rIns="0" bIns="0" rtlCol="0" anchor="t"/>
          <a:lstStyle/>
          <a:p>
            <a:pPr algn="l" marL="342900" indent="-342900">
              <a:lnSpc>
                <a:spcPct val="103000"/>
              </a:lnSpc>
              <a:spcAft>
                <a:spcPts val="700"/>
              </a:spcAft>
              <a:buSzPct val="100000"/>
              <a:buChar char="•"/>
            </a:pPr>
            <a:r>
              <a:rPr lang="en-US" sz="1600" dirty="0">
                <a:solidFill>
                  <a:schemeClr val="tx1"/>
                </a:solidFill>
              </a:rPr>
              <a:t>Real sales: about ₱23,000 through the earlier web app (founder-reported).</a:t>
            </a:r>
            <a:endParaRPr lang="en-US" sz="1600" dirty="0"/>
          </a:p>
          <a:p>
            <a:pPr algn="l" marL="342900" indent="-342900">
              <a:lnSpc>
                <a:spcPct val="103000"/>
              </a:lnSpc>
              <a:spcAft>
                <a:spcPts val="700"/>
              </a:spcAft>
              <a:buSzPct val="100000"/>
              <a:buChar char="•"/>
            </a:pPr>
            <a:r>
              <a:rPr lang="en-US" sz="1600" dirty="0">
                <a:solidFill>
                  <a:schemeClr val="tx1"/>
                </a:solidFill>
              </a:rPr>
              <a:t>Real stores have listed their own menus and prices in the app.</a:t>
            </a:r>
            <a:endParaRPr lang="en-US" sz="1600" dirty="0"/>
          </a:p>
          <a:p>
            <a:pPr algn="l" marL="342900" indent="-342900">
              <a:lnSpc>
                <a:spcPct val="103000"/>
              </a:lnSpc>
              <a:spcAft>
                <a:spcPts val="700"/>
              </a:spcAft>
              <a:buSzPct val="100000"/>
              <a:buChar char="•"/>
            </a:pPr>
            <a:r>
              <a:rPr lang="en-US" sz="1600" dirty="0">
                <a:solidFill>
                  <a:schemeClr val="tx1"/>
                </a:solidFill>
              </a:rPr>
              <a:t>The full order flow works in the product, covered by 1,651 automated checks.</a:t>
            </a:r>
            <a:endParaRPr lang="en-US" sz="1600" dirty="0"/>
          </a:p>
        </p:txBody>
      </p:sp>
      <p:sp>
        <p:nvSpPr>
          <p:cNvPr id="10" name="Card 2"/>
          <p:cNvSpPr/>
          <p:nvPr/>
        </p:nvSpPr>
        <p:spPr>
          <a:xfrm>
            <a:off x="4343400" y="2057400"/>
            <a:ext cx="3474720" cy="3749040"/>
          </a:xfrm>
          <a:prstGeom prst="roundRect">
            <a:avLst>
              <a:gd name="adj" fmla="val 3684"/>
            </a:avLst>
          </a:prstGeom>
          <a:solidFill>
            <a:schemeClr val="bg1"/>
          </a:solidFill>
          <a:ln w="15875">
            <a:solidFill>
              <a:schemeClr val="accent3"/>
            </a:solidFill>
            <a:prstDash val="solid"/>
          </a:ln>
        </p:spPr>
      </p:sp>
      <p:sp>
        <p:nvSpPr>
          <p:cNvPr id="11" name="Head 2 wash"/>
          <p:cNvSpPr/>
          <p:nvPr/>
        </p:nvSpPr>
        <p:spPr>
          <a:xfrm>
            <a:off x="4343400" y="2057400"/>
            <a:ext cx="3474720" cy="868680"/>
          </a:xfrm>
          <a:prstGeom prst="roundRect">
            <a:avLst>
              <a:gd name="adj" fmla="val 14737"/>
            </a:avLst>
          </a:prstGeom>
          <a:solidFill>
            <a:schemeClr val="accent3">
              <a:alpha val="18000"/>
            </a:schemeClr>
          </a:solidFill>
          <a:ln/>
        </p:spPr>
      </p:sp>
      <p:sp>
        <p:nvSpPr>
          <p:cNvPr id="12" name="Icon 2 disc"/>
          <p:cNvSpPr/>
          <p:nvPr/>
        </p:nvSpPr>
        <p:spPr>
          <a:xfrm>
            <a:off x="4617720" y="2240280"/>
            <a:ext cx="502920" cy="502920"/>
          </a:xfrm>
          <a:prstGeom prst="ellipse">
            <a:avLst/>
          </a:prstGeom>
          <a:solidFill>
            <a:schemeClr val="accent3"/>
          </a:solidFill>
          <a:ln/>
        </p:spPr>
      </p:sp>
      <p:pic>
        <p:nvPicPr>
          <p:cNvPr id="13" name="Icon 2 icon" descr="bulb icon">    </p:cNvPr>
          <p:cNvPicPr>
            <a:picLocks noChangeAspect="1"/>
          </p:cNvPicPr>
          <p:nvPr/>
        </p:nvPicPr>
        <p:blipFill>
          <a:blip r:embed="rId2"/>
          <a:stretch>
            <a:fillRect/>
          </a:stretch>
        </p:blipFill>
        <p:spPr>
          <a:xfrm>
            <a:off x="4738421" y="2360981"/>
            <a:ext cx="261518" cy="261518"/>
          </a:xfrm>
          <a:prstGeom prst="rect">
            <a:avLst/>
          </a:prstGeom>
        </p:spPr>
      </p:pic>
      <p:sp>
        <p:nvSpPr>
          <p:cNvPr id="14" name="Heading 2"/>
          <p:cNvSpPr txBox="1"/>
          <p:nvPr/>
        </p:nvSpPr>
        <p:spPr>
          <a:xfrm>
            <a:off x="5257800" y="2212848"/>
            <a:ext cx="2377440" cy="594360"/>
          </a:xfrm>
          <a:prstGeom prst="rect">
            <a:avLst/>
          </a:prstGeom>
          <a:noFill/>
          <a:ln/>
        </p:spPr>
        <p:txBody>
          <a:bodyPr wrap="square" lIns="0" tIns="0" rIns="0" bIns="0" rtlCol="0" anchor="ctr"/>
          <a:lstStyle/>
          <a:p>
            <a:pPr algn="l" indent="0" marL="0">
              <a:lnSpc>
                <a:spcPct val="98000"/>
              </a:lnSpc>
              <a:buNone/>
            </a:pPr>
            <a:r>
              <a:rPr lang="en-US" sz="2200" b="1" dirty="0">
                <a:solidFill>
                  <a:schemeClr val="tx1"/>
                </a:solidFill>
                <a:latin typeface="+mj-lt" pitchFamily="34" charset="0"/>
                <a:ea typeface="+mj-lt" pitchFamily="34" charset="-122"/>
                <a:cs typeface="+mj-lt" pitchFamily="34" charset="-120"/>
              </a:rPr>
              <a:t>Believed possible</a:t>
            </a:r>
            <a:endParaRPr lang="en-US" sz="2200" dirty="0"/>
          </a:p>
          <a:p>
            <a:pPr algn="l" indent="0" marL="0">
              <a:lnSpc>
                <a:spcPct val="98000"/>
              </a:lnSpc>
              <a:buNone/>
            </a:pPr>
            <a:r>
              <a:rPr lang="en-US" sz="1300" dirty="0">
                <a:solidFill>
                  <a:srgbClr val="4A6B5A"/>
                </a:solidFill>
              </a:rPr>
              <a:t>The founder’s view</a:t>
            </a:r>
            <a:endParaRPr lang="en-US" sz="2200" dirty="0"/>
          </a:p>
        </p:txBody>
      </p:sp>
      <p:sp>
        <p:nvSpPr>
          <p:cNvPr id="15" name="List 2"/>
          <p:cNvSpPr txBox="1"/>
          <p:nvPr/>
        </p:nvSpPr>
        <p:spPr>
          <a:xfrm>
            <a:off x="4617720" y="3154680"/>
            <a:ext cx="2971800" cy="2514600"/>
          </a:xfrm>
          <a:prstGeom prst="rect">
            <a:avLst/>
          </a:prstGeom>
          <a:noFill/>
          <a:ln/>
        </p:spPr>
        <p:txBody>
          <a:bodyPr wrap="square" lIns="0" tIns="0" rIns="0" bIns="0" rtlCol="0" anchor="t"/>
          <a:lstStyle/>
          <a:p>
            <a:pPr algn="l" marL="342900" indent="-342900">
              <a:lnSpc>
                <a:spcPct val="103000"/>
              </a:lnSpc>
              <a:spcAft>
                <a:spcPts val="700"/>
              </a:spcAft>
              <a:buSzPct val="100000"/>
              <a:buChar char="•"/>
            </a:pPr>
            <a:r>
              <a:rPr lang="en-US" sz="1600" dirty="0">
                <a:solidFill>
                  <a:schemeClr val="tx1"/>
                </a:solidFill>
              </a:rPr>
              <a:t>Residents will choose nearby sellers for everyday food.</a:t>
            </a:r>
            <a:endParaRPr lang="en-US" sz="1600" dirty="0"/>
          </a:p>
          <a:p>
            <a:pPr algn="l" marL="342900" indent="-342900">
              <a:lnSpc>
                <a:spcPct val="103000"/>
              </a:lnSpc>
              <a:spcAft>
                <a:spcPts val="700"/>
              </a:spcAft>
              <a:buSzPct val="100000"/>
              <a:buChar char="•"/>
            </a:pPr>
            <a:r>
              <a:rPr lang="en-US" sz="1600" dirty="0">
                <a:solidFill>
                  <a:schemeClr val="tx1"/>
                </a:solidFill>
              </a:rPr>
              <a:t>One platform can serve food, cleaning, laundry and aircon.</a:t>
            </a:r>
            <a:endParaRPr lang="en-US" sz="1600" dirty="0"/>
          </a:p>
          <a:p>
            <a:pPr algn="l" marL="342900" indent="-342900">
              <a:lnSpc>
                <a:spcPct val="103000"/>
              </a:lnSpc>
              <a:spcAft>
                <a:spcPts val="700"/>
              </a:spcAft>
              <a:buSzPct val="100000"/>
              <a:buChar char="•"/>
            </a:pPr>
            <a:r>
              <a:rPr lang="en-US" sz="1600" dirty="0">
                <a:solidFill>
                  <a:schemeClr val="tx1"/>
                </a:solidFill>
              </a:rPr>
              <a:t>A launch playbook can repeat across communities.</a:t>
            </a:r>
            <a:endParaRPr lang="en-US" sz="1600" dirty="0"/>
          </a:p>
        </p:txBody>
      </p:sp>
      <p:sp>
        <p:nvSpPr>
          <p:cNvPr id="16" name="Card 3"/>
          <p:cNvSpPr/>
          <p:nvPr/>
        </p:nvSpPr>
        <p:spPr>
          <a:xfrm>
            <a:off x="8001000" y="2057400"/>
            <a:ext cx="3474720" cy="3749040"/>
          </a:xfrm>
          <a:prstGeom prst="roundRect">
            <a:avLst>
              <a:gd name="adj" fmla="val 3684"/>
            </a:avLst>
          </a:prstGeom>
          <a:solidFill>
            <a:schemeClr val="bg1"/>
          </a:solidFill>
          <a:ln w="19050">
            <a:solidFill>
              <a:schemeClr val="accent5"/>
            </a:solidFill>
            <a:prstDash val="dash"/>
          </a:ln>
        </p:spPr>
      </p:sp>
      <p:sp>
        <p:nvSpPr>
          <p:cNvPr id="17" name="Head 3 wash"/>
          <p:cNvSpPr/>
          <p:nvPr/>
        </p:nvSpPr>
        <p:spPr>
          <a:xfrm>
            <a:off x="8001000" y="2057400"/>
            <a:ext cx="3474720" cy="868680"/>
          </a:xfrm>
          <a:prstGeom prst="roundRect">
            <a:avLst>
              <a:gd name="adj" fmla="val 14737"/>
            </a:avLst>
          </a:prstGeom>
          <a:solidFill>
            <a:schemeClr val="accent5">
              <a:alpha val="18000"/>
            </a:schemeClr>
          </a:solidFill>
          <a:ln/>
        </p:spPr>
      </p:sp>
      <p:sp>
        <p:nvSpPr>
          <p:cNvPr id="18" name="Icon 3 disc"/>
          <p:cNvSpPr/>
          <p:nvPr/>
        </p:nvSpPr>
        <p:spPr>
          <a:xfrm>
            <a:off x="8275320" y="2240280"/>
            <a:ext cx="502920" cy="502920"/>
          </a:xfrm>
          <a:prstGeom prst="ellipse">
            <a:avLst/>
          </a:prstGeom>
          <a:solidFill>
            <a:schemeClr val="accent5"/>
          </a:solidFill>
          <a:ln/>
        </p:spPr>
      </p:sp>
      <p:pic>
        <p:nvPicPr>
          <p:cNvPr id="19" name="Icon 3 icon" descr="flask icon">    </p:cNvPr>
          <p:cNvPicPr>
            <a:picLocks noChangeAspect="1"/>
          </p:cNvPicPr>
          <p:nvPr/>
        </p:nvPicPr>
        <p:blipFill>
          <a:blip r:embed="rId3"/>
          <a:stretch>
            <a:fillRect/>
          </a:stretch>
        </p:blipFill>
        <p:spPr>
          <a:xfrm>
            <a:off x="8396021" y="2360981"/>
            <a:ext cx="261518" cy="261518"/>
          </a:xfrm>
          <a:prstGeom prst="rect">
            <a:avLst/>
          </a:prstGeom>
        </p:spPr>
      </p:pic>
      <p:sp>
        <p:nvSpPr>
          <p:cNvPr id="20" name="Heading 3"/>
          <p:cNvSpPr txBox="1"/>
          <p:nvPr/>
        </p:nvSpPr>
        <p:spPr>
          <a:xfrm>
            <a:off x="8915400" y="2212848"/>
            <a:ext cx="2377440" cy="594360"/>
          </a:xfrm>
          <a:prstGeom prst="rect">
            <a:avLst/>
          </a:prstGeom>
          <a:noFill/>
          <a:ln/>
        </p:spPr>
        <p:txBody>
          <a:bodyPr wrap="square" lIns="0" tIns="0" rIns="0" bIns="0" rtlCol="0" anchor="ctr"/>
          <a:lstStyle/>
          <a:p>
            <a:pPr algn="l" indent="0" marL="0">
              <a:lnSpc>
                <a:spcPct val="98000"/>
              </a:lnSpc>
              <a:buNone/>
            </a:pPr>
            <a:r>
              <a:rPr lang="en-US" sz="2200" b="1" dirty="0">
                <a:solidFill>
                  <a:schemeClr val="tx1"/>
                </a:solidFill>
                <a:latin typeface="+mj-lt" pitchFamily="34" charset="0"/>
                <a:ea typeface="+mj-lt" pitchFamily="34" charset="-122"/>
                <a:cs typeface="+mj-lt" pitchFamily="34" charset="-120"/>
              </a:rPr>
              <a:t>Needs validation</a:t>
            </a:r>
            <a:endParaRPr lang="en-US" sz="2200" dirty="0"/>
          </a:p>
          <a:p>
            <a:pPr algn="l" indent="0" marL="0">
              <a:lnSpc>
                <a:spcPct val="98000"/>
              </a:lnSpc>
              <a:buNone/>
            </a:pPr>
            <a:r>
              <a:rPr lang="en-US" sz="1300" dirty="0">
                <a:solidFill>
                  <a:srgbClr val="4A6B5A"/>
                </a:solidFill>
              </a:rPr>
              <a:t>Not yet known</a:t>
            </a:r>
            <a:endParaRPr lang="en-US" sz="2200" dirty="0"/>
          </a:p>
        </p:txBody>
      </p:sp>
      <p:sp>
        <p:nvSpPr>
          <p:cNvPr id="21" name="List 3"/>
          <p:cNvSpPr txBox="1"/>
          <p:nvPr/>
        </p:nvSpPr>
        <p:spPr>
          <a:xfrm>
            <a:off x="8275320" y="3154680"/>
            <a:ext cx="2971800" cy="2514600"/>
          </a:xfrm>
          <a:prstGeom prst="rect">
            <a:avLst/>
          </a:prstGeom>
          <a:noFill/>
          <a:ln/>
        </p:spPr>
        <p:txBody>
          <a:bodyPr wrap="square" lIns="0" tIns="0" rIns="0" bIns="0" rtlCol="0" anchor="t"/>
          <a:lstStyle/>
          <a:p>
            <a:pPr algn="l" marL="342900" indent="-342900">
              <a:lnSpc>
                <a:spcPct val="103000"/>
              </a:lnSpc>
              <a:spcAft>
                <a:spcPts val="700"/>
              </a:spcAft>
              <a:buSzPct val="100000"/>
              <a:buChar char="•"/>
            </a:pPr>
            <a:r>
              <a:rPr lang="en-US" sz="1600" dirty="0">
                <a:solidFill>
                  <a:schemeClr val="tx1"/>
                </a:solidFill>
              </a:rPr>
              <a:t>Repeat ordering and retention.</a:t>
            </a:r>
            <a:endParaRPr lang="en-US" sz="1600" dirty="0"/>
          </a:p>
          <a:p>
            <a:pPr algn="l" marL="342900" indent="-342900">
              <a:lnSpc>
                <a:spcPct val="103000"/>
              </a:lnSpc>
              <a:spcAft>
                <a:spcPts val="700"/>
              </a:spcAft>
              <a:buSzPct val="100000"/>
              <a:buChar char="•"/>
            </a:pPr>
            <a:r>
              <a:rPr lang="en-US" sz="1600" dirty="0">
                <a:solidFill>
                  <a:schemeClr val="tx1"/>
                </a:solidFill>
              </a:rPr>
              <a:t>Reliable alerts for sellers and customers.</a:t>
            </a:r>
            <a:endParaRPr lang="en-US" sz="1600" dirty="0"/>
          </a:p>
          <a:p>
            <a:pPr algn="l" marL="342900" indent="-342900">
              <a:lnSpc>
                <a:spcPct val="103000"/>
              </a:lnSpc>
              <a:spcAft>
                <a:spcPts val="700"/>
              </a:spcAft>
              <a:buSzPct val="100000"/>
              <a:buChar char="•"/>
            </a:pPr>
            <a:r>
              <a:rPr lang="en-US" sz="1600" dirty="0">
                <a:solidFill>
                  <a:schemeClr val="tx1"/>
                </a:solidFill>
              </a:rPr>
              <a:t>Economics for sellers and for Lokal Finder.</a:t>
            </a:r>
            <a:endParaRPr lang="en-US" sz="1600" dirty="0"/>
          </a:p>
          <a:p>
            <a:pPr algn="l" marL="342900" indent="-342900">
              <a:lnSpc>
                <a:spcPct val="103000"/>
              </a:lnSpc>
              <a:spcAft>
                <a:spcPts val="700"/>
              </a:spcAft>
              <a:buSzPct val="100000"/>
              <a:buChar char="•"/>
            </a:pPr>
            <a:r>
              <a:rPr lang="en-US" sz="1600" dirty="0">
                <a:solidFill>
                  <a:schemeClr val="tx1"/>
                </a:solidFill>
              </a:rPr>
              <a:t>Demand in a second community.</a:t>
            </a:r>
            <a:endParaRPr lang="en-US" sz="1600" dirty="0"/>
          </a:p>
        </p:txBody>
      </p:sp>
      <p:sp>
        <p:nvSpPr>
          <p:cNvPr id="22" name="Conclusion"/>
          <p:cNvSpPr txBox="1"/>
          <p:nvPr/>
        </p:nvSpPr>
        <p:spPr>
          <a:xfrm>
            <a:off x="685800" y="5897880"/>
            <a:ext cx="10835640" cy="365760"/>
          </a:xfrm>
          <a:prstGeom prst="rect">
            <a:avLst/>
          </a:prstGeom>
          <a:noFill/>
          <a:ln/>
        </p:spPr>
        <p:txBody>
          <a:bodyPr wrap="square" lIns="0" tIns="0" rIns="0" bIns="0" rtlCol="0" anchor="ctr"/>
          <a:lstStyle/>
          <a:p>
            <a:pPr algn="l" indent="0" marL="0">
              <a:buNone/>
            </a:pPr>
            <a:r>
              <a:rPr lang="en-US" sz="2000" i="1" dirty="0">
                <a:solidFill>
                  <a:schemeClr val="tx1"/>
                </a:solidFill>
                <a:latin typeface="+mj-lt" pitchFamily="34" charset="0"/>
                <a:ea typeface="+mj-lt" pitchFamily="34" charset="-122"/>
                <a:cs typeface="+mj-lt" pitchFamily="34" charset="-120"/>
              </a:rPr>
              <a:t>The sales so far show the concept can work. They do not yet show demand that repeats or scales.</a:t>
            </a:r>
            <a:endParaRPr lang="en-US" sz="2000" dirty="0"/>
          </a:p>
        </p:txBody>
      </p:sp>
      <p:sp>
        <p:nvSpPr>
          <p:cNvPr id="23" name="Footnote"/>
          <p:cNvSpPr txBox="1"/>
          <p:nvPr/>
        </p:nvSpPr>
        <p:spPr>
          <a:xfrm>
            <a:off x="1115568" y="6382512"/>
            <a:ext cx="9692640" cy="274320"/>
          </a:xfrm>
          <a:prstGeom prst="rect">
            <a:avLst/>
          </a:prstGeom>
          <a:noFill/>
          <a:ln/>
        </p:spPr>
        <p:txBody>
          <a:bodyPr wrap="square" lIns="0" tIns="0" rIns="0" bIns="0" rtlCol="0" anchor="ctr"/>
          <a:lstStyle/>
          <a:p>
            <a:pPr algn="l" indent="0" marL="0">
              <a:buNone/>
            </a:pPr>
            <a:r>
              <a:rPr lang="en-US" sz="1200" dirty="0">
                <a:solidFill>
                  <a:srgbClr val="4A6B5A"/>
                </a:solidFill>
              </a:rPr>
              <a:t>Evidence ladder: demonstrated, believed, not yet known.</a:t>
            </a:r>
            <a:endParaRPr lang="en-US" sz="1200" dirty="0"/>
          </a:p>
        </p:txBody>
      </p:sp>
      <p:sp>
        <p:nvSpPr>
          <p:cNvPr id="25" name="Slide Number Placeholder 0"/>
          <p:cNvSpPr>
            <a:spLocks noGrp="1"/>
          </p:cNvSpPr>
          <p:nvPr>
            <p:ph type="sldNum" sz="quarter" idx="4294967295"/>
          </p:nvPr>
        </p:nvSpPr>
        <p:spPr>
          <a:xfrm>
            <a:off x="10957560" y="6373368"/>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accent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3"/>
                                        </p:tgtEl>
                                        <p:attrNameLst>
                                          <p:attrName>style.visibility</p:attrName>
                                        </p:attrNameLst>
                                      </p:cBhvr>
                                      <p:to>
                                        <p:strVal val="visible"/>
                                      </p:to>
                                    </p:set>
                                    <p:anim calcmode="lin" valueType="num">
                                      <p:cBhvr>
                                        <p:cTn id="10" dur="550" fill="hold"/>
                                        <p:tgtEl>
                                          <p:spTgt spid="3"/>
                                        </p:tgtEl>
                                        <p:attrNameLst>
                                          <p:attrName>ppt_y</p:attrName>
                                        </p:attrNameLst>
                                      </p:cBhvr>
                                      <p:tavLst>
                                        <p:tav tm="0">
                                          <p:val>
                                            <p:strVal val="#ppt_y+.05"/>
                                          </p:val>
                                        </p:tav>
                                        <p:tav tm="100000">
                                          <p:val>
                                            <p:strVal val="#ppt_y"/>
                                          </p:val>
                                        </p:tav>
                                      </p:tavLst>
                                    </p:anim>
                                    <p:animEffect transition="in" filter="fade">
                                      <p:cBhvr>
                                        <p:cTn id="11" dur="550"/>
                                        <p:tgtEl>
                                          <p:spTgt spid="3"/>
                                        </p:tgtEl>
                                      </p:cBhvr>
                                    </p:animEffect>
                                  </p:childTnLst>
                                </p:cTn>
                              </p:par>
                              <p:par>
                                <p:cTn id="12" presetID="42" presetClass="entr" presetSubtype="0" fill="hold" grpId="0" nodeType="withEffect">
                                  <p:stCondLst>
                                    <p:cond delay="600"/>
                                  </p:stCondLst>
                                  <p:childTnLst>
                                    <p:set>
                                      <p:cBhvr>
                                        <p:cTn id="13" dur="1" fill="hold">
                                          <p:stCondLst>
                                            <p:cond delay="0"/>
                                          </p:stCondLst>
                                        </p:cTn>
                                        <p:tgtEl>
                                          <p:spTgt spid="4"/>
                                        </p:tgtEl>
                                        <p:attrNameLst>
                                          <p:attrName>style.visibility</p:attrName>
                                        </p:attrNameLst>
                                      </p:cBhvr>
                                      <p:to>
                                        <p:strVal val="visible"/>
                                      </p:to>
                                    </p:set>
                                    <p:anim calcmode="lin" valueType="num">
                                      <p:cBhvr>
                                        <p:cTn id="14" dur="550" fill="hold"/>
                                        <p:tgtEl>
                                          <p:spTgt spid="4"/>
                                        </p:tgtEl>
                                        <p:attrNameLst>
                                          <p:attrName>ppt_y</p:attrName>
                                        </p:attrNameLst>
                                      </p:cBhvr>
                                      <p:tavLst>
                                        <p:tav tm="0">
                                          <p:val>
                                            <p:strVal val="#ppt_y+.05"/>
                                          </p:val>
                                        </p:tav>
                                        <p:tav tm="100000">
                                          <p:val>
                                            <p:strVal val="#ppt_y"/>
                                          </p:val>
                                        </p:tav>
                                      </p:tavLst>
                                    </p:anim>
                                    <p:animEffect transition="in" filter="fade">
                                      <p:cBhvr>
                                        <p:cTn id="15" dur="550"/>
                                        <p:tgtEl>
                                          <p:spTgt spid="4"/>
                                        </p:tgtEl>
                                      </p:cBhvr>
                                    </p:animEffect>
                                  </p:childTnLst>
                                </p:cTn>
                              </p:par>
                              <p:par>
                                <p:cTn id="16" presetID="42" presetClass="entr" presetSubtype="0" fill="hold" grpId="0" nodeType="withEffect">
                                  <p:stCondLst>
                                    <p:cond delay="600"/>
                                  </p:stCondLst>
                                  <p:childTnLst>
                                    <p:set>
                                      <p:cBhvr>
                                        <p:cTn id="17" dur="1" fill="hold">
                                          <p:stCondLst>
                                            <p:cond delay="0"/>
                                          </p:stCondLst>
                                        </p:cTn>
                                        <p:tgtEl>
                                          <p:spTgt spid="5"/>
                                        </p:tgtEl>
                                        <p:attrNameLst>
                                          <p:attrName>style.visibility</p:attrName>
                                        </p:attrNameLst>
                                      </p:cBhvr>
                                      <p:to>
                                        <p:strVal val="visible"/>
                                      </p:to>
                                    </p:set>
                                    <p:anim calcmode="lin" valueType="num">
                                      <p:cBhvr>
                                        <p:cTn id="18" dur="550" fill="hold"/>
                                        <p:tgtEl>
                                          <p:spTgt spid="5"/>
                                        </p:tgtEl>
                                        <p:attrNameLst>
                                          <p:attrName>ppt_y</p:attrName>
                                        </p:attrNameLst>
                                      </p:cBhvr>
                                      <p:tavLst>
                                        <p:tav tm="0">
                                          <p:val>
                                            <p:strVal val="#ppt_y+.05"/>
                                          </p:val>
                                        </p:tav>
                                        <p:tav tm="100000">
                                          <p:val>
                                            <p:strVal val="#ppt_y"/>
                                          </p:val>
                                        </p:tav>
                                      </p:tavLst>
                                    </p:anim>
                                    <p:animEffect transition="in" filter="fade">
                                      <p:cBhvr>
                                        <p:cTn id="19" dur="550"/>
                                        <p:tgtEl>
                                          <p:spTgt spid="5"/>
                                        </p:tgtEl>
                                      </p:cBhvr>
                                    </p:animEffect>
                                  </p:childTnLst>
                                </p:cTn>
                              </p:par>
                              <p:par>
                                <p:cTn id="20" presetID="42" presetClass="entr" presetSubtype="0" fill="hold" grpId="0" nodeType="withEffect">
                                  <p:stCondLst>
                                    <p:cond delay="600"/>
                                  </p:stCondLst>
                                  <p:childTnLst>
                                    <p:set>
                                      <p:cBhvr>
                                        <p:cTn id="21" dur="1" fill="hold">
                                          <p:stCondLst>
                                            <p:cond delay="0"/>
                                          </p:stCondLst>
                                        </p:cTn>
                                        <p:tgtEl>
                                          <p:spTgt spid="6"/>
                                        </p:tgtEl>
                                        <p:attrNameLst>
                                          <p:attrName>style.visibility</p:attrName>
                                        </p:attrNameLst>
                                      </p:cBhvr>
                                      <p:to>
                                        <p:strVal val="visible"/>
                                      </p:to>
                                    </p:set>
                                    <p:anim calcmode="lin" valueType="num">
                                      <p:cBhvr>
                                        <p:cTn id="22" dur="550" fill="hold"/>
                                        <p:tgtEl>
                                          <p:spTgt spid="6"/>
                                        </p:tgtEl>
                                        <p:attrNameLst>
                                          <p:attrName>ppt_y</p:attrName>
                                        </p:attrNameLst>
                                      </p:cBhvr>
                                      <p:tavLst>
                                        <p:tav tm="0">
                                          <p:val>
                                            <p:strVal val="#ppt_y+.05"/>
                                          </p:val>
                                        </p:tav>
                                        <p:tav tm="100000">
                                          <p:val>
                                            <p:strVal val="#ppt_y"/>
                                          </p:val>
                                        </p:tav>
                                      </p:tavLst>
                                    </p:anim>
                                    <p:animEffect transition="in" filter="fade">
                                      <p:cBhvr>
                                        <p:cTn id="23" dur="550"/>
                                        <p:tgtEl>
                                          <p:spTgt spid="6"/>
                                        </p:tgtEl>
                                      </p:cBhvr>
                                    </p:animEffect>
                                  </p:childTnLst>
                                </p:cTn>
                              </p:par>
                              <p:par>
                                <p:cTn id="24" presetID="42" presetClass="entr" presetSubtype="0" fill="hold" nodeType="withEffect">
                                  <p:stCondLst>
                                    <p:cond delay="600"/>
                                  </p:stCondLst>
                                  <p:childTnLst>
                                    <p:set>
                                      <p:cBhvr>
                                        <p:cTn id="25" dur="1" fill="hold">
                                          <p:stCondLst>
                                            <p:cond delay="0"/>
                                          </p:stCondLst>
                                        </p:cTn>
                                        <p:tgtEl>
                                          <p:spTgt spid="7"/>
                                        </p:tgtEl>
                                        <p:attrNameLst>
                                          <p:attrName>style.visibility</p:attrName>
                                        </p:attrNameLst>
                                      </p:cBhvr>
                                      <p:to>
                                        <p:strVal val="visible"/>
                                      </p:to>
                                    </p:set>
                                    <p:anim calcmode="lin" valueType="num">
                                      <p:cBhvr>
                                        <p:cTn id="26" dur="550" fill="hold"/>
                                        <p:tgtEl>
                                          <p:spTgt spid="7"/>
                                        </p:tgtEl>
                                        <p:attrNameLst>
                                          <p:attrName>ppt_y</p:attrName>
                                        </p:attrNameLst>
                                      </p:cBhvr>
                                      <p:tavLst>
                                        <p:tav tm="0">
                                          <p:val>
                                            <p:strVal val="#ppt_y+.05"/>
                                          </p:val>
                                        </p:tav>
                                        <p:tav tm="100000">
                                          <p:val>
                                            <p:strVal val="#ppt_y"/>
                                          </p:val>
                                        </p:tav>
                                      </p:tavLst>
                                    </p:anim>
                                    <p:animEffect transition="in" filter="fade">
                                      <p:cBhvr>
                                        <p:cTn id="27" dur="550"/>
                                        <p:tgtEl>
                                          <p:spTgt spid="7"/>
                                        </p:tgtEl>
                                      </p:cBhvr>
                                    </p:animEffect>
                                  </p:childTnLst>
                                </p:cTn>
                              </p:par>
                              <p:par>
                                <p:cTn id="28" presetID="42" presetClass="entr" presetSubtype="0" fill="hold" grpId="0" nodeType="withEffect">
                                  <p:stCondLst>
                                    <p:cond delay="600"/>
                                  </p:stCondLst>
                                  <p:childTnLst>
                                    <p:set>
                                      <p:cBhvr>
                                        <p:cTn id="29" dur="1" fill="hold">
                                          <p:stCondLst>
                                            <p:cond delay="0"/>
                                          </p:stCondLst>
                                        </p:cTn>
                                        <p:tgtEl>
                                          <p:spTgt spid="8"/>
                                        </p:tgtEl>
                                        <p:attrNameLst>
                                          <p:attrName>style.visibility</p:attrName>
                                        </p:attrNameLst>
                                      </p:cBhvr>
                                      <p:to>
                                        <p:strVal val="visible"/>
                                      </p:to>
                                    </p:set>
                                    <p:anim calcmode="lin" valueType="num">
                                      <p:cBhvr>
                                        <p:cTn id="30" dur="550" fill="hold"/>
                                        <p:tgtEl>
                                          <p:spTgt spid="8"/>
                                        </p:tgtEl>
                                        <p:attrNameLst>
                                          <p:attrName>ppt_y</p:attrName>
                                        </p:attrNameLst>
                                      </p:cBhvr>
                                      <p:tavLst>
                                        <p:tav tm="0">
                                          <p:val>
                                            <p:strVal val="#ppt_y+.05"/>
                                          </p:val>
                                        </p:tav>
                                        <p:tav tm="100000">
                                          <p:val>
                                            <p:strVal val="#ppt_y"/>
                                          </p:val>
                                        </p:tav>
                                      </p:tavLst>
                                    </p:anim>
                                    <p:animEffect transition="in" filter="fade">
                                      <p:cBhvr>
                                        <p:cTn id="31" dur="550"/>
                                        <p:tgtEl>
                                          <p:spTgt spid="8"/>
                                        </p:tgtEl>
                                      </p:cBhvr>
                                    </p:animEffect>
                                  </p:childTnLst>
                                </p:cTn>
                              </p:par>
                              <p:par>
                                <p:cTn id="32" presetID="10" presetClass="entr" presetSubtype="0" fill="hold" grpId="0" nodeType="withEffect">
                                  <p:stCondLst>
                                    <p:cond delay="95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par>
                                <p:cTn id="35" presetID="42" presetClass="entr" presetSubtype="0" fill="hold" grpId="0" nodeType="withEffect">
                                  <p:stCondLst>
                                    <p:cond delay="950"/>
                                  </p:stCondLst>
                                  <p:childTnLst>
                                    <p:set>
                                      <p:cBhvr>
                                        <p:cTn id="36" dur="1" fill="hold">
                                          <p:stCondLst>
                                            <p:cond delay="0"/>
                                          </p:stCondLst>
                                        </p:cTn>
                                        <p:tgtEl>
                                          <p:spTgt spid="10"/>
                                        </p:tgtEl>
                                        <p:attrNameLst>
                                          <p:attrName>style.visibility</p:attrName>
                                        </p:attrNameLst>
                                      </p:cBhvr>
                                      <p:to>
                                        <p:strVal val="visible"/>
                                      </p:to>
                                    </p:set>
                                    <p:anim calcmode="lin" valueType="num">
                                      <p:cBhvr>
                                        <p:cTn id="37" dur="550" fill="hold"/>
                                        <p:tgtEl>
                                          <p:spTgt spid="10"/>
                                        </p:tgtEl>
                                        <p:attrNameLst>
                                          <p:attrName>ppt_y</p:attrName>
                                        </p:attrNameLst>
                                      </p:cBhvr>
                                      <p:tavLst>
                                        <p:tav tm="0">
                                          <p:val>
                                            <p:strVal val="#ppt_y+.05"/>
                                          </p:val>
                                        </p:tav>
                                        <p:tav tm="100000">
                                          <p:val>
                                            <p:strVal val="#ppt_y"/>
                                          </p:val>
                                        </p:tav>
                                      </p:tavLst>
                                    </p:anim>
                                    <p:animEffect transition="in" filter="fade">
                                      <p:cBhvr>
                                        <p:cTn id="38" dur="550"/>
                                        <p:tgtEl>
                                          <p:spTgt spid="10"/>
                                        </p:tgtEl>
                                      </p:cBhvr>
                                    </p:animEffect>
                                  </p:childTnLst>
                                </p:cTn>
                              </p:par>
                              <p:par>
                                <p:cTn id="39" presetID="42" presetClass="entr" presetSubtype="0" fill="hold" grpId="0" nodeType="withEffect">
                                  <p:stCondLst>
                                    <p:cond delay="950"/>
                                  </p:stCondLst>
                                  <p:childTnLst>
                                    <p:set>
                                      <p:cBhvr>
                                        <p:cTn id="40" dur="1" fill="hold">
                                          <p:stCondLst>
                                            <p:cond delay="0"/>
                                          </p:stCondLst>
                                        </p:cTn>
                                        <p:tgtEl>
                                          <p:spTgt spid="11"/>
                                        </p:tgtEl>
                                        <p:attrNameLst>
                                          <p:attrName>style.visibility</p:attrName>
                                        </p:attrNameLst>
                                      </p:cBhvr>
                                      <p:to>
                                        <p:strVal val="visible"/>
                                      </p:to>
                                    </p:set>
                                    <p:anim calcmode="lin" valueType="num">
                                      <p:cBhvr>
                                        <p:cTn id="41" dur="550" fill="hold"/>
                                        <p:tgtEl>
                                          <p:spTgt spid="11"/>
                                        </p:tgtEl>
                                        <p:attrNameLst>
                                          <p:attrName>ppt_y</p:attrName>
                                        </p:attrNameLst>
                                      </p:cBhvr>
                                      <p:tavLst>
                                        <p:tav tm="0">
                                          <p:val>
                                            <p:strVal val="#ppt_y+.05"/>
                                          </p:val>
                                        </p:tav>
                                        <p:tav tm="100000">
                                          <p:val>
                                            <p:strVal val="#ppt_y"/>
                                          </p:val>
                                        </p:tav>
                                      </p:tavLst>
                                    </p:anim>
                                    <p:animEffect transition="in" filter="fade">
                                      <p:cBhvr>
                                        <p:cTn id="42" dur="550"/>
                                        <p:tgtEl>
                                          <p:spTgt spid="11"/>
                                        </p:tgtEl>
                                      </p:cBhvr>
                                    </p:animEffect>
                                  </p:childTnLst>
                                </p:cTn>
                              </p:par>
                              <p:par>
                                <p:cTn id="43" presetID="42" presetClass="entr" presetSubtype="0" fill="hold" grpId="0" nodeType="withEffect">
                                  <p:stCondLst>
                                    <p:cond delay="950"/>
                                  </p:stCondLst>
                                  <p:childTnLst>
                                    <p:set>
                                      <p:cBhvr>
                                        <p:cTn id="44" dur="1" fill="hold">
                                          <p:stCondLst>
                                            <p:cond delay="0"/>
                                          </p:stCondLst>
                                        </p:cTn>
                                        <p:tgtEl>
                                          <p:spTgt spid="12"/>
                                        </p:tgtEl>
                                        <p:attrNameLst>
                                          <p:attrName>style.visibility</p:attrName>
                                        </p:attrNameLst>
                                      </p:cBhvr>
                                      <p:to>
                                        <p:strVal val="visible"/>
                                      </p:to>
                                    </p:set>
                                    <p:anim calcmode="lin" valueType="num">
                                      <p:cBhvr>
                                        <p:cTn id="45" dur="550" fill="hold"/>
                                        <p:tgtEl>
                                          <p:spTgt spid="12"/>
                                        </p:tgtEl>
                                        <p:attrNameLst>
                                          <p:attrName>ppt_y</p:attrName>
                                        </p:attrNameLst>
                                      </p:cBhvr>
                                      <p:tavLst>
                                        <p:tav tm="0">
                                          <p:val>
                                            <p:strVal val="#ppt_y+.05"/>
                                          </p:val>
                                        </p:tav>
                                        <p:tav tm="100000">
                                          <p:val>
                                            <p:strVal val="#ppt_y"/>
                                          </p:val>
                                        </p:tav>
                                      </p:tavLst>
                                    </p:anim>
                                    <p:animEffect transition="in" filter="fade">
                                      <p:cBhvr>
                                        <p:cTn id="46" dur="550"/>
                                        <p:tgtEl>
                                          <p:spTgt spid="12"/>
                                        </p:tgtEl>
                                      </p:cBhvr>
                                    </p:animEffect>
                                  </p:childTnLst>
                                </p:cTn>
                              </p:par>
                              <p:par>
                                <p:cTn id="47" presetID="42" presetClass="entr" presetSubtype="0" fill="hold" nodeType="withEffect">
                                  <p:stCondLst>
                                    <p:cond delay="950"/>
                                  </p:stCondLst>
                                  <p:childTnLst>
                                    <p:set>
                                      <p:cBhvr>
                                        <p:cTn id="48" dur="1" fill="hold">
                                          <p:stCondLst>
                                            <p:cond delay="0"/>
                                          </p:stCondLst>
                                        </p:cTn>
                                        <p:tgtEl>
                                          <p:spTgt spid="13"/>
                                        </p:tgtEl>
                                        <p:attrNameLst>
                                          <p:attrName>style.visibility</p:attrName>
                                        </p:attrNameLst>
                                      </p:cBhvr>
                                      <p:to>
                                        <p:strVal val="visible"/>
                                      </p:to>
                                    </p:set>
                                    <p:anim calcmode="lin" valueType="num">
                                      <p:cBhvr>
                                        <p:cTn id="49" dur="550" fill="hold"/>
                                        <p:tgtEl>
                                          <p:spTgt spid="13"/>
                                        </p:tgtEl>
                                        <p:attrNameLst>
                                          <p:attrName>ppt_y</p:attrName>
                                        </p:attrNameLst>
                                      </p:cBhvr>
                                      <p:tavLst>
                                        <p:tav tm="0">
                                          <p:val>
                                            <p:strVal val="#ppt_y+.05"/>
                                          </p:val>
                                        </p:tav>
                                        <p:tav tm="100000">
                                          <p:val>
                                            <p:strVal val="#ppt_y"/>
                                          </p:val>
                                        </p:tav>
                                      </p:tavLst>
                                    </p:anim>
                                    <p:animEffect transition="in" filter="fade">
                                      <p:cBhvr>
                                        <p:cTn id="50" dur="550"/>
                                        <p:tgtEl>
                                          <p:spTgt spid="13"/>
                                        </p:tgtEl>
                                      </p:cBhvr>
                                    </p:animEffect>
                                  </p:childTnLst>
                                </p:cTn>
                              </p:par>
                              <p:par>
                                <p:cTn id="51" presetID="42" presetClass="entr" presetSubtype="0" fill="hold" grpId="0" nodeType="withEffect">
                                  <p:stCondLst>
                                    <p:cond delay="950"/>
                                  </p:stCondLst>
                                  <p:childTnLst>
                                    <p:set>
                                      <p:cBhvr>
                                        <p:cTn id="52" dur="1" fill="hold">
                                          <p:stCondLst>
                                            <p:cond delay="0"/>
                                          </p:stCondLst>
                                        </p:cTn>
                                        <p:tgtEl>
                                          <p:spTgt spid="14"/>
                                        </p:tgtEl>
                                        <p:attrNameLst>
                                          <p:attrName>style.visibility</p:attrName>
                                        </p:attrNameLst>
                                      </p:cBhvr>
                                      <p:to>
                                        <p:strVal val="visible"/>
                                      </p:to>
                                    </p:set>
                                    <p:anim calcmode="lin" valueType="num">
                                      <p:cBhvr>
                                        <p:cTn id="53" dur="550" fill="hold"/>
                                        <p:tgtEl>
                                          <p:spTgt spid="14"/>
                                        </p:tgtEl>
                                        <p:attrNameLst>
                                          <p:attrName>ppt_y</p:attrName>
                                        </p:attrNameLst>
                                      </p:cBhvr>
                                      <p:tavLst>
                                        <p:tav tm="0">
                                          <p:val>
                                            <p:strVal val="#ppt_y+.05"/>
                                          </p:val>
                                        </p:tav>
                                        <p:tav tm="100000">
                                          <p:val>
                                            <p:strVal val="#ppt_y"/>
                                          </p:val>
                                        </p:tav>
                                      </p:tavLst>
                                    </p:anim>
                                    <p:animEffect transition="in" filter="fade">
                                      <p:cBhvr>
                                        <p:cTn id="54" dur="550"/>
                                        <p:tgtEl>
                                          <p:spTgt spid="14"/>
                                        </p:tgtEl>
                                      </p:cBhvr>
                                    </p:animEffect>
                                  </p:childTnLst>
                                </p:cTn>
                              </p:par>
                              <p:par>
                                <p:cTn id="55" presetID="10" presetClass="entr" presetSubtype="0" fill="hold" grpId="0" nodeType="withEffect">
                                  <p:stCondLst>
                                    <p:cond delay="130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par>
                                <p:cTn id="58" presetID="42" presetClass="entr" presetSubtype="0" fill="hold" grpId="0" nodeType="withEffect">
                                  <p:stCondLst>
                                    <p:cond delay="1300"/>
                                  </p:stCondLst>
                                  <p:childTnLst>
                                    <p:set>
                                      <p:cBhvr>
                                        <p:cTn id="59" dur="1" fill="hold">
                                          <p:stCondLst>
                                            <p:cond delay="0"/>
                                          </p:stCondLst>
                                        </p:cTn>
                                        <p:tgtEl>
                                          <p:spTgt spid="16"/>
                                        </p:tgtEl>
                                        <p:attrNameLst>
                                          <p:attrName>style.visibility</p:attrName>
                                        </p:attrNameLst>
                                      </p:cBhvr>
                                      <p:to>
                                        <p:strVal val="visible"/>
                                      </p:to>
                                    </p:set>
                                    <p:anim calcmode="lin" valueType="num">
                                      <p:cBhvr>
                                        <p:cTn id="60" dur="550" fill="hold"/>
                                        <p:tgtEl>
                                          <p:spTgt spid="16"/>
                                        </p:tgtEl>
                                        <p:attrNameLst>
                                          <p:attrName>ppt_y</p:attrName>
                                        </p:attrNameLst>
                                      </p:cBhvr>
                                      <p:tavLst>
                                        <p:tav tm="0">
                                          <p:val>
                                            <p:strVal val="#ppt_y+.05"/>
                                          </p:val>
                                        </p:tav>
                                        <p:tav tm="100000">
                                          <p:val>
                                            <p:strVal val="#ppt_y"/>
                                          </p:val>
                                        </p:tav>
                                      </p:tavLst>
                                    </p:anim>
                                    <p:animEffect transition="in" filter="fade">
                                      <p:cBhvr>
                                        <p:cTn id="61" dur="550"/>
                                        <p:tgtEl>
                                          <p:spTgt spid="16"/>
                                        </p:tgtEl>
                                      </p:cBhvr>
                                    </p:animEffect>
                                  </p:childTnLst>
                                </p:cTn>
                              </p:par>
                              <p:par>
                                <p:cTn id="62" presetID="42" presetClass="entr" presetSubtype="0" fill="hold" grpId="0" nodeType="withEffect">
                                  <p:stCondLst>
                                    <p:cond delay="1300"/>
                                  </p:stCondLst>
                                  <p:childTnLst>
                                    <p:set>
                                      <p:cBhvr>
                                        <p:cTn id="63" dur="1" fill="hold">
                                          <p:stCondLst>
                                            <p:cond delay="0"/>
                                          </p:stCondLst>
                                        </p:cTn>
                                        <p:tgtEl>
                                          <p:spTgt spid="17"/>
                                        </p:tgtEl>
                                        <p:attrNameLst>
                                          <p:attrName>style.visibility</p:attrName>
                                        </p:attrNameLst>
                                      </p:cBhvr>
                                      <p:to>
                                        <p:strVal val="visible"/>
                                      </p:to>
                                    </p:set>
                                    <p:anim calcmode="lin" valueType="num">
                                      <p:cBhvr>
                                        <p:cTn id="64" dur="550" fill="hold"/>
                                        <p:tgtEl>
                                          <p:spTgt spid="17"/>
                                        </p:tgtEl>
                                        <p:attrNameLst>
                                          <p:attrName>ppt_y</p:attrName>
                                        </p:attrNameLst>
                                      </p:cBhvr>
                                      <p:tavLst>
                                        <p:tav tm="0">
                                          <p:val>
                                            <p:strVal val="#ppt_y+.05"/>
                                          </p:val>
                                        </p:tav>
                                        <p:tav tm="100000">
                                          <p:val>
                                            <p:strVal val="#ppt_y"/>
                                          </p:val>
                                        </p:tav>
                                      </p:tavLst>
                                    </p:anim>
                                    <p:animEffect transition="in" filter="fade">
                                      <p:cBhvr>
                                        <p:cTn id="65" dur="550"/>
                                        <p:tgtEl>
                                          <p:spTgt spid="17"/>
                                        </p:tgtEl>
                                      </p:cBhvr>
                                    </p:animEffect>
                                  </p:childTnLst>
                                </p:cTn>
                              </p:par>
                              <p:par>
                                <p:cTn id="66" presetID="42" presetClass="entr" presetSubtype="0" fill="hold" grpId="0" nodeType="withEffect">
                                  <p:stCondLst>
                                    <p:cond delay="1300"/>
                                  </p:stCondLst>
                                  <p:childTnLst>
                                    <p:set>
                                      <p:cBhvr>
                                        <p:cTn id="67" dur="1" fill="hold">
                                          <p:stCondLst>
                                            <p:cond delay="0"/>
                                          </p:stCondLst>
                                        </p:cTn>
                                        <p:tgtEl>
                                          <p:spTgt spid="18"/>
                                        </p:tgtEl>
                                        <p:attrNameLst>
                                          <p:attrName>style.visibility</p:attrName>
                                        </p:attrNameLst>
                                      </p:cBhvr>
                                      <p:to>
                                        <p:strVal val="visible"/>
                                      </p:to>
                                    </p:set>
                                    <p:anim calcmode="lin" valueType="num">
                                      <p:cBhvr>
                                        <p:cTn id="68" dur="550" fill="hold"/>
                                        <p:tgtEl>
                                          <p:spTgt spid="18"/>
                                        </p:tgtEl>
                                        <p:attrNameLst>
                                          <p:attrName>ppt_y</p:attrName>
                                        </p:attrNameLst>
                                      </p:cBhvr>
                                      <p:tavLst>
                                        <p:tav tm="0">
                                          <p:val>
                                            <p:strVal val="#ppt_y+.05"/>
                                          </p:val>
                                        </p:tav>
                                        <p:tav tm="100000">
                                          <p:val>
                                            <p:strVal val="#ppt_y"/>
                                          </p:val>
                                        </p:tav>
                                      </p:tavLst>
                                    </p:anim>
                                    <p:animEffect transition="in" filter="fade">
                                      <p:cBhvr>
                                        <p:cTn id="69" dur="550"/>
                                        <p:tgtEl>
                                          <p:spTgt spid="18"/>
                                        </p:tgtEl>
                                      </p:cBhvr>
                                    </p:animEffect>
                                  </p:childTnLst>
                                </p:cTn>
                              </p:par>
                              <p:par>
                                <p:cTn id="70" presetID="42" presetClass="entr" presetSubtype="0" fill="hold" nodeType="withEffect">
                                  <p:stCondLst>
                                    <p:cond delay="1300"/>
                                  </p:stCondLst>
                                  <p:childTnLst>
                                    <p:set>
                                      <p:cBhvr>
                                        <p:cTn id="71" dur="1" fill="hold">
                                          <p:stCondLst>
                                            <p:cond delay="0"/>
                                          </p:stCondLst>
                                        </p:cTn>
                                        <p:tgtEl>
                                          <p:spTgt spid="19"/>
                                        </p:tgtEl>
                                        <p:attrNameLst>
                                          <p:attrName>style.visibility</p:attrName>
                                        </p:attrNameLst>
                                      </p:cBhvr>
                                      <p:to>
                                        <p:strVal val="visible"/>
                                      </p:to>
                                    </p:set>
                                    <p:anim calcmode="lin" valueType="num">
                                      <p:cBhvr>
                                        <p:cTn id="72" dur="550" fill="hold"/>
                                        <p:tgtEl>
                                          <p:spTgt spid="19"/>
                                        </p:tgtEl>
                                        <p:attrNameLst>
                                          <p:attrName>ppt_y</p:attrName>
                                        </p:attrNameLst>
                                      </p:cBhvr>
                                      <p:tavLst>
                                        <p:tav tm="0">
                                          <p:val>
                                            <p:strVal val="#ppt_y+.05"/>
                                          </p:val>
                                        </p:tav>
                                        <p:tav tm="100000">
                                          <p:val>
                                            <p:strVal val="#ppt_y"/>
                                          </p:val>
                                        </p:tav>
                                      </p:tavLst>
                                    </p:anim>
                                    <p:animEffect transition="in" filter="fade">
                                      <p:cBhvr>
                                        <p:cTn id="73" dur="550"/>
                                        <p:tgtEl>
                                          <p:spTgt spid="19"/>
                                        </p:tgtEl>
                                      </p:cBhvr>
                                    </p:animEffect>
                                  </p:childTnLst>
                                </p:cTn>
                              </p:par>
                              <p:par>
                                <p:cTn id="74" presetID="42" presetClass="entr" presetSubtype="0" fill="hold" grpId="0" nodeType="withEffect">
                                  <p:stCondLst>
                                    <p:cond delay="1300"/>
                                  </p:stCondLst>
                                  <p:childTnLst>
                                    <p:set>
                                      <p:cBhvr>
                                        <p:cTn id="75" dur="1" fill="hold">
                                          <p:stCondLst>
                                            <p:cond delay="0"/>
                                          </p:stCondLst>
                                        </p:cTn>
                                        <p:tgtEl>
                                          <p:spTgt spid="20"/>
                                        </p:tgtEl>
                                        <p:attrNameLst>
                                          <p:attrName>style.visibility</p:attrName>
                                        </p:attrNameLst>
                                      </p:cBhvr>
                                      <p:to>
                                        <p:strVal val="visible"/>
                                      </p:to>
                                    </p:set>
                                    <p:anim calcmode="lin" valueType="num">
                                      <p:cBhvr>
                                        <p:cTn id="76" dur="550" fill="hold"/>
                                        <p:tgtEl>
                                          <p:spTgt spid="20"/>
                                        </p:tgtEl>
                                        <p:attrNameLst>
                                          <p:attrName>ppt_y</p:attrName>
                                        </p:attrNameLst>
                                      </p:cBhvr>
                                      <p:tavLst>
                                        <p:tav tm="0">
                                          <p:val>
                                            <p:strVal val="#ppt_y+.05"/>
                                          </p:val>
                                        </p:tav>
                                        <p:tav tm="100000">
                                          <p:val>
                                            <p:strVal val="#ppt_y"/>
                                          </p:val>
                                        </p:tav>
                                      </p:tavLst>
                                    </p:anim>
                                    <p:animEffect transition="in" filter="fade">
                                      <p:cBhvr>
                                        <p:cTn id="77" dur="550"/>
                                        <p:tgtEl>
                                          <p:spTgt spid="20"/>
                                        </p:tgtEl>
                                      </p:cBhvr>
                                    </p:animEffect>
                                  </p:childTnLst>
                                </p:cTn>
                              </p:par>
                              <p:par>
                                <p:cTn id="78" presetID="10" presetClass="entr" presetSubtype="0" fill="hold" grpId="0" nodeType="withEffect">
                                  <p:stCondLst>
                                    <p:cond delay="1650"/>
                                  </p:stCondLst>
                                  <p:childTnLst>
                                    <p:set>
                                      <p:cBhvr>
                                        <p:cTn id="79" dur="1" fill="hold">
                                          <p:stCondLst>
                                            <p:cond delay="0"/>
                                          </p:stCondLst>
                                        </p:cTn>
                                        <p:tgtEl>
                                          <p:spTgt spid="21"/>
                                        </p:tgtEl>
                                        <p:attrNameLst>
                                          <p:attrName>style.visibility</p:attrName>
                                        </p:attrNameLst>
                                      </p:cBhvr>
                                      <p:to>
                                        <p:strVal val="visible"/>
                                      </p:to>
                                    </p:set>
                                    <p:animEffect transition="in" filter="fade">
                                      <p:cBhvr>
                                        <p:cTn id="80" dur="500"/>
                                        <p:tgtEl>
                                          <p:spTgt spid="21"/>
                                        </p:tgtEl>
                                      </p:cBhvr>
                                    </p:animEffect>
                                  </p:childTnLst>
                                </p:cTn>
                              </p:par>
                              <p:par>
                                <p:cTn id="81" presetID="42" presetClass="entr" presetSubtype="0" fill="hold" grpId="0" nodeType="withEffect">
                                  <p:stCondLst>
                                    <p:cond delay="2100"/>
                                  </p:stCondLst>
                                  <p:childTnLst>
                                    <p:set>
                                      <p:cBhvr>
                                        <p:cTn id="82" dur="1" fill="hold">
                                          <p:stCondLst>
                                            <p:cond delay="0"/>
                                          </p:stCondLst>
                                        </p:cTn>
                                        <p:tgtEl>
                                          <p:spTgt spid="22"/>
                                        </p:tgtEl>
                                        <p:attrNameLst>
                                          <p:attrName>style.visibility</p:attrName>
                                        </p:attrNameLst>
                                      </p:cBhvr>
                                      <p:to>
                                        <p:strVal val="visible"/>
                                      </p:to>
                                    </p:set>
                                    <p:anim calcmode="lin" valueType="num">
                                      <p:cBhvr>
                                        <p:cTn id="83" dur="550" fill="hold"/>
                                        <p:tgtEl>
                                          <p:spTgt spid="22"/>
                                        </p:tgtEl>
                                        <p:attrNameLst>
                                          <p:attrName>ppt_y</p:attrName>
                                        </p:attrNameLst>
                                      </p:cBhvr>
                                      <p:tavLst>
                                        <p:tav tm="0">
                                          <p:val>
                                            <p:strVal val="#ppt_y+.05"/>
                                          </p:val>
                                        </p:tav>
                                        <p:tav tm="100000">
                                          <p:val>
                                            <p:strVal val="#ppt_y"/>
                                          </p:val>
                                        </p:tav>
                                      </p:tavLst>
                                    </p:anim>
                                    <p:animEffect transition="in" filter="fade">
                                      <p:cBhvr>
                                        <p:cTn id="84" dur="550"/>
                                        <p:tgtEl>
                                          <p:spTgt spid="22"/>
                                        </p:tgtEl>
                                      </p:cBhvr>
                                    </p:animEffect>
                                  </p:childTnLst>
                                </p:cTn>
                              </p:par>
                              <p:par>
                                <p:cTn id="85" presetID="10" presetClass="entr" presetSubtype="0" fill="hold" grpId="0" nodeType="withEffect">
                                  <p:stCondLst>
                                    <p:cond delay="2400"/>
                                  </p:stCondLst>
                                  <p:childTnLst>
                                    <p:set>
                                      <p:cBhvr>
                                        <p:cTn id="86" dur="1" fill="hold">
                                          <p:stCondLst>
                                            <p:cond delay="0"/>
                                          </p:stCondLst>
                                        </p:cTn>
                                        <p:tgtEl>
                                          <p:spTgt spid="23"/>
                                        </p:tgtEl>
                                        <p:attrNameLst>
                                          <p:attrName>style.visibility</p:attrName>
                                        </p:attrNameLst>
                                      </p:cBhvr>
                                      <p:to>
                                        <p:strVal val="visible"/>
                                      </p:to>
                                    </p:set>
                                    <p:animEffect transition="in" filter="fade">
                                      <p:cBhvr>
                                        <p:cTn id="8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animBg="1"/>
      <p:bldP spid="6" grpId="0" animBg="1"/>
      <p:bldP spid="8" grpId="0"/>
      <p:bldP spid="9" grpId="0"/>
      <p:bldP spid="10" grpId="0" animBg="1"/>
      <p:bldP spid="11" grpId="0" animBg="1"/>
      <p:bldP spid="12" grpId="0" animBg="1"/>
      <p:bldP spid="14" grpId="0"/>
      <p:bldP spid="15" grpId="0"/>
      <p:bldP spid="16" grpId="0" animBg="1"/>
      <p:bldP spid="17" grpId="0" animBg="1"/>
      <p:bldP spid="18" grpId="0" animBg="1"/>
      <p:bldP spid="20" grpId="0"/>
      <p:bldP spid="21" grpId="0"/>
      <p:bldP spid="22" grpId="0"/>
      <p:bldP spid="23"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685800" y="502920"/>
            <a:ext cx="7315200" cy="274320"/>
          </a:xfrm>
          <a:prstGeom prst="rect">
            <a:avLst/>
          </a:prstGeom>
          <a:noFill/>
          <a:ln/>
        </p:spPr>
        <p:txBody>
          <a:bodyPr wrap="square" lIns="0" tIns="0" rIns="0" bIns="0" rtlCol="0" anchor="t"/>
          <a:lstStyle/>
          <a:p>
            <a:pPr algn="l" indent="0" marL="0">
              <a:buNone/>
            </a:pPr>
            <a:r>
              <a:rPr lang="en-US" sz="1300" b="1" spc="300" kern="0" dirty="0">
                <a:solidFill>
                  <a:srgbClr val="3FD39B"/>
                </a:solidFill>
              </a:rPr>
              <a:t>THE BUSINESS MODEL</a:t>
            </a:r>
            <a:endParaRPr lang="en-US" sz="1300" dirty="0"/>
          </a:p>
        </p:txBody>
      </p:sp>
      <p:sp>
        <p:nvSpPr>
          <p:cNvPr id="3" name="Text 0"/>
          <p:cNvSpPr/>
          <p:nvPr>
            <p:ph idx="101" type="title" hasCustomPrompt="1"/>
          </p:nvPr>
        </p:nvSpPr>
        <p:spPr>
          <a:xfrm>
            <a:off x="685800" y="841248"/>
            <a:ext cx="10820400" cy="1325880"/>
          </a:xfrm>
          <a:prstGeom prst="rect">
            <a:avLst/>
          </a:prstGeom>
          <a:noFill/>
          <a:ln/>
        </p:spPr>
        <p:txBody>
          <a:bodyPr wrap="square" lIns="0" tIns="0" rIns="0" bIns="0" rtlCol="0" anchor="t"/>
          <a:lstStyle/>
          <a:p>
            <a:pPr algn="l" indent="0" marL="0">
              <a:lnSpc>
                <a:spcPct val="95000"/>
              </a:lnSpc>
              <a:buNone/>
            </a:pPr>
            <a:r>
              <a:rPr lang="en-US" sz="4000" b="1" dirty="0">
                <a:solidFill>
                  <a:schemeClr val="bg1"/>
                </a:solidFill>
                <a:latin typeface="+mj-lt" pitchFamily="34" charset="0"/>
                <a:ea typeface="+mj-lt" pitchFamily="34" charset="-122"/>
                <a:cs typeface="+mj-lt" pitchFamily="34" charset="-120"/>
              </a:rPr>
              <a:t>How we could earn, </a:t>
            </a:r>
            <a:pPr algn="l" indent="0" marL="0">
              <a:lnSpc>
                <a:spcPct val="95000"/>
              </a:lnSpc>
              <a:buNone/>
            </a:pPr>
            <a:r>
              <a:rPr lang="en-US" sz="4000" b="1" i="1" dirty="0">
                <a:solidFill>
                  <a:srgbClr val="3FD39B"/>
                </a:solidFill>
                <a:latin typeface="+mj-lt" pitchFamily="34" charset="0"/>
                <a:ea typeface="+mj-lt" pitchFamily="34" charset="-122"/>
                <a:cs typeface="+mj-lt" pitchFamily="34" charset="-120"/>
              </a:rPr>
              <a:t>and what exists today.</a:t>
            </a:r>
            <a:endParaRPr lang="en-US" sz="4000" dirty="0"/>
          </a:p>
        </p:txBody>
      </p:sp>
      <p:sp>
        <p:nvSpPr>
          <p:cNvPr id="4" name="Pill residents"/>
          <p:cNvSpPr/>
          <p:nvPr/>
        </p:nvSpPr>
        <p:spPr>
          <a:xfrm>
            <a:off x="685800" y="2286000"/>
            <a:ext cx="2194560" cy="566928"/>
          </a:xfrm>
          <a:prstGeom prst="roundRect">
            <a:avLst>
              <a:gd name="adj" fmla="val 50000"/>
            </a:avLst>
          </a:prstGeom>
          <a:solidFill>
            <a:schemeClr val="bg1">
              <a:alpha val="10000"/>
            </a:schemeClr>
          </a:solidFill>
          <a:ln w="12700">
            <a:solidFill>
              <a:schemeClr val="bg1">
                <a:alpha val="30000"/>
              </a:schemeClr>
            </a:solidFill>
          </a:ln>
        </p:spPr>
        <p:txBody>
          <a:bodyPr wrap="square" lIns="0" tIns="0" rIns="0" bIns="0" rtlCol="0" anchor="ctr"/>
          <a:lstStyle/>
          <a:p>
            <a:pPr algn="ctr" indent="0" marL="0">
              <a:buNone/>
            </a:pPr>
            <a:r>
              <a:rPr lang="en-US" sz="2000" b="1" dirty="0">
                <a:solidFill>
                  <a:schemeClr val="bg1"/>
                </a:solidFill>
              </a:rPr>
              <a:t>Residents</a:t>
            </a:r>
            <a:endParaRPr lang="en-US" sz="2000" dirty="0"/>
          </a:p>
        </p:txBody>
      </p:sp>
      <p:sp>
        <p:nvSpPr>
          <p:cNvPr id="5" name="Pill sellers"/>
          <p:cNvSpPr/>
          <p:nvPr/>
        </p:nvSpPr>
        <p:spPr>
          <a:xfrm>
            <a:off x="9326880" y="2286000"/>
            <a:ext cx="2194560" cy="566928"/>
          </a:xfrm>
          <a:prstGeom prst="roundRect">
            <a:avLst>
              <a:gd name="adj" fmla="val 50000"/>
            </a:avLst>
          </a:prstGeom>
          <a:solidFill>
            <a:schemeClr val="bg1">
              <a:alpha val="10000"/>
            </a:schemeClr>
          </a:solidFill>
          <a:ln w="12700">
            <a:solidFill>
              <a:schemeClr val="bg1">
                <a:alpha val="30000"/>
              </a:schemeClr>
            </a:solidFill>
          </a:ln>
        </p:spPr>
        <p:txBody>
          <a:bodyPr wrap="square" lIns="0" tIns="0" rIns="0" bIns="0" rtlCol="0" anchor="ctr"/>
          <a:lstStyle/>
          <a:p>
            <a:pPr algn="ctr" indent="0" marL="0">
              <a:buNone/>
            </a:pPr>
            <a:r>
              <a:rPr lang="en-US" sz="2000" b="1" dirty="0">
                <a:solidFill>
                  <a:schemeClr val="bg1"/>
                </a:solidFill>
              </a:rPr>
              <a:t>Sellers</a:t>
            </a:r>
            <a:endParaRPr lang="en-US" sz="2000" dirty="0"/>
          </a:p>
        </p:txBody>
      </p:sp>
      <p:sp>
        <p:nvSpPr>
          <p:cNvPr id="6" name="Money arrow"/>
          <p:cNvSpPr/>
          <p:nvPr/>
        </p:nvSpPr>
        <p:spPr>
          <a:xfrm>
            <a:off x="2971800" y="2569464"/>
            <a:ext cx="6263640" cy="0"/>
          </a:xfrm>
          <a:prstGeom prst="line">
            <a:avLst/>
          </a:prstGeom>
          <a:noFill/>
          <a:ln w="31750">
            <a:solidFill>
              <a:srgbClr val="3FD39B"/>
            </a:solidFill>
            <a:prstDash val="solid"/>
            <a:tailEnd type="triangle"/>
          </a:ln>
        </p:spPr>
      </p:sp>
      <p:sp>
        <p:nvSpPr>
          <p:cNvPr id="7" name="Money label"/>
          <p:cNvSpPr txBox="1"/>
          <p:nvPr/>
        </p:nvSpPr>
        <p:spPr>
          <a:xfrm>
            <a:off x="3108960" y="2176272"/>
            <a:ext cx="5943600" cy="310896"/>
          </a:xfrm>
          <a:prstGeom prst="rect">
            <a:avLst/>
          </a:prstGeom>
          <a:noFill/>
          <a:ln/>
        </p:spPr>
        <p:txBody>
          <a:bodyPr wrap="square" lIns="0" tIns="0" rIns="0" bIns="0" rtlCol="0" anchor="t"/>
          <a:lstStyle/>
          <a:p>
            <a:pPr algn="ctr" indent="0" marL="0">
              <a:buNone/>
            </a:pPr>
            <a:r>
              <a:rPr lang="en-US" sz="1600" b="1" dirty="0">
                <a:solidFill>
                  <a:schemeClr val="bg1"/>
                </a:solidFill>
              </a:rPr>
              <a:t>Pay the seller directly: cash or GCash</a:t>
            </a:r>
            <a:endParaRPr lang="en-US" sz="1600" dirty="0"/>
          </a:p>
        </p:txBody>
      </p:sp>
      <p:sp>
        <p:nvSpPr>
          <p:cNvPr id="8" name="Money note"/>
          <p:cNvSpPr txBox="1"/>
          <p:nvPr/>
        </p:nvSpPr>
        <p:spPr>
          <a:xfrm>
            <a:off x="3108960" y="2651760"/>
            <a:ext cx="5943600" cy="274320"/>
          </a:xfrm>
          <a:prstGeom prst="rect">
            <a:avLst/>
          </a:prstGeom>
          <a:noFill/>
          <a:ln/>
        </p:spPr>
        <p:txBody>
          <a:bodyPr wrap="square" lIns="0" tIns="0" rIns="0" bIns="0" rtlCol="0" anchor="t"/>
          <a:lstStyle/>
          <a:p>
            <a:pPr algn="ctr" indent="0" marL="0">
              <a:buNone/>
            </a:pPr>
            <a:r>
              <a:rPr lang="en-US" sz="1300" dirty="0">
                <a:solidFill>
                  <a:schemeClr val="accent3"/>
                </a:solidFill>
              </a:rPr>
              <a:t>Today this payment does not pass through Lokal Finder.</a:t>
            </a:r>
            <a:endParaRPr lang="en-US" sz="1300" dirty="0"/>
          </a:p>
        </p:txBody>
      </p:sp>
      <p:sp>
        <p:nvSpPr>
          <p:cNvPr id="9" name="Link residents"/>
          <p:cNvSpPr/>
          <p:nvPr/>
        </p:nvSpPr>
        <p:spPr>
          <a:xfrm>
            <a:off x="1783080" y="2852928"/>
            <a:ext cx="4023360" cy="713232"/>
          </a:xfrm>
          <a:custGeom>
            <a:avLst/>
            <a:gdLst/>
            <a:ahLst/>
            <a:cxnLst/>
            <a:rect l="l" t="t" r="r" b="b"/>
            <a:pathLst>
              <a:path w="4023360" h="713232">
                <a:moveTo>
                  <a:pt x="0" y="0"/>
                </a:moveTo>
                <a:lnTo>
                  <a:pt x="0" y="713232"/>
                </a:lnTo>
                <a:lnTo>
                  <a:pt x="4023360" y="713232"/>
                </a:lnTo>
              </a:path>
            </a:pathLst>
          </a:custGeom>
          <a:noFill/>
          <a:ln w="15875">
            <a:solidFill>
              <a:srgbClr val="3FD39B">
                <a:alpha val="55000"/>
              </a:srgbClr>
            </a:solidFill>
            <a:prstDash val="dash"/>
          </a:ln>
        </p:spPr>
      </p:sp>
      <p:sp>
        <p:nvSpPr>
          <p:cNvPr id="10" name="Link sellers"/>
          <p:cNvSpPr/>
          <p:nvPr/>
        </p:nvSpPr>
        <p:spPr>
          <a:xfrm>
            <a:off x="6446520" y="2852928"/>
            <a:ext cx="3977640" cy="713232"/>
          </a:xfrm>
          <a:custGeom>
            <a:avLst/>
            <a:gdLst/>
            <a:ahLst/>
            <a:cxnLst/>
            <a:rect l="l" t="t" r="r" b="b"/>
            <a:pathLst>
              <a:path w="3977640" h="713232">
                <a:moveTo>
                  <a:pt x="3977640" y="0"/>
                </a:moveTo>
                <a:lnTo>
                  <a:pt x="3977640" y="713232"/>
                </a:lnTo>
                <a:lnTo>
                  <a:pt x="0" y="713232"/>
                </a:lnTo>
              </a:path>
            </a:pathLst>
          </a:custGeom>
          <a:noFill/>
          <a:ln w="15875">
            <a:solidFill>
              <a:srgbClr val="3FD39B">
                <a:alpha val="55000"/>
              </a:srgbClr>
            </a:solidFill>
            <a:prstDash val="dash"/>
          </a:ln>
        </p:spPr>
      </p:sp>
      <p:sp>
        <p:nvSpPr>
          <p:cNvPr id="11" name="Lokal Finder disc"/>
          <p:cNvSpPr/>
          <p:nvPr/>
        </p:nvSpPr>
        <p:spPr>
          <a:xfrm>
            <a:off x="5806440" y="3246120"/>
            <a:ext cx="640080" cy="640080"/>
          </a:xfrm>
          <a:prstGeom prst="ellipse">
            <a:avLst/>
          </a:prstGeom>
          <a:solidFill>
            <a:schemeClr val="accent1"/>
          </a:solidFill>
          <a:ln w="19050">
            <a:solidFill>
              <a:srgbClr val="3FD39B"/>
            </a:solidFill>
            <a:prstDash val="solid"/>
          </a:ln>
        </p:spPr>
      </p:sp>
      <p:pic>
        <p:nvPicPr>
          <p:cNvPr id="12" name="Lokal Finder icon" descr="pin icon">    </p:cNvPr>
          <p:cNvPicPr>
            <a:picLocks noChangeAspect="1"/>
          </p:cNvPicPr>
          <p:nvPr/>
        </p:nvPicPr>
        <p:blipFill>
          <a:blip r:embed="rId1"/>
          <a:stretch>
            <a:fillRect/>
          </a:stretch>
        </p:blipFill>
        <p:spPr>
          <a:xfrm>
            <a:off x="5960059" y="3399739"/>
            <a:ext cx="332842" cy="332842"/>
          </a:xfrm>
          <a:prstGeom prst="rect">
            <a:avLst/>
          </a:prstGeom>
        </p:spPr>
      </p:pic>
      <p:sp>
        <p:nvSpPr>
          <p:cNvPr id="13" name="Lokal Finder label"/>
          <p:cNvSpPr txBox="1"/>
          <p:nvPr/>
        </p:nvSpPr>
        <p:spPr>
          <a:xfrm>
            <a:off x="6583680" y="3017520"/>
            <a:ext cx="3383280" cy="502920"/>
          </a:xfrm>
          <a:prstGeom prst="rect">
            <a:avLst/>
          </a:prstGeom>
          <a:noFill/>
          <a:ln/>
        </p:spPr>
        <p:txBody>
          <a:bodyPr wrap="square" lIns="0" tIns="0" rIns="0" bIns="0" rtlCol="0" anchor="t"/>
          <a:lstStyle/>
          <a:p>
            <a:pPr algn="l" indent="0" marL="0">
              <a:lnSpc>
                <a:spcPct val="98000"/>
              </a:lnSpc>
              <a:buNone/>
            </a:pPr>
            <a:r>
              <a:rPr lang="en-US" sz="1700" b="1" dirty="0">
                <a:solidFill>
                  <a:schemeClr val="bg1"/>
                </a:solidFill>
              </a:rPr>
              <a:t>Lokal Finder</a:t>
            </a:r>
            <a:endParaRPr lang="en-US" sz="1700" dirty="0"/>
          </a:p>
          <a:p>
            <a:pPr algn="l" indent="0" marL="0">
              <a:lnSpc>
                <a:spcPct val="98000"/>
              </a:lnSpc>
              <a:buNone/>
            </a:pPr>
            <a:r>
              <a:rPr lang="en-US" sz="1300" dirty="0">
                <a:solidFill>
                  <a:srgbClr val="D3D9D6"/>
                </a:solidFill>
              </a:rPr>
              <a:t>discovery, ordering, status and chat</a:t>
            </a:r>
            <a:endParaRPr lang="en-US" sz="1700" dirty="0"/>
          </a:p>
        </p:txBody>
      </p:sp>
      <p:sp>
        <p:nvSpPr>
          <p:cNvPr id="14" name="Bus stem"/>
          <p:cNvSpPr/>
          <p:nvPr/>
        </p:nvSpPr>
        <p:spPr>
          <a:xfrm>
            <a:off x="6126480" y="3886200"/>
            <a:ext cx="0" cy="320040"/>
          </a:xfrm>
          <a:prstGeom prst="line">
            <a:avLst/>
          </a:prstGeom>
          <a:noFill/>
          <a:ln w="19050">
            <a:solidFill>
              <a:schemeClr val="accent3"/>
            </a:solidFill>
            <a:prstDash val="dash"/>
          </a:ln>
        </p:spPr>
      </p:sp>
      <p:sp>
        <p:nvSpPr>
          <p:cNvPr id="15" name="Bus"/>
          <p:cNvSpPr/>
          <p:nvPr/>
        </p:nvSpPr>
        <p:spPr>
          <a:xfrm>
            <a:off x="1965960" y="4206240"/>
            <a:ext cx="8229600" cy="0"/>
          </a:xfrm>
          <a:prstGeom prst="line">
            <a:avLst/>
          </a:prstGeom>
          <a:noFill/>
          <a:ln w="19050">
            <a:solidFill>
              <a:schemeClr val="accent3"/>
            </a:solidFill>
            <a:prstDash val="dash"/>
          </a:ln>
        </p:spPr>
      </p:sp>
      <p:sp>
        <p:nvSpPr>
          <p:cNvPr id="16" name="Bus label"/>
          <p:cNvSpPr txBox="1"/>
          <p:nvPr/>
        </p:nvSpPr>
        <p:spPr>
          <a:xfrm>
            <a:off x="6309360" y="3904488"/>
            <a:ext cx="3291840" cy="256032"/>
          </a:xfrm>
          <a:prstGeom prst="rect">
            <a:avLst/>
          </a:prstGeom>
          <a:noFill/>
          <a:ln/>
        </p:spPr>
        <p:txBody>
          <a:bodyPr wrap="square" lIns="0" tIns="0" rIns="0" bIns="0" rtlCol="0" anchor="t"/>
          <a:lstStyle/>
          <a:p>
            <a:pPr algn="l" indent="0" marL="0">
              <a:buNone/>
            </a:pPr>
            <a:r>
              <a:rPr lang="en-US" sz="1200" b="1" spc="200" kern="0" dirty="0">
                <a:solidFill>
                  <a:schemeClr val="accent3"/>
                </a:solidFill>
              </a:rPr>
              <a:t>POSSIBLE WAYS TO EARN</a:t>
            </a:r>
            <a:endParaRPr lang="en-US" sz="1200" dirty="0"/>
          </a:p>
        </p:txBody>
      </p:sp>
      <p:sp>
        <p:nvSpPr>
          <p:cNvPr id="17" name="Drop 1"/>
          <p:cNvSpPr/>
          <p:nvPr/>
        </p:nvSpPr>
        <p:spPr>
          <a:xfrm>
            <a:off x="1965960" y="4206240"/>
            <a:ext cx="0" cy="228600"/>
          </a:xfrm>
          <a:prstGeom prst="line">
            <a:avLst/>
          </a:prstGeom>
          <a:noFill/>
          <a:ln w="19050">
            <a:solidFill>
              <a:schemeClr val="accent3"/>
            </a:solidFill>
            <a:prstDash val="dash"/>
          </a:ln>
        </p:spPr>
      </p:sp>
      <p:sp>
        <p:nvSpPr>
          <p:cNvPr id="18" name="Card 1"/>
          <p:cNvSpPr/>
          <p:nvPr/>
        </p:nvSpPr>
        <p:spPr>
          <a:xfrm>
            <a:off x="685800" y="4434840"/>
            <a:ext cx="2560320" cy="1783080"/>
          </a:xfrm>
          <a:prstGeom prst="roundRect">
            <a:avLst>
              <a:gd name="adj" fmla="val 6154"/>
            </a:avLst>
          </a:prstGeom>
          <a:solidFill>
            <a:schemeClr val="bg1">
              <a:alpha val="8000"/>
            </a:schemeClr>
          </a:solidFill>
          <a:ln w="9525">
            <a:solidFill>
              <a:schemeClr val="bg1">
                <a:alpha val="20000"/>
              </a:schemeClr>
            </a:solidFill>
            <a:prstDash val="solid"/>
          </a:ln>
        </p:spPr>
      </p:sp>
      <p:sp>
        <p:nvSpPr>
          <p:cNvPr id="19" name="Status 1"/>
          <p:cNvSpPr/>
          <p:nvPr/>
        </p:nvSpPr>
        <p:spPr>
          <a:xfrm>
            <a:off x="868680" y="4572000"/>
            <a:ext cx="1828800" cy="274320"/>
          </a:xfrm>
          <a:prstGeom prst="roundRect">
            <a:avLst>
              <a:gd name="adj" fmla="val 50000"/>
            </a:avLst>
          </a:prstGeom>
          <a:solidFill>
            <a:srgbClr val="3FD39B"/>
          </a:solidFill>
          <a:ln/>
        </p:spPr>
        <p:txBody>
          <a:bodyPr wrap="square" lIns="0" tIns="0" rIns="0" bIns="0" rtlCol="0" anchor="ctr"/>
          <a:lstStyle/>
          <a:p>
            <a:pPr algn="ctr" indent="0" marL="0">
              <a:buNone/>
            </a:pPr>
            <a:r>
              <a:rPr lang="en-US" sz="1100" b="1" spc="100" kern="0" dirty="0">
                <a:solidFill>
                  <a:schemeClr val="tx1"/>
                </a:solidFill>
              </a:rPr>
              <a:t>BUILT, NOT ACTIVE</a:t>
            </a:r>
            <a:endParaRPr lang="en-US" sz="1100" dirty="0"/>
          </a:p>
        </p:txBody>
      </p:sp>
      <p:sp>
        <p:nvSpPr>
          <p:cNvPr id="20" name="Title 1"/>
          <p:cNvSpPr txBox="1"/>
          <p:nvPr/>
        </p:nvSpPr>
        <p:spPr>
          <a:xfrm>
            <a:off x="868680" y="4956048"/>
            <a:ext cx="2240280" cy="292608"/>
          </a:xfrm>
          <a:prstGeom prst="rect">
            <a:avLst/>
          </a:prstGeom>
          <a:noFill/>
          <a:ln/>
        </p:spPr>
        <p:txBody>
          <a:bodyPr wrap="square" lIns="0" tIns="0" rIns="0" bIns="0" rtlCol="0" anchor="t"/>
          <a:lstStyle/>
          <a:p>
            <a:pPr algn="l" indent="0" marL="0">
              <a:buNone/>
            </a:pPr>
            <a:r>
              <a:rPr lang="en-US" sz="1700" b="1" dirty="0">
                <a:solidFill>
                  <a:schemeClr val="bg1"/>
                </a:solidFill>
              </a:rPr>
              <a:t>Transaction commission</a:t>
            </a:r>
            <a:endParaRPr lang="en-US" sz="1700" dirty="0"/>
          </a:p>
        </p:txBody>
      </p:sp>
      <p:sp>
        <p:nvSpPr>
          <p:cNvPr id="21" name="Text 1"/>
          <p:cNvSpPr txBox="1"/>
          <p:nvPr/>
        </p:nvSpPr>
        <p:spPr>
          <a:xfrm>
            <a:off x="868680" y="5285232"/>
            <a:ext cx="2240280" cy="868680"/>
          </a:xfrm>
          <a:prstGeom prst="rect">
            <a:avLst/>
          </a:prstGeom>
          <a:noFill/>
          <a:ln/>
        </p:spPr>
        <p:txBody>
          <a:bodyPr wrap="square" lIns="0" tIns="0" rIns="0" bIns="0" rtlCol="0" anchor="t"/>
          <a:lstStyle/>
          <a:p>
            <a:pPr algn="l" indent="0" marL="0">
              <a:lnSpc>
                <a:spcPct val="100000"/>
              </a:lnSpc>
              <a:buNone/>
            </a:pPr>
            <a:r>
              <a:rPr lang="en-US" sz="1450" dirty="0">
                <a:solidFill>
                  <a:srgbClr val="DDE1DF"/>
                </a:solidFill>
              </a:rPr>
              <a:t>A percent per seller, recorded on delivered orders. Default 0%; not collected.</a:t>
            </a:r>
            <a:endParaRPr lang="en-US" sz="1450" dirty="0"/>
          </a:p>
        </p:txBody>
      </p:sp>
      <p:sp>
        <p:nvSpPr>
          <p:cNvPr id="22" name="Drop 2"/>
          <p:cNvSpPr/>
          <p:nvPr/>
        </p:nvSpPr>
        <p:spPr>
          <a:xfrm>
            <a:off x="4709160" y="4206240"/>
            <a:ext cx="0" cy="228600"/>
          </a:xfrm>
          <a:prstGeom prst="line">
            <a:avLst/>
          </a:prstGeom>
          <a:noFill/>
          <a:ln w="19050">
            <a:solidFill>
              <a:schemeClr val="accent3"/>
            </a:solidFill>
            <a:prstDash val="dash"/>
          </a:ln>
        </p:spPr>
      </p:sp>
      <p:sp>
        <p:nvSpPr>
          <p:cNvPr id="23" name="Card 2"/>
          <p:cNvSpPr/>
          <p:nvPr/>
        </p:nvSpPr>
        <p:spPr>
          <a:xfrm>
            <a:off x="3429000" y="4434840"/>
            <a:ext cx="2560320" cy="1783080"/>
          </a:xfrm>
          <a:prstGeom prst="roundRect">
            <a:avLst>
              <a:gd name="adj" fmla="val 6154"/>
            </a:avLst>
          </a:prstGeom>
          <a:solidFill>
            <a:schemeClr val="bg1">
              <a:alpha val="8000"/>
            </a:schemeClr>
          </a:solidFill>
          <a:ln w="9525">
            <a:solidFill>
              <a:schemeClr val="accent5">
                <a:alpha val="60000"/>
              </a:schemeClr>
            </a:solidFill>
            <a:prstDash val="dash"/>
          </a:ln>
        </p:spPr>
      </p:sp>
      <p:sp>
        <p:nvSpPr>
          <p:cNvPr id="24" name="Status 2"/>
          <p:cNvSpPr/>
          <p:nvPr/>
        </p:nvSpPr>
        <p:spPr>
          <a:xfrm>
            <a:off x="3611880" y="4572000"/>
            <a:ext cx="1051560" cy="274320"/>
          </a:xfrm>
          <a:prstGeom prst="roundRect">
            <a:avLst>
              <a:gd name="adj" fmla="val 50000"/>
            </a:avLst>
          </a:prstGeom>
          <a:noFill/>
          <a:ln w="12700">
            <a:solidFill>
              <a:schemeClr val="accent5"/>
            </a:solidFill>
            <a:prstDash val="dash"/>
          </a:ln>
        </p:spPr>
        <p:txBody>
          <a:bodyPr wrap="square" lIns="0" tIns="0" rIns="0" bIns="0" rtlCol="0" anchor="ctr"/>
          <a:lstStyle/>
          <a:p>
            <a:pPr algn="ctr" indent="0" marL="0">
              <a:buNone/>
            </a:pPr>
            <a:r>
              <a:rPr lang="en-US" sz="1100" b="1" spc="100" kern="0" dirty="0">
                <a:solidFill>
                  <a:schemeClr val="bg1"/>
                </a:solidFill>
              </a:rPr>
              <a:t>PROPOSAL</a:t>
            </a:r>
            <a:endParaRPr lang="en-US" sz="1100" dirty="0"/>
          </a:p>
        </p:txBody>
      </p:sp>
      <p:sp>
        <p:nvSpPr>
          <p:cNvPr id="25" name="Title 2"/>
          <p:cNvSpPr txBox="1"/>
          <p:nvPr/>
        </p:nvSpPr>
        <p:spPr>
          <a:xfrm>
            <a:off x="3611880" y="4956048"/>
            <a:ext cx="2240280" cy="292608"/>
          </a:xfrm>
          <a:prstGeom prst="rect">
            <a:avLst/>
          </a:prstGeom>
          <a:noFill/>
          <a:ln/>
        </p:spPr>
        <p:txBody>
          <a:bodyPr wrap="square" lIns="0" tIns="0" rIns="0" bIns="0" rtlCol="0" anchor="t"/>
          <a:lstStyle/>
          <a:p>
            <a:pPr algn="l" indent="0" marL="0">
              <a:buNone/>
            </a:pPr>
            <a:r>
              <a:rPr lang="en-US" sz="1700" b="1" dirty="0">
                <a:solidFill>
                  <a:schemeClr val="bg1"/>
                </a:solidFill>
              </a:rPr>
              <a:t>Seller plans or fees</a:t>
            </a:r>
            <a:endParaRPr lang="en-US" sz="1700" dirty="0"/>
          </a:p>
        </p:txBody>
      </p:sp>
      <p:sp>
        <p:nvSpPr>
          <p:cNvPr id="26" name="Text 2"/>
          <p:cNvSpPr txBox="1"/>
          <p:nvPr/>
        </p:nvSpPr>
        <p:spPr>
          <a:xfrm>
            <a:off x="3611880" y="5285232"/>
            <a:ext cx="2240280" cy="868680"/>
          </a:xfrm>
          <a:prstGeom prst="rect">
            <a:avLst/>
          </a:prstGeom>
          <a:noFill/>
          <a:ln/>
        </p:spPr>
        <p:txBody>
          <a:bodyPr wrap="square" lIns="0" tIns="0" rIns="0" bIns="0" rtlCol="0" anchor="t"/>
          <a:lstStyle/>
          <a:p>
            <a:pPr algn="l" indent="0" marL="0">
              <a:lnSpc>
                <a:spcPct val="100000"/>
              </a:lnSpc>
              <a:buNone/>
            </a:pPr>
            <a:r>
              <a:rPr lang="en-US" sz="1450" dirty="0">
                <a:solidFill>
                  <a:srgbClr val="DDE1DF"/>
                </a:solidFill>
              </a:rPr>
              <a:t>A monthly plan or per-order fee for extra tools. Nothing is charged today.</a:t>
            </a:r>
            <a:endParaRPr lang="en-US" sz="1450" dirty="0"/>
          </a:p>
        </p:txBody>
      </p:sp>
      <p:sp>
        <p:nvSpPr>
          <p:cNvPr id="27" name="Drop 3"/>
          <p:cNvSpPr/>
          <p:nvPr/>
        </p:nvSpPr>
        <p:spPr>
          <a:xfrm>
            <a:off x="7452360" y="4206240"/>
            <a:ext cx="0" cy="228600"/>
          </a:xfrm>
          <a:prstGeom prst="line">
            <a:avLst/>
          </a:prstGeom>
          <a:noFill/>
          <a:ln w="19050">
            <a:solidFill>
              <a:schemeClr val="accent3"/>
            </a:solidFill>
            <a:prstDash val="dash"/>
          </a:ln>
        </p:spPr>
      </p:sp>
      <p:sp>
        <p:nvSpPr>
          <p:cNvPr id="28" name="Card 3"/>
          <p:cNvSpPr/>
          <p:nvPr/>
        </p:nvSpPr>
        <p:spPr>
          <a:xfrm>
            <a:off x="6172200" y="4434840"/>
            <a:ext cx="2560320" cy="1783080"/>
          </a:xfrm>
          <a:prstGeom prst="roundRect">
            <a:avLst>
              <a:gd name="adj" fmla="val 6154"/>
            </a:avLst>
          </a:prstGeom>
          <a:solidFill>
            <a:schemeClr val="bg1">
              <a:alpha val="8000"/>
            </a:schemeClr>
          </a:solidFill>
          <a:ln w="9525">
            <a:solidFill>
              <a:schemeClr val="bg1">
                <a:alpha val="20000"/>
              </a:schemeClr>
            </a:solidFill>
            <a:prstDash val="solid"/>
          </a:ln>
        </p:spPr>
      </p:sp>
      <p:sp>
        <p:nvSpPr>
          <p:cNvPr id="29" name="Status 3"/>
          <p:cNvSpPr/>
          <p:nvPr/>
        </p:nvSpPr>
        <p:spPr>
          <a:xfrm>
            <a:off x="6355080" y="4572000"/>
            <a:ext cx="146304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spc="100" kern="0" dirty="0">
                <a:solidFill>
                  <a:schemeClr val="tx1"/>
                </a:solidFill>
              </a:rPr>
              <a:t>EARLY TOOLING</a:t>
            </a:r>
            <a:endParaRPr lang="en-US" sz="1100" dirty="0"/>
          </a:p>
        </p:txBody>
      </p:sp>
      <p:sp>
        <p:nvSpPr>
          <p:cNvPr id="30" name="Title 3"/>
          <p:cNvSpPr txBox="1"/>
          <p:nvPr/>
        </p:nvSpPr>
        <p:spPr>
          <a:xfrm>
            <a:off x="6355080" y="4956048"/>
            <a:ext cx="2240280" cy="292608"/>
          </a:xfrm>
          <a:prstGeom prst="rect">
            <a:avLst/>
          </a:prstGeom>
          <a:noFill/>
          <a:ln/>
        </p:spPr>
        <p:txBody>
          <a:bodyPr wrap="square" lIns="0" tIns="0" rIns="0" bIns="0" rtlCol="0" anchor="t"/>
          <a:lstStyle/>
          <a:p>
            <a:pPr algn="l" indent="0" marL="0">
              <a:buNone/>
            </a:pPr>
            <a:r>
              <a:rPr lang="en-US" sz="1700" b="1" dirty="0">
                <a:solidFill>
                  <a:schemeClr val="bg1"/>
                </a:solidFill>
              </a:rPr>
              <a:t>Paid visibility</a:t>
            </a:r>
            <a:endParaRPr lang="en-US" sz="1700" dirty="0"/>
          </a:p>
        </p:txBody>
      </p:sp>
      <p:sp>
        <p:nvSpPr>
          <p:cNvPr id="31" name="Text 3"/>
          <p:cNvSpPr txBox="1"/>
          <p:nvPr/>
        </p:nvSpPr>
        <p:spPr>
          <a:xfrm>
            <a:off x="6355080" y="5285232"/>
            <a:ext cx="2240280" cy="868680"/>
          </a:xfrm>
          <a:prstGeom prst="rect">
            <a:avLst/>
          </a:prstGeom>
          <a:noFill/>
          <a:ln/>
        </p:spPr>
        <p:txBody>
          <a:bodyPr wrap="square" lIns="0" tIns="0" rIns="0" bIns="0" rtlCol="0" anchor="t"/>
          <a:lstStyle/>
          <a:p>
            <a:pPr algn="l" indent="0" marL="0">
              <a:lnSpc>
                <a:spcPct val="100000"/>
              </a:lnSpc>
              <a:buNone/>
            </a:pPr>
            <a:r>
              <a:rPr lang="en-US" sz="1450" dirty="0">
                <a:solidFill>
                  <a:srgbClr val="DDE1DF"/>
                </a:solidFill>
              </a:rPr>
              <a:t>Admins can mark a store Featured. No paid placement exists yet.</a:t>
            </a:r>
            <a:endParaRPr lang="en-US" sz="1450" dirty="0"/>
          </a:p>
        </p:txBody>
      </p:sp>
      <p:sp>
        <p:nvSpPr>
          <p:cNvPr id="32" name="Drop 4"/>
          <p:cNvSpPr/>
          <p:nvPr/>
        </p:nvSpPr>
        <p:spPr>
          <a:xfrm>
            <a:off x="10195560" y="4206240"/>
            <a:ext cx="0" cy="228600"/>
          </a:xfrm>
          <a:prstGeom prst="line">
            <a:avLst/>
          </a:prstGeom>
          <a:noFill/>
          <a:ln w="19050">
            <a:solidFill>
              <a:schemeClr val="accent3"/>
            </a:solidFill>
            <a:prstDash val="dash"/>
          </a:ln>
        </p:spPr>
      </p:sp>
      <p:sp>
        <p:nvSpPr>
          <p:cNvPr id="33" name="Card 4"/>
          <p:cNvSpPr/>
          <p:nvPr/>
        </p:nvSpPr>
        <p:spPr>
          <a:xfrm>
            <a:off x="8915400" y="4434840"/>
            <a:ext cx="2560320" cy="1783080"/>
          </a:xfrm>
          <a:prstGeom prst="roundRect">
            <a:avLst>
              <a:gd name="adj" fmla="val 6154"/>
            </a:avLst>
          </a:prstGeom>
          <a:solidFill>
            <a:schemeClr val="bg1">
              <a:alpha val="8000"/>
            </a:schemeClr>
          </a:solidFill>
          <a:ln w="9525">
            <a:solidFill>
              <a:schemeClr val="accent5">
                <a:alpha val="60000"/>
              </a:schemeClr>
            </a:solidFill>
            <a:prstDash val="dash"/>
          </a:ln>
        </p:spPr>
      </p:sp>
      <p:sp>
        <p:nvSpPr>
          <p:cNvPr id="34" name="Status 4"/>
          <p:cNvSpPr/>
          <p:nvPr/>
        </p:nvSpPr>
        <p:spPr>
          <a:xfrm>
            <a:off x="9098280" y="4572000"/>
            <a:ext cx="1051560" cy="274320"/>
          </a:xfrm>
          <a:prstGeom prst="roundRect">
            <a:avLst>
              <a:gd name="adj" fmla="val 50000"/>
            </a:avLst>
          </a:prstGeom>
          <a:noFill/>
          <a:ln w="12700">
            <a:solidFill>
              <a:schemeClr val="accent5"/>
            </a:solidFill>
            <a:prstDash val="dash"/>
          </a:ln>
        </p:spPr>
        <p:txBody>
          <a:bodyPr wrap="square" lIns="0" tIns="0" rIns="0" bIns="0" rtlCol="0" anchor="ctr"/>
          <a:lstStyle/>
          <a:p>
            <a:pPr algn="ctr" indent="0" marL="0">
              <a:buNone/>
            </a:pPr>
            <a:r>
              <a:rPr lang="en-US" sz="1100" b="1" spc="100" kern="0" dirty="0">
                <a:solidFill>
                  <a:schemeClr val="bg1"/>
                </a:solidFill>
              </a:rPr>
              <a:t>PROPOSAL</a:t>
            </a:r>
            <a:endParaRPr lang="en-US" sz="1100" dirty="0"/>
          </a:p>
        </p:txBody>
      </p:sp>
      <p:sp>
        <p:nvSpPr>
          <p:cNvPr id="35" name="Title 4"/>
          <p:cNvSpPr txBox="1"/>
          <p:nvPr/>
        </p:nvSpPr>
        <p:spPr>
          <a:xfrm>
            <a:off x="9098280" y="4956048"/>
            <a:ext cx="2240280" cy="292608"/>
          </a:xfrm>
          <a:prstGeom prst="rect">
            <a:avLst/>
          </a:prstGeom>
          <a:noFill/>
          <a:ln/>
        </p:spPr>
        <p:txBody>
          <a:bodyPr wrap="square" lIns="0" tIns="0" rIns="0" bIns="0" rtlCol="0" anchor="t"/>
          <a:lstStyle/>
          <a:p>
            <a:pPr algn="l" indent="0" marL="0">
              <a:buNone/>
            </a:pPr>
            <a:r>
              <a:rPr lang="en-US" sz="1700" b="1" dirty="0">
                <a:solidFill>
                  <a:schemeClr val="bg1"/>
                </a:solidFill>
              </a:rPr>
              <a:t>Local advertising</a:t>
            </a:r>
            <a:endParaRPr lang="en-US" sz="1700" dirty="0"/>
          </a:p>
        </p:txBody>
      </p:sp>
      <p:sp>
        <p:nvSpPr>
          <p:cNvPr id="36" name="Text 4"/>
          <p:cNvSpPr txBox="1"/>
          <p:nvPr/>
        </p:nvSpPr>
        <p:spPr>
          <a:xfrm>
            <a:off x="9098280" y="5285232"/>
            <a:ext cx="2240280" cy="868680"/>
          </a:xfrm>
          <a:prstGeom prst="rect">
            <a:avLst/>
          </a:prstGeom>
          <a:noFill/>
          <a:ln/>
        </p:spPr>
        <p:txBody>
          <a:bodyPr wrap="square" lIns="0" tIns="0" rIns="0" bIns="0" rtlCol="0" anchor="t"/>
          <a:lstStyle/>
          <a:p>
            <a:pPr algn="l" indent="0" marL="0">
              <a:lnSpc>
                <a:spcPct val="100000"/>
              </a:lnSpc>
              <a:buNone/>
            </a:pPr>
            <a:r>
              <a:rPr lang="en-US" sz="1450" dirty="0">
                <a:solidFill>
                  <a:srgbClr val="DDE1DF"/>
                </a:solidFill>
              </a:rPr>
              <a:t>Local promotions relevant to residents. Not started.</a:t>
            </a:r>
            <a:endParaRPr lang="en-US" sz="1450" dirty="0"/>
          </a:p>
        </p:txBody>
      </p:sp>
      <p:sp>
        <p:nvSpPr>
          <p:cNvPr id="37" name="Footnote"/>
          <p:cNvSpPr txBox="1"/>
          <p:nvPr/>
        </p:nvSpPr>
        <p:spPr>
          <a:xfrm>
            <a:off x="1115568" y="6382512"/>
            <a:ext cx="9692640" cy="274320"/>
          </a:xfrm>
          <a:prstGeom prst="rect">
            <a:avLst/>
          </a:prstGeom>
          <a:noFill/>
          <a:ln/>
        </p:spPr>
        <p:txBody>
          <a:bodyPr wrap="square" lIns="0" tIns="0" rIns="0" bIns="0" rtlCol="0" anchor="ctr"/>
          <a:lstStyle/>
          <a:p>
            <a:pPr algn="l" indent="0" marL="0">
              <a:buNone/>
            </a:pPr>
            <a:r>
              <a:rPr lang="en-US" sz="1200" dirty="0">
                <a:solidFill>
                  <a:schemeClr val="accent5"/>
                </a:solidFill>
              </a:rPr>
              <a:t>No revenue stream is confirmed as operating today. Principle: add one only when it improves the marketplace for both sides.</a:t>
            </a:r>
            <a:endParaRPr lang="en-US" sz="1200" dirty="0"/>
          </a:p>
        </p:txBody>
      </p:sp>
      <p:sp>
        <p:nvSpPr>
          <p:cNvPr id="38" name="Slide Number Placeholder 0"/>
          <p:cNvSpPr>
            <a:spLocks noGrp="1"/>
          </p:cNvSpPr>
          <p:nvPr>
            <p:ph type="sldNum" sz="quarter" idx="4294967295"/>
          </p:nvPr>
        </p:nvSpPr>
        <p:spPr>
          <a:xfrm>
            <a:off x="10957560" y="6373368"/>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accent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3"/>
                                        </p:tgtEl>
                                        <p:attrNameLst>
                                          <p:attrName>style.visibility</p:attrName>
                                        </p:attrNameLst>
                                      </p:cBhvr>
                                      <p:to>
                                        <p:strVal val="visible"/>
                                      </p:to>
                                    </p:set>
                                    <p:anim calcmode="lin" valueType="num">
                                      <p:cBhvr>
                                        <p:cTn id="10" dur="550" fill="hold"/>
                                        <p:tgtEl>
                                          <p:spTgt spid="3"/>
                                        </p:tgtEl>
                                        <p:attrNameLst>
                                          <p:attrName>ppt_y</p:attrName>
                                        </p:attrNameLst>
                                      </p:cBhvr>
                                      <p:tavLst>
                                        <p:tav tm="0">
                                          <p:val>
                                            <p:strVal val="#ppt_y+.05"/>
                                          </p:val>
                                        </p:tav>
                                        <p:tav tm="100000">
                                          <p:val>
                                            <p:strVal val="#ppt_y"/>
                                          </p:val>
                                        </p:tav>
                                      </p:tavLst>
                                    </p:anim>
                                    <p:animEffect transition="in" filter="fade">
                                      <p:cBhvr>
                                        <p:cTn id="11" dur="550"/>
                                        <p:tgtEl>
                                          <p:spTgt spid="3"/>
                                        </p:tgtEl>
                                      </p:cBhvr>
                                    </p:animEffect>
                                  </p:childTnLst>
                                </p:cTn>
                              </p:par>
                              <p:par>
                                <p:cTn id="12" presetID="10" presetClass="entr" presetSubtype="0" fill="hold" grpId="0" nodeType="withEffect">
                                  <p:stCondLst>
                                    <p:cond delay="4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par>
                                <p:cTn id="18" presetID="22" presetClass="entr" presetSubtype="8" fill="hold" grpId="0" nodeType="withEffect">
                                  <p:stCondLst>
                                    <p:cond delay="70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900"/>
                                        <p:tgtEl>
                                          <p:spTgt spid="6"/>
                                        </p:tgtEl>
                                      </p:cBhvr>
                                    </p:animEffect>
                                  </p:childTnLst>
                                </p:cTn>
                              </p:par>
                              <p:par>
                                <p:cTn id="21" presetID="10" presetClass="entr" presetSubtype="0" fill="hold" grpId="0" nodeType="withEffect">
                                  <p:stCondLst>
                                    <p:cond delay="90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10" presetClass="entr" presetSubtype="0" fill="hold" grpId="0" nodeType="withEffect">
                                  <p:stCondLst>
                                    <p:cond delay="130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par>
                                <p:cTn id="27" presetID="10" presetClass="entr" presetSubtype="0" fill="hold" grpId="0" nodeType="withEffect">
                                  <p:stCondLst>
                                    <p:cond delay="150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600"/>
                                        <p:tgtEl>
                                          <p:spTgt spid="9"/>
                                        </p:tgtEl>
                                      </p:cBhvr>
                                    </p:animEffect>
                                  </p:childTnLst>
                                </p:cTn>
                              </p:par>
                              <p:par>
                                <p:cTn id="30" presetID="10" presetClass="entr" presetSubtype="0" fill="hold" grpId="0" nodeType="withEffect">
                                  <p:stCondLst>
                                    <p:cond delay="150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600"/>
                                        <p:tgtEl>
                                          <p:spTgt spid="10"/>
                                        </p:tgtEl>
                                      </p:cBhvr>
                                    </p:animEffect>
                                  </p:childTnLst>
                                </p:cTn>
                              </p:par>
                              <p:par>
                                <p:cTn id="33" presetID="10" presetClass="entr" presetSubtype="0" fill="hold" grpId="0" nodeType="withEffect">
                                  <p:stCondLst>
                                    <p:cond delay="160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nodeType="withEffect">
                                  <p:stCondLst>
                                    <p:cond delay="160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160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22" presetClass="entr" presetSubtype="1" fill="hold" grpId="0" nodeType="withEffect">
                                  <p:stCondLst>
                                    <p:cond delay="1950"/>
                                  </p:stCondLst>
                                  <p:childTnLst>
                                    <p:set>
                                      <p:cBhvr>
                                        <p:cTn id="43" dur="1" fill="hold">
                                          <p:stCondLst>
                                            <p:cond delay="0"/>
                                          </p:stCondLst>
                                        </p:cTn>
                                        <p:tgtEl>
                                          <p:spTgt spid="14"/>
                                        </p:tgtEl>
                                        <p:attrNameLst>
                                          <p:attrName>style.visibility</p:attrName>
                                        </p:attrNameLst>
                                      </p:cBhvr>
                                      <p:to>
                                        <p:strVal val="visible"/>
                                      </p:to>
                                    </p:set>
                                    <p:animEffect transition="in" filter="wipe(up)">
                                      <p:cBhvr>
                                        <p:cTn id="44" dur="400"/>
                                        <p:tgtEl>
                                          <p:spTgt spid="14"/>
                                        </p:tgtEl>
                                      </p:cBhvr>
                                    </p:animEffect>
                                  </p:childTnLst>
                                </p:cTn>
                              </p:par>
                              <p:par>
                                <p:cTn id="45" presetID="22" presetClass="entr" presetSubtype="8" fill="hold" grpId="0" nodeType="withEffect">
                                  <p:stCondLst>
                                    <p:cond delay="2050"/>
                                  </p:stCondLst>
                                  <p:childTnLst>
                                    <p:set>
                                      <p:cBhvr>
                                        <p:cTn id="46" dur="1" fill="hold">
                                          <p:stCondLst>
                                            <p:cond delay="0"/>
                                          </p:stCondLst>
                                        </p:cTn>
                                        <p:tgtEl>
                                          <p:spTgt spid="15"/>
                                        </p:tgtEl>
                                        <p:attrNameLst>
                                          <p:attrName>style.visibility</p:attrName>
                                        </p:attrNameLst>
                                      </p:cBhvr>
                                      <p:to>
                                        <p:strVal val="visible"/>
                                      </p:to>
                                    </p:set>
                                    <p:animEffect transition="in" filter="wipe(left)">
                                      <p:cBhvr>
                                        <p:cTn id="47" dur="700"/>
                                        <p:tgtEl>
                                          <p:spTgt spid="15"/>
                                        </p:tgtEl>
                                      </p:cBhvr>
                                    </p:animEffect>
                                  </p:childTnLst>
                                </p:cTn>
                              </p:par>
                              <p:par>
                                <p:cTn id="48" presetID="10" presetClass="entr" presetSubtype="0" fill="hold" grpId="0" nodeType="withEffect">
                                  <p:stCondLst>
                                    <p:cond delay="210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42" presetClass="entr" presetSubtype="0" fill="hold" grpId="0" nodeType="withEffect">
                                  <p:stCondLst>
                                    <p:cond delay="2200"/>
                                  </p:stCondLst>
                                  <p:childTnLst>
                                    <p:set>
                                      <p:cBhvr>
                                        <p:cTn id="52" dur="1" fill="hold">
                                          <p:stCondLst>
                                            <p:cond delay="0"/>
                                          </p:stCondLst>
                                        </p:cTn>
                                        <p:tgtEl>
                                          <p:spTgt spid="18"/>
                                        </p:tgtEl>
                                        <p:attrNameLst>
                                          <p:attrName>style.visibility</p:attrName>
                                        </p:attrNameLst>
                                      </p:cBhvr>
                                      <p:to>
                                        <p:strVal val="visible"/>
                                      </p:to>
                                    </p:set>
                                    <p:anim calcmode="lin" valueType="num">
                                      <p:cBhvr>
                                        <p:cTn id="53" dur="550" fill="hold"/>
                                        <p:tgtEl>
                                          <p:spTgt spid="18"/>
                                        </p:tgtEl>
                                        <p:attrNameLst>
                                          <p:attrName>ppt_y</p:attrName>
                                        </p:attrNameLst>
                                      </p:cBhvr>
                                      <p:tavLst>
                                        <p:tav tm="0">
                                          <p:val>
                                            <p:strVal val="#ppt_y+.05"/>
                                          </p:val>
                                        </p:tav>
                                        <p:tav tm="100000">
                                          <p:val>
                                            <p:strVal val="#ppt_y"/>
                                          </p:val>
                                        </p:tav>
                                      </p:tavLst>
                                    </p:anim>
                                    <p:animEffect transition="in" filter="fade">
                                      <p:cBhvr>
                                        <p:cTn id="54" dur="550"/>
                                        <p:tgtEl>
                                          <p:spTgt spid="18"/>
                                        </p:tgtEl>
                                      </p:cBhvr>
                                    </p:animEffect>
                                  </p:childTnLst>
                                </p:cTn>
                              </p:par>
                              <p:par>
                                <p:cTn id="55" presetID="42" presetClass="entr" presetSubtype="0" fill="hold" grpId="0" nodeType="withEffect">
                                  <p:stCondLst>
                                    <p:cond delay="2200"/>
                                  </p:stCondLst>
                                  <p:childTnLst>
                                    <p:set>
                                      <p:cBhvr>
                                        <p:cTn id="56" dur="1" fill="hold">
                                          <p:stCondLst>
                                            <p:cond delay="0"/>
                                          </p:stCondLst>
                                        </p:cTn>
                                        <p:tgtEl>
                                          <p:spTgt spid="19"/>
                                        </p:tgtEl>
                                        <p:attrNameLst>
                                          <p:attrName>style.visibility</p:attrName>
                                        </p:attrNameLst>
                                      </p:cBhvr>
                                      <p:to>
                                        <p:strVal val="visible"/>
                                      </p:to>
                                    </p:set>
                                    <p:anim calcmode="lin" valueType="num">
                                      <p:cBhvr>
                                        <p:cTn id="57" dur="550" fill="hold"/>
                                        <p:tgtEl>
                                          <p:spTgt spid="19"/>
                                        </p:tgtEl>
                                        <p:attrNameLst>
                                          <p:attrName>ppt_y</p:attrName>
                                        </p:attrNameLst>
                                      </p:cBhvr>
                                      <p:tavLst>
                                        <p:tav tm="0">
                                          <p:val>
                                            <p:strVal val="#ppt_y+.05"/>
                                          </p:val>
                                        </p:tav>
                                        <p:tav tm="100000">
                                          <p:val>
                                            <p:strVal val="#ppt_y"/>
                                          </p:val>
                                        </p:tav>
                                      </p:tavLst>
                                    </p:anim>
                                    <p:animEffect transition="in" filter="fade">
                                      <p:cBhvr>
                                        <p:cTn id="58" dur="550"/>
                                        <p:tgtEl>
                                          <p:spTgt spid="19"/>
                                        </p:tgtEl>
                                      </p:cBhvr>
                                    </p:animEffect>
                                  </p:childTnLst>
                                </p:cTn>
                              </p:par>
                              <p:par>
                                <p:cTn id="59" presetID="42" presetClass="entr" presetSubtype="0" fill="hold" grpId="0" nodeType="withEffect">
                                  <p:stCondLst>
                                    <p:cond delay="2200"/>
                                  </p:stCondLst>
                                  <p:childTnLst>
                                    <p:set>
                                      <p:cBhvr>
                                        <p:cTn id="60" dur="1" fill="hold">
                                          <p:stCondLst>
                                            <p:cond delay="0"/>
                                          </p:stCondLst>
                                        </p:cTn>
                                        <p:tgtEl>
                                          <p:spTgt spid="20"/>
                                        </p:tgtEl>
                                        <p:attrNameLst>
                                          <p:attrName>style.visibility</p:attrName>
                                        </p:attrNameLst>
                                      </p:cBhvr>
                                      <p:to>
                                        <p:strVal val="visible"/>
                                      </p:to>
                                    </p:set>
                                    <p:anim calcmode="lin" valueType="num">
                                      <p:cBhvr>
                                        <p:cTn id="61" dur="550" fill="hold"/>
                                        <p:tgtEl>
                                          <p:spTgt spid="20"/>
                                        </p:tgtEl>
                                        <p:attrNameLst>
                                          <p:attrName>ppt_y</p:attrName>
                                        </p:attrNameLst>
                                      </p:cBhvr>
                                      <p:tavLst>
                                        <p:tav tm="0">
                                          <p:val>
                                            <p:strVal val="#ppt_y+.05"/>
                                          </p:val>
                                        </p:tav>
                                        <p:tav tm="100000">
                                          <p:val>
                                            <p:strVal val="#ppt_y"/>
                                          </p:val>
                                        </p:tav>
                                      </p:tavLst>
                                    </p:anim>
                                    <p:animEffect transition="in" filter="fade">
                                      <p:cBhvr>
                                        <p:cTn id="62" dur="550"/>
                                        <p:tgtEl>
                                          <p:spTgt spid="20"/>
                                        </p:tgtEl>
                                      </p:cBhvr>
                                    </p:animEffect>
                                  </p:childTnLst>
                                </p:cTn>
                              </p:par>
                              <p:par>
                                <p:cTn id="63" presetID="42" presetClass="entr" presetSubtype="0" fill="hold" grpId="0" nodeType="withEffect">
                                  <p:stCondLst>
                                    <p:cond delay="2200"/>
                                  </p:stCondLst>
                                  <p:childTnLst>
                                    <p:set>
                                      <p:cBhvr>
                                        <p:cTn id="64" dur="1" fill="hold">
                                          <p:stCondLst>
                                            <p:cond delay="0"/>
                                          </p:stCondLst>
                                        </p:cTn>
                                        <p:tgtEl>
                                          <p:spTgt spid="21"/>
                                        </p:tgtEl>
                                        <p:attrNameLst>
                                          <p:attrName>style.visibility</p:attrName>
                                        </p:attrNameLst>
                                      </p:cBhvr>
                                      <p:to>
                                        <p:strVal val="visible"/>
                                      </p:to>
                                    </p:set>
                                    <p:anim calcmode="lin" valueType="num">
                                      <p:cBhvr>
                                        <p:cTn id="65" dur="550" fill="hold"/>
                                        <p:tgtEl>
                                          <p:spTgt spid="21"/>
                                        </p:tgtEl>
                                        <p:attrNameLst>
                                          <p:attrName>ppt_y</p:attrName>
                                        </p:attrNameLst>
                                      </p:cBhvr>
                                      <p:tavLst>
                                        <p:tav tm="0">
                                          <p:val>
                                            <p:strVal val="#ppt_y+.05"/>
                                          </p:val>
                                        </p:tav>
                                        <p:tav tm="100000">
                                          <p:val>
                                            <p:strVal val="#ppt_y"/>
                                          </p:val>
                                        </p:tav>
                                      </p:tavLst>
                                    </p:anim>
                                    <p:animEffect transition="in" filter="fade">
                                      <p:cBhvr>
                                        <p:cTn id="66" dur="550"/>
                                        <p:tgtEl>
                                          <p:spTgt spid="21"/>
                                        </p:tgtEl>
                                      </p:cBhvr>
                                    </p:animEffect>
                                  </p:childTnLst>
                                </p:cTn>
                              </p:par>
                              <p:par>
                                <p:cTn id="67" presetID="22" presetClass="entr" presetSubtype="1" fill="hold" grpId="0" nodeType="withEffect">
                                  <p:stCondLst>
                                    <p:cond delay="2200"/>
                                  </p:stCondLst>
                                  <p:childTnLst>
                                    <p:set>
                                      <p:cBhvr>
                                        <p:cTn id="68" dur="1" fill="hold">
                                          <p:stCondLst>
                                            <p:cond delay="0"/>
                                          </p:stCondLst>
                                        </p:cTn>
                                        <p:tgtEl>
                                          <p:spTgt spid="17"/>
                                        </p:tgtEl>
                                        <p:attrNameLst>
                                          <p:attrName>style.visibility</p:attrName>
                                        </p:attrNameLst>
                                      </p:cBhvr>
                                      <p:to>
                                        <p:strVal val="visible"/>
                                      </p:to>
                                    </p:set>
                                    <p:animEffect transition="in" filter="wipe(up)">
                                      <p:cBhvr>
                                        <p:cTn id="69" dur="400"/>
                                        <p:tgtEl>
                                          <p:spTgt spid="17"/>
                                        </p:tgtEl>
                                      </p:cBhvr>
                                    </p:animEffect>
                                  </p:childTnLst>
                                </p:cTn>
                              </p:par>
                              <p:par>
                                <p:cTn id="70" presetID="22" presetClass="entr" presetSubtype="1" fill="hold" grpId="0" nodeType="withEffect">
                                  <p:stCondLst>
                                    <p:cond delay="2200"/>
                                  </p:stCondLst>
                                  <p:childTnLst>
                                    <p:set>
                                      <p:cBhvr>
                                        <p:cTn id="71" dur="1" fill="hold">
                                          <p:stCondLst>
                                            <p:cond delay="0"/>
                                          </p:stCondLst>
                                        </p:cTn>
                                        <p:tgtEl>
                                          <p:spTgt spid="22"/>
                                        </p:tgtEl>
                                        <p:attrNameLst>
                                          <p:attrName>style.visibility</p:attrName>
                                        </p:attrNameLst>
                                      </p:cBhvr>
                                      <p:to>
                                        <p:strVal val="visible"/>
                                      </p:to>
                                    </p:set>
                                    <p:animEffect transition="in" filter="wipe(up)">
                                      <p:cBhvr>
                                        <p:cTn id="72" dur="400"/>
                                        <p:tgtEl>
                                          <p:spTgt spid="22"/>
                                        </p:tgtEl>
                                      </p:cBhvr>
                                    </p:animEffect>
                                  </p:childTnLst>
                                </p:cTn>
                              </p:par>
                              <p:par>
                                <p:cTn id="73" presetID="22" presetClass="entr" presetSubtype="1" fill="hold" grpId="0" nodeType="withEffect">
                                  <p:stCondLst>
                                    <p:cond delay="2200"/>
                                  </p:stCondLst>
                                  <p:childTnLst>
                                    <p:set>
                                      <p:cBhvr>
                                        <p:cTn id="74" dur="1" fill="hold">
                                          <p:stCondLst>
                                            <p:cond delay="0"/>
                                          </p:stCondLst>
                                        </p:cTn>
                                        <p:tgtEl>
                                          <p:spTgt spid="27"/>
                                        </p:tgtEl>
                                        <p:attrNameLst>
                                          <p:attrName>style.visibility</p:attrName>
                                        </p:attrNameLst>
                                      </p:cBhvr>
                                      <p:to>
                                        <p:strVal val="visible"/>
                                      </p:to>
                                    </p:set>
                                    <p:animEffect transition="in" filter="wipe(up)">
                                      <p:cBhvr>
                                        <p:cTn id="75" dur="400"/>
                                        <p:tgtEl>
                                          <p:spTgt spid="27"/>
                                        </p:tgtEl>
                                      </p:cBhvr>
                                    </p:animEffect>
                                  </p:childTnLst>
                                </p:cTn>
                              </p:par>
                              <p:par>
                                <p:cTn id="76" presetID="22" presetClass="entr" presetSubtype="1" fill="hold" grpId="0" nodeType="withEffect">
                                  <p:stCondLst>
                                    <p:cond delay="2200"/>
                                  </p:stCondLst>
                                  <p:childTnLst>
                                    <p:set>
                                      <p:cBhvr>
                                        <p:cTn id="77" dur="1" fill="hold">
                                          <p:stCondLst>
                                            <p:cond delay="0"/>
                                          </p:stCondLst>
                                        </p:cTn>
                                        <p:tgtEl>
                                          <p:spTgt spid="32"/>
                                        </p:tgtEl>
                                        <p:attrNameLst>
                                          <p:attrName>style.visibility</p:attrName>
                                        </p:attrNameLst>
                                      </p:cBhvr>
                                      <p:to>
                                        <p:strVal val="visible"/>
                                      </p:to>
                                    </p:set>
                                    <p:animEffect transition="in" filter="wipe(up)">
                                      <p:cBhvr>
                                        <p:cTn id="78" dur="400"/>
                                        <p:tgtEl>
                                          <p:spTgt spid="32"/>
                                        </p:tgtEl>
                                      </p:cBhvr>
                                    </p:animEffect>
                                  </p:childTnLst>
                                </p:cTn>
                              </p:par>
                              <p:par>
                                <p:cTn id="79" presetID="42" presetClass="entr" presetSubtype="0" fill="hold" grpId="0" nodeType="withEffect">
                                  <p:stCondLst>
                                    <p:cond delay="2450"/>
                                  </p:stCondLst>
                                  <p:childTnLst>
                                    <p:set>
                                      <p:cBhvr>
                                        <p:cTn id="80" dur="1" fill="hold">
                                          <p:stCondLst>
                                            <p:cond delay="0"/>
                                          </p:stCondLst>
                                        </p:cTn>
                                        <p:tgtEl>
                                          <p:spTgt spid="23"/>
                                        </p:tgtEl>
                                        <p:attrNameLst>
                                          <p:attrName>style.visibility</p:attrName>
                                        </p:attrNameLst>
                                      </p:cBhvr>
                                      <p:to>
                                        <p:strVal val="visible"/>
                                      </p:to>
                                    </p:set>
                                    <p:anim calcmode="lin" valueType="num">
                                      <p:cBhvr>
                                        <p:cTn id="81" dur="550" fill="hold"/>
                                        <p:tgtEl>
                                          <p:spTgt spid="23"/>
                                        </p:tgtEl>
                                        <p:attrNameLst>
                                          <p:attrName>ppt_y</p:attrName>
                                        </p:attrNameLst>
                                      </p:cBhvr>
                                      <p:tavLst>
                                        <p:tav tm="0">
                                          <p:val>
                                            <p:strVal val="#ppt_y+.05"/>
                                          </p:val>
                                        </p:tav>
                                        <p:tav tm="100000">
                                          <p:val>
                                            <p:strVal val="#ppt_y"/>
                                          </p:val>
                                        </p:tav>
                                      </p:tavLst>
                                    </p:anim>
                                    <p:animEffect transition="in" filter="fade">
                                      <p:cBhvr>
                                        <p:cTn id="82" dur="550"/>
                                        <p:tgtEl>
                                          <p:spTgt spid="23"/>
                                        </p:tgtEl>
                                      </p:cBhvr>
                                    </p:animEffect>
                                  </p:childTnLst>
                                </p:cTn>
                              </p:par>
                              <p:par>
                                <p:cTn id="83" presetID="42" presetClass="entr" presetSubtype="0" fill="hold" grpId="0" nodeType="withEffect">
                                  <p:stCondLst>
                                    <p:cond delay="2450"/>
                                  </p:stCondLst>
                                  <p:childTnLst>
                                    <p:set>
                                      <p:cBhvr>
                                        <p:cTn id="84" dur="1" fill="hold">
                                          <p:stCondLst>
                                            <p:cond delay="0"/>
                                          </p:stCondLst>
                                        </p:cTn>
                                        <p:tgtEl>
                                          <p:spTgt spid="24"/>
                                        </p:tgtEl>
                                        <p:attrNameLst>
                                          <p:attrName>style.visibility</p:attrName>
                                        </p:attrNameLst>
                                      </p:cBhvr>
                                      <p:to>
                                        <p:strVal val="visible"/>
                                      </p:to>
                                    </p:set>
                                    <p:anim calcmode="lin" valueType="num">
                                      <p:cBhvr>
                                        <p:cTn id="85" dur="550" fill="hold"/>
                                        <p:tgtEl>
                                          <p:spTgt spid="24"/>
                                        </p:tgtEl>
                                        <p:attrNameLst>
                                          <p:attrName>ppt_y</p:attrName>
                                        </p:attrNameLst>
                                      </p:cBhvr>
                                      <p:tavLst>
                                        <p:tav tm="0">
                                          <p:val>
                                            <p:strVal val="#ppt_y+.05"/>
                                          </p:val>
                                        </p:tav>
                                        <p:tav tm="100000">
                                          <p:val>
                                            <p:strVal val="#ppt_y"/>
                                          </p:val>
                                        </p:tav>
                                      </p:tavLst>
                                    </p:anim>
                                    <p:animEffect transition="in" filter="fade">
                                      <p:cBhvr>
                                        <p:cTn id="86" dur="550"/>
                                        <p:tgtEl>
                                          <p:spTgt spid="24"/>
                                        </p:tgtEl>
                                      </p:cBhvr>
                                    </p:animEffect>
                                  </p:childTnLst>
                                </p:cTn>
                              </p:par>
                              <p:par>
                                <p:cTn id="87" presetID="42" presetClass="entr" presetSubtype="0" fill="hold" grpId="0" nodeType="withEffect">
                                  <p:stCondLst>
                                    <p:cond delay="2450"/>
                                  </p:stCondLst>
                                  <p:childTnLst>
                                    <p:set>
                                      <p:cBhvr>
                                        <p:cTn id="88" dur="1" fill="hold">
                                          <p:stCondLst>
                                            <p:cond delay="0"/>
                                          </p:stCondLst>
                                        </p:cTn>
                                        <p:tgtEl>
                                          <p:spTgt spid="25"/>
                                        </p:tgtEl>
                                        <p:attrNameLst>
                                          <p:attrName>style.visibility</p:attrName>
                                        </p:attrNameLst>
                                      </p:cBhvr>
                                      <p:to>
                                        <p:strVal val="visible"/>
                                      </p:to>
                                    </p:set>
                                    <p:anim calcmode="lin" valueType="num">
                                      <p:cBhvr>
                                        <p:cTn id="89" dur="550" fill="hold"/>
                                        <p:tgtEl>
                                          <p:spTgt spid="25"/>
                                        </p:tgtEl>
                                        <p:attrNameLst>
                                          <p:attrName>ppt_y</p:attrName>
                                        </p:attrNameLst>
                                      </p:cBhvr>
                                      <p:tavLst>
                                        <p:tav tm="0">
                                          <p:val>
                                            <p:strVal val="#ppt_y+.05"/>
                                          </p:val>
                                        </p:tav>
                                        <p:tav tm="100000">
                                          <p:val>
                                            <p:strVal val="#ppt_y"/>
                                          </p:val>
                                        </p:tav>
                                      </p:tavLst>
                                    </p:anim>
                                    <p:animEffect transition="in" filter="fade">
                                      <p:cBhvr>
                                        <p:cTn id="90" dur="550"/>
                                        <p:tgtEl>
                                          <p:spTgt spid="25"/>
                                        </p:tgtEl>
                                      </p:cBhvr>
                                    </p:animEffect>
                                  </p:childTnLst>
                                </p:cTn>
                              </p:par>
                              <p:par>
                                <p:cTn id="91" presetID="42" presetClass="entr" presetSubtype="0" fill="hold" grpId="0" nodeType="withEffect">
                                  <p:stCondLst>
                                    <p:cond delay="2450"/>
                                  </p:stCondLst>
                                  <p:childTnLst>
                                    <p:set>
                                      <p:cBhvr>
                                        <p:cTn id="92" dur="1" fill="hold">
                                          <p:stCondLst>
                                            <p:cond delay="0"/>
                                          </p:stCondLst>
                                        </p:cTn>
                                        <p:tgtEl>
                                          <p:spTgt spid="26"/>
                                        </p:tgtEl>
                                        <p:attrNameLst>
                                          <p:attrName>style.visibility</p:attrName>
                                        </p:attrNameLst>
                                      </p:cBhvr>
                                      <p:to>
                                        <p:strVal val="visible"/>
                                      </p:to>
                                    </p:set>
                                    <p:anim calcmode="lin" valueType="num">
                                      <p:cBhvr>
                                        <p:cTn id="93" dur="550" fill="hold"/>
                                        <p:tgtEl>
                                          <p:spTgt spid="26"/>
                                        </p:tgtEl>
                                        <p:attrNameLst>
                                          <p:attrName>ppt_y</p:attrName>
                                        </p:attrNameLst>
                                      </p:cBhvr>
                                      <p:tavLst>
                                        <p:tav tm="0">
                                          <p:val>
                                            <p:strVal val="#ppt_y+.05"/>
                                          </p:val>
                                        </p:tav>
                                        <p:tav tm="100000">
                                          <p:val>
                                            <p:strVal val="#ppt_y"/>
                                          </p:val>
                                        </p:tav>
                                      </p:tavLst>
                                    </p:anim>
                                    <p:animEffect transition="in" filter="fade">
                                      <p:cBhvr>
                                        <p:cTn id="94" dur="550"/>
                                        <p:tgtEl>
                                          <p:spTgt spid="26"/>
                                        </p:tgtEl>
                                      </p:cBhvr>
                                    </p:animEffect>
                                  </p:childTnLst>
                                </p:cTn>
                              </p:par>
                              <p:par>
                                <p:cTn id="95" presetID="42" presetClass="entr" presetSubtype="0" fill="hold" grpId="0" nodeType="withEffect">
                                  <p:stCondLst>
                                    <p:cond delay="2700"/>
                                  </p:stCondLst>
                                  <p:childTnLst>
                                    <p:set>
                                      <p:cBhvr>
                                        <p:cTn id="96" dur="1" fill="hold">
                                          <p:stCondLst>
                                            <p:cond delay="0"/>
                                          </p:stCondLst>
                                        </p:cTn>
                                        <p:tgtEl>
                                          <p:spTgt spid="28"/>
                                        </p:tgtEl>
                                        <p:attrNameLst>
                                          <p:attrName>style.visibility</p:attrName>
                                        </p:attrNameLst>
                                      </p:cBhvr>
                                      <p:to>
                                        <p:strVal val="visible"/>
                                      </p:to>
                                    </p:set>
                                    <p:anim calcmode="lin" valueType="num">
                                      <p:cBhvr>
                                        <p:cTn id="97" dur="550" fill="hold"/>
                                        <p:tgtEl>
                                          <p:spTgt spid="28"/>
                                        </p:tgtEl>
                                        <p:attrNameLst>
                                          <p:attrName>ppt_y</p:attrName>
                                        </p:attrNameLst>
                                      </p:cBhvr>
                                      <p:tavLst>
                                        <p:tav tm="0">
                                          <p:val>
                                            <p:strVal val="#ppt_y+.05"/>
                                          </p:val>
                                        </p:tav>
                                        <p:tav tm="100000">
                                          <p:val>
                                            <p:strVal val="#ppt_y"/>
                                          </p:val>
                                        </p:tav>
                                      </p:tavLst>
                                    </p:anim>
                                    <p:animEffect transition="in" filter="fade">
                                      <p:cBhvr>
                                        <p:cTn id="98" dur="550"/>
                                        <p:tgtEl>
                                          <p:spTgt spid="28"/>
                                        </p:tgtEl>
                                      </p:cBhvr>
                                    </p:animEffect>
                                  </p:childTnLst>
                                </p:cTn>
                              </p:par>
                              <p:par>
                                <p:cTn id="99" presetID="42" presetClass="entr" presetSubtype="0" fill="hold" grpId="0" nodeType="withEffect">
                                  <p:stCondLst>
                                    <p:cond delay="2700"/>
                                  </p:stCondLst>
                                  <p:childTnLst>
                                    <p:set>
                                      <p:cBhvr>
                                        <p:cTn id="100" dur="1" fill="hold">
                                          <p:stCondLst>
                                            <p:cond delay="0"/>
                                          </p:stCondLst>
                                        </p:cTn>
                                        <p:tgtEl>
                                          <p:spTgt spid="29"/>
                                        </p:tgtEl>
                                        <p:attrNameLst>
                                          <p:attrName>style.visibility</p:attrName>
                                        </p:attrNameLst>
                                      </p:cBhvr>
                                      <p:to>
                                        <p:strVal val="visible"/>
                                      </p:to>
                                    </p:set>
                                    <p:anim calcmode="lin" valueType="num">
                                      <p:cBhvr>
                                        <p:cTn id="101" dur="550" fill="hold"/>
                                        <p:tgtEl>
                                          <p:spTgt spid="29"/>
                                        </p:tgtEl>
                                        <p:attrNameLst>
                                          <p:attrName>ppt_y</p:attrName>
                                        </p:attrNameLst>
                                      </p:cBhvr>
                                      <p:tavLst>
                                        <p:tav tm="0">
                                          <p:val>
                                            <p:strVal val="#ppt_y+.05"/>
                                          </p:val>
                                        </p:tav>
                                        <p:tav tm="100000">
                                          <p:val>
                                            <p:strVal val="#ppt_y"/>
                                          </p:val>
                                        </p:tav>
                                      </p:tavLst>
                                    </p:anim>
                                    <p:animEffect transition="in" filter="fade">
                                      <p:cBhvr>
                                        <p:cTn id="102" dur="550"/>
                                        <p:tgtEl>
                                          <p:spTgt spid="29"/>
                                        </p:tgtEl>
                                      </p:cBhvr>
                                    </p:animEffect>
                                  </p:childTnLst>
                                </p:cTn>
                              </p:par>
                              <p:par>
                                <p:cTn id="103" presetID="42" presetClass="entr" presetSubtype="0" fill="hold" grpId="0" nodeType="withEffect">
                                  <p:stCondLst>
                                    <p:cond delay="2700"/>
                                  </p:stCondLst>
                                  <p:childTnLst>
                                    <p:set>
                                      <p:cBhvr>
                                        <p:cTn id="104" dur="1" fill="hold">
                                          <p:stCondLst>
                                            <p:cond delay="0"/>
                                          </p:stCondLst>
                                        </p:cTn>
                                        <p:tgtEl>
                                          <p:spTgt spid="30"/>
                                        </p:tgtEl>
                                        <p:attrNameLst>
                                          <p:attrName>style.visibility</p:attrName>
                                        </p:attrNameLst>
                                      </p:cBhvr>
                                      <p:to>
                                        <p:strVal val="visible"/>
                                      </p:to>
                                    </p:set>
                                    <p:anim calcmode="lin" valueType="num">
                                      <p:cBhvr>
                                        <p:cTn id="105" dur="550" fill="hold"/>
                                        <p:tgtEl>
                                          <p:spTgt spid="30"/>
                                        </p:tgtEl>
                                        <p:attrNameLst>
                                          <p:attrName>ppt_y</p:attrName>
                                        </p:attrNameLst>
                                      </p:cBhvr>
                                      <p:tavLst>
                                        <p:tav tm="0">
                                          <p:val>
                                            <p:strVal val="#ppt_y+.05"/>
                                          </p:val>
                                        </p:tav>
                                        <p:tav tm="100000">
                                          <p:val>
                                            <p:strVal val="#ppt_y"/>
                                          </p:val>
                                        </p:tav>
                                      </p:tavLst>
                                    </p:anim>
                                    <p:animEffect transition="in" filter="fade">
                                      <p:cBhvr>
                                        <p:cTn id="106" dur="550"/>
                                        <p:tgtEl>
                                          <p:spTgt spid="30"/>
                                        </p:tgtEl>
                                      </p:cBhvr>
                                    </p:animEffect>
                                  </p:childTnLst>
                                </p:cTn>
                              </p:par>
                              <p:par>
                                <p:cTn id="107" presetID="42" presetClass="entr" presetSubtype="0" fill="hold" grpId="0" nodeType="withEffect">
                                  <p:stCondLst>
                                    <p:cond delay="2700"/>
                                  </p:stCondLst>
                                  <p:childTnLst>
                                    <p:set>
                                      <p:cBhvr>
                                        <p:cTn id="108" dur="1" fill="hold">
                                          <p:stCondLst>
                                            <p:cond delay="0"/>
                                          </p:stCondLst>
                                        </p:cTn>
                                        <p:tgtEl>
                                          <p:spTgt spid="31"/>
                                        </p:tgtEl>
                                        <p:attrNameLst>
                                          <p:attrName>style.visibility</p:attrName>
                                        </p:attrNameLst>
                                      </p:cBhvr>
                                      <p:to>
                                        <p:strVal val="visible"/>
                                      </p:to>
                                    </p:set>
                                    <p:anim calcmode="lin" valueType="num">
                                      <p:cBhvr>
                                        <p:cTn id="109" dur="550" fill="hold"/>
                                        <p:tgtEl>
                                          <p:spTgt spid="31"/>
                                        </p:tgtEl>
                                        <p:attrNameLst>
                                          <p:attrName>ppt_y</p:attrName>
                                        </p:attrNameLst>
                                      </p:cBhvr>
                                      <p:tavLst>
                                        <p:tav tm="0">
                                          <p:val>
                                            <p:strVal val="#ppt_y+.05"/>
                                          </p:val>
                                        </p:tav>
                                        <p:tav tm="100000">
                                          <p:val>
                                            <p:strVal val="#ppt_y"/>
                                          </p:val>
                                        </p:tav>
                                      </p:tavLst>
                                    </p:anim>
                                    <p:animEffect transition="in" filter="fade">
                                      <p:cBhvr>
                                        <p:cTn id="110" dur="550"/>
                                        <p:tgtEl>
                                          <p:spTgt spid="31"/>
                                        </p:tgtEl>
                                      </p:cBhvr>
                                    </p:animEffect>
                                  </p:childTnLst>
                                </p:cTn>
                              </p:par>
                              <p:par>
                                <p:cTn id="111" presetID="42" presetClass="entr" presetSubtype="0" fill="hold" grpId="0" nodeType="withEffect">
                                  <p:stCondLst>
                                    <p:cond delay="2950"/>
                                  </p:stCondLst>
                                  <p:childTnLst>
                                    <p:set>
                                      <p:cBhvr>
                                        <p:cTn id="112" dur="1" fill="hold">
                                          <p:stCondLst>
                                            <p:cond delay="0"/>
                                          </p:stCondLst>
                                        </p:cTn>
                                        <p:tgtEl>
                                          <p:spTgt spid="33"/>
                                        </p:tgtEl>
                                        <p:attrNameLst>
                                          <p:attrName>style.visibility</p:attrName>
                                        </p:attrNameLst>
                                      </p:cBhvr>
                                      <p:to>
                                        <p:strVal val="visible"/>
                                      </p:to>
                                    </p:set>
                                    <p:anim calcmode="lin" valueType="num">
                                      <p:cBhvr>
                                        <p:cTn id="113" dur="550" fill="hold"/>
                                        <p:tgtEl>
                                          <p:spTgt spid="33"/>
                                        </p:tgtEl>
                                        <p:attrNameLst>
                                          <p:attrName>ppt_y</p:attrName>
                                        </p:attrNameLst>
                                      </p:cBhvr>
                                      <p:tavLst>
                                        <p:tav tm="0">
                                          <p:val>
                                            <p:strVal val="#ppt_y+.05"/>
                                          </p:val>
                                        </p:tav>
                                        <p:tav tm="100000">
                                          <p:val>
                                            <p:strVal val="#ppt_y"/>
                                          </p:val>
                                        </p:tav>
                                      </p:tavLst>
                                    </p:anim>
                                    <p:animEffect transition="in" filter="fade">
                                      <p:cBhvr>
                                        <p:cTn id="114" dur="550"/>
                                        <p:tgtEl>
                                          <p:spTgt spid="33"/>
                                        </p:tgtEl>
                                      </p:cBhvr>
                                    </p:animEffect>
                                  </p:childTnLst>
                                </p:cTn>
                              </p:par>
                              <p:par>
                                <p:cTn id="115" presetID="42" presetClass="entr" presetSubtype="0" fill="hold" grpId="0" nodeType="withEffect">
                                  <p:stCondLst>
                                    <p:cond delay="2950"/>
                                  </p:stCondLst>
                                  <p:childTnLst>
                                    <p:set>
                                      <p:cBhvr>
                                        <p:cTn id="116" dur="1" fill="hold">
                                          <p:stCondLst>
                                            <p:cond delay="0"/>
                                          </p:stCondLst>
                                        </p:cTn>
                                        <p:tgtEl>
                                          <p:spTgt spid="34"/>
                                        </p:tgtEl>
                                        <p:attrNameLst>
                                          <p:attrName>style.visibility</p:attrName>
                                        </p:attrNameLst>
                                      </p:cBhvr>
                                      <p:to>
                                        <p:strVal val="visible"/>
                                      </p:to>
                                    </p:set>
                                    <p:anim calcmode="lin" valueType="num">
                                      <p:cBhvr>
                                        <p:cTn id="117" dur="550" fill="hold"/>
                                        <p:tgtEl>
                                          <p:spTgt spid="34"/>
                                        </p:tgtEl>
                                        <p:attrNameLst>
                                          <p:attrName>ppt_y</p:attrName>
                                        </p:attrNameLst>
                                      </p:cBhvr>
                                      <p:tavLst>
                                        <p:tav tm="0">
                                          <p:val>
                                            <p:strVal val="#ppt_y+.05"/>
                                          </p:val>
                                        </p:tav>
                                        <p:tav tm="100000">
                                          <p:val>
                                            <p:strVal val="#ppt_y"/>
                                          </p:val>
                                        </p:tav>
                                      </p:tavLst>
                                    </p:anim>
                                    <p:animEffect transition="in" filter="fade">
                                      <p:cBhvr>
                                        <p:cTn id="118" dur="550"/>
                                        <p:tgtEl>
                                          <p:spTgt spid="34"/>
                                        </p:tgtEl>
                                      </p:cBhvr>
                                    </p:animEffect>
                                  </p:childTnLst>
                                </p:cTn>
                              </p:par>
                              <p:par>
                                <p:cTn id="119" presetID="42" presetClass="entr" presetSubtype="0" fill="hold" grpId="0" nodeType="withEffect">
                                  <p:stCondLst>
                                    <p:cond delay="2950"/>
                                  </p:stCondLst>
                                  <p:childTnLst>
                                    <p:set>
                                      <p:cBhvr>
                                        <p:cTn id="120" dur="1" fill="hold">
                                          <p:stCondLst>
                                            <p:cond delay="0"/>
                                          </p:stCondLst>
                                        </p:cTn>
                                        <p:tgtEl>
                                          <p:spTgt spid="35"/>
                                        </p:tgtEl>
                                        <p:attrNameLst>
                                          <p:attrName>style.visibility</p:attrName>
                                        </p:attrNameLst>
                                      </p:cBhvr>
                                      <p:to>
                                        <p:strVal val="visible"/>
                                      </p:to>
                                    </p:set>
                                    <p:anim calcmode="lin" valueType="num">
                                      <p:cBhvr>
                                        <p:cTn id="121" dur="550" fill="hold"/>
                                        <p:tgtEl>
                                          <p:spTgt spid="35"/>
                                        </p:tgtEl>
                                        <p:attrNameLst>
                                          <p:attrName>ppt_y</p:attrName>
                                        </p:attrNameLst>
                                      </p:cBhvr>
                                      <p:tavLst>
                                        <p:tav tm="0">
                                          <p:val>
                                            <p:strVal val="#ppt_y+.05"/>
                                          </p:val>
                                        </p:tav>
                                        <p:tav tm="100000">
                                          <p:val>
                                            <p:strVal val="#ppt_y"/>
                                          </p:val>
                                        </p:tav>
                                      </p:tavLst>
                                    </p:anim>
                                    <p:animEffect transition="in" filter="fade">
                                      <p:cBhvr>
                                        <p:cTn id="122" dur="550"/>
                                        <p:tgtEl>
                                          <p:spTgt spid="35"/>
                                        </p:tgtEl>
                                      </p:cBhvr>
                                    </p:animEffect>
                                  </p:childTnLst>
                                </p:cTn>
                              </p:par>
                              <p:par>
                                <p:cTn id="123" presetID="42" presetClass="entr" presetSubtype="0" fill="hold" grpId="0" nodeType="withEffect">
                                  <p:stCondLst>
                                    <p:cond delay="2950"/>
                                  </p:stCondLst>
                                  <p:childTnLst>
                                    <p:set>
                                      <p:cBhvr>
                                        <p:cTn id="124" dur="1" fill="hold">
                                          <p:stCondLst>
                                            <p:cond delay="0"/>
                                          </p:stCondLst>
                                        </p:cTn>
                                        <p:tgtEl>
                                          <p:spTgt spid="36"/>
                                        </p:tgtEl>
                                        <p:attrNameLst>
                                          <p:attrName>style.visibility</p:attrName>
                                        </p:attrNameLst>
                                      </p:cBhvr>
                                      <p:to>
                                        <p:strVal val="visible"/>
                                      </p:to>
                                    </p:set>
                                    <p:anim calcmode="lin" valueType="num">
                                      <p:cBhvr>
                                        <p:cTn id="125" dur="550" fill="hold"/>
                                        <p:tgtEl>
                                          <p:spTgt spid="36"/>
                                        </p:tgtEl>
                                        <p:attrNameLst>
                                          <p:attrName>ppt_y</p:attrName>
                                        </p:attrNameLst>
                                      </p:cBhvr>
                                      <p:tavLst>
                                        <p:tav tm="0">
                                          <p:val>
                                            <p:strVal val="#ppt_y+.05"/>
                                          </p:val>
                                        </p:tav>
                                        <p:tav tm="100000">
                                          <p:val>
                                            <p:strVal val="#ppt_y"/>
                                          </p:val>
                                        </p:tav>
                                      </p:tavLst>
                                    </p:anim>
                                    <p:animEffect transition="in" filter="fade">
                                      <p:cBhvr>
                                        <p:cTn id="126" dur="550"/>
                                        <p:tgtEl>
                                          <p:spTgt spid="36"/>
                                        </p:tgtEl>
                                      </p:cBhvr>
                                    </p:animEffect>
                                  </p:childTnLst>
                                </p:cTn>
                              </p:par>
                              <p:par>
                                <p:cTn id="127" presetID="10" presetClass="entr" presetSubtype="0" fill="hold" grpId="0" nodeType="withEffect">
                                  <p:stCondLst>
                                    <p:cond delay="3200"/>
                                  </p:stCondLst>
                                  <p:childTnLst>
                                    <p:set>
                                      <p:cBhvr>
                                        <p:cTn id="128" dur="1" fill="hold">
                                          <p:stCondLst>
                                            <p:cond delay="0"/>
                                          </p:stCondLst>
                                        </p:cTn>
                                        <p:tgtEl>
                                          <p:spTgt spid="37"/>
                                        </p:tgtEl>
                                        <p:attrNameLst>
                                          <p:attrName>style.visibility</p:attrName>
                                        </p:attrNameLst>
                                      </p:cBhvr>
                                      <p:to>
                                        <p:strVal val="visible"/>
                                      </p:to>
                                    </p:set>
                                    <p:animEffect transition="in" filter="fade">
                                      <p:cBhvr>
                                        <p:cTn id="129"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animBg="1"/>
      <p:bldP spid="6" grpId="0" animBg="1"/>
      <p:bldP spid="7" grpId="0"/>
      <p:bldP spid="8" grpId="0"/>
      <p:bldP spid="9" grpId="0" animBg="1"/>
      <p:bldP spid="10" grpId="0" animBg="1"/>
      <p:bldP spid="11" grpId="0" animBg="1"/>
      <p:bldP spid="13" grpId="0"/>
      <p:bldP spid="14" grpId="0" animBg="1"/>
      <p:bldP spid="15" grpId="0" animBg="1"/>
      <p:bldP spid="16" grpId="0"/>
      <p:bldP spid="18" grpId="0" animBg="1"/>
      <p:bldP spid="19" grpId="0" animBg="1"/>
      <p:bldP spid="20" grpId="0"/>
      <p:bldP spid="21" grpId="0"/>
      <p:bldP spid="17" grpId="0" animBg="1"/>
      <p:bldP spid="22" grpId="0" animBg="1"/>
      <p:bldP spid="27" grpId="0" animBg="1"/>
      <p:bldP spid="32" grpId="0" animBg="1"/>
      <p:bldP spid="23" grpId="0" animBg="1"/>
      <p:bldP spid="24" grpId="0" animBg="1"/>
      <p:bldP spid="25" grpId="0"/>
      <p:bldP spid="26" grpId="0"/>
      <p:bldP spid="28" grpId="0" animBg="1"/>
      <p:bldP spid="29" grpId="0" animBg="1"/>
      <p:bldP spid="30" grpId="0"/>
      <p:bldP spid="31" grpId="0"/>
      <p:bldP spid="33" grpId="0" animBg="1"/>
      <p:bldP spid="34" grpId="0" animBg="1"/>
      <p:bldP spid="35" grpId="0"/>
      <p:bldP spid="36" grpId="0"/>
      <p:bldP spid="37" grpId="0"/>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
          <p:cNvSpPr txBox="1"/>
          <p:nvPr/>
        </p:nvSpPr>
        <p:spPr>
          <a:xfrm>
            <a:off x="685800" y="502920"/>
            <a:ext cx="7315200" cy="274320"/>
          </a:xfrm>
          <a:prstGeom prst="rect">
            <a:avLst/>
          </a:prstGeom>
          <a:noFill/>
          <a:ln/>
        </p:spPr>
        <p:txBody>
          <a:bodyPr wrap="square" lIns="0" tIns="0" rIns="0" bIns="0" rtlCol="0" anchor="t"/>
          <a:lstStyle/>
          <a:p>
            <a:pPr algn="l" indent="0" marL="0">
              <a:buNone/>
            </a:pPr>
            <a:r>
              <a:rPr lang="en-US" sz="1300" b="1" spc="300" kern="0" dirty="0">
                <a:solidFill>
                  <a:schemeClr val="accent1"/>
                </a:solidFill>
              </a:rPr>
              <a:t>THE COMPETITIVE LANDSCAPE</a:t>
            </a:r>
            <a:endParaRPr lang="en-US" sz="1300" dirty="0"/>
          </a:p>
        </p:txBody>
      </p:sp>
      <p:sp>
        <p:nvSpPr>
          <p:cNvPr id="3" name="Text 0"/>
          <p:cNvSpPr/>
          <p:nvPr>
            <p:ph idx="101" type="title" hasCustomPrompt="1"/>
          </p:nvPr>
        </p:nvSpPr>
        <p:spPr>
          <a:xfrm>
            <a:off x="685800" y="841248"/>
            <a:ext cx="10820400" cy="1325880"/>
          </a:xfrm>
          <a:prstGeom prst="rect">
            <a:avLst/>
          </a:prstGeom>
          <a:noFill/>
          <a:ln/>
        </p:spPr>
        <p:txBody>
          <a:bodyPr wrap="square" lIns="0" tIns="0" rIns="0" bIns="0" rtlCol="0" anchor="t"/>
          <a:lstStyle/>
          <a:p>
            <a:pPr algn="l" indent="0" marL="0">
              <a:lnSpc>
                <a:spcPct val="95000"/>
              </a:lnSpc>
              <a:buNone/>
            </a:pPr>
            <a:r>
              <a:rPr lang="en-US" sz="4000" b="1" dirty="0">
                <a:solidFill>
                  <a:schemeClr val="tx1"/>
                </a:solidFill>
                <a:latin typeface="+mj-lt" pitchFamily="34" charset="0"/>
                <a:ea typeface="+mj-lt" pitchFamily="34" charset="-122"/>
                <a:cs typeface="+mj-lt" pitchFamily="34" charset="-120"/>
              </a:rPr>
              <a:t>Where we aim to be different, </a:t>
            </a:r>
            <a:pPr algn="l" indent="0" marL="0">
              <a:lnSpc>
                <a:spcPct val="95000"/>
              </a:lnSpc>
              <a:buNone/>
            </a:pPr>
            <a:r>
              <a:rPr lang="en-US" sz="4000" b="1" i="1" dirty="0">
                <a:solidFill>
                  <a:schemeClr val="accent1"/>
                </a:solidFill>
                <a:latin typeface="+mj-lt" pitchFamily="34" charset="0"/>
                <a:ea typeface="+mj-lt" pitchFamily="34" charset="-122"/>
                <a:cs typeface="+mj-lt" pitchFamily="34" charset="-120"/>
              </a:rPr>
              <a:t>and what we must still prove.</a:t>
            </a:r>
            <a:endParaRPr lang="en-US" sz="4000" dirty="0"/>
          </a:p>
        </p:txBody>
      </p:sp>
      <p:sp>
        <p:nvSpPr>
          <p:cNvPr id="4" name="Map frame"/>
          <p:cNvSpPr/>
          <p:nvPr/>
        </p:nvSpPr>
        <p:spPr>
          <a:xfrm>
            <a:off x="1783080" y="2286000"/>
            <a:ext cx="4526280" cy="3383280"/>
          </a:xfrm>
          <a:prstGeom prst="roundRect">
            <a:avLst>
              <a:gd name="adj" fmla="val 2703"/>
            </a:avLst>
          </a:prstGeom>
          <a:solidFill>
            <a:schemeClr val="bg1"/>
          </a:solidFill>
          <a:ln w="12700">
            <a:solidFill>
              <a:srgbClr val="D5E6DC"/>
            </a:solidFill>
            <a:prstDash val="solid"/>
          </a:ln>
        </p:spPr>
      </p:sp>
      <p:sp>
        <p:nvSpPr>
          <p:cNvPr id="5" name="Map vertical"/>
          <p:cNvSpPr/>
          <p:nvPr/>
        </p:nvSpPr>
        <p:spPr>
          <a:xfrm>
            <a:off x="4046220" y="2423160"/>
            <a:ext cx="0" cy="3108960"/>
          </a:xfrm>
          <a:prstGeom prst="line">
            <a:avLst/>
          </a:prstGeom>
          <a:noFill/>
          <a:ln w="12700">
            <a:solidFill>
              <a:schemeClr val="accent5">
                <a:alpha val="45000"/>
              </a:schemeClr>
            </a:solidFill>
            <a:prstDash val="dash"/>
          </a:ln>
        </p:spPr>
      </p:sp>
      <p:sp>
        <p:nvSpPr>
          <p:cNvPr id="6" name="Map horizontal"/>
          <p:cNvSpPr/>
          <p:nvPr/>
        </p:nvSpPr>
        <p:spPr>
          <a:xfrm>
            <a:off x="1920240" y="3977640"/>
            <a:ext cx="4251960" cy="0"/>
          </a:xfrm>
          <a:prstGeom prst="line">
            <a:avLst/>
          </a:prstGeom>
          <a:noFill/>
          <a:ln w="12700">
            <a:solidFill>
              <a:schemeClr val="accent5">
                <a:alpha val="45000"/>
              </a:schemeClr>
            </a:solidFill>
            <a:prstDash val="dash"/>
          </a:ln>
        </p:spPr>
      </p:sp>
      <p:sp>
        <p:nvSpPr>
          <p:cNvPr id="7" name="Axis top"/>
          <p:cNvSpPr txBox="1"/>
          <p:nvPr/>
        </p:nvSpPr>
        <p:spPr>
          <a:xfrm>
            <a:off x="685800" y="2377440"/>
            <a:ext cx="1051560" cy="731520"/>
          </a:xfrm>
          <a:prstGeom prst="rect">
            <a:avLst/>
          </a:prstGeom>
          <a:noFill/>
          <a:ln/>
        </p:spPr>
        <p:txBody>
          <a:bodyPr wrap="square" lIns="0" tIns="0" rIns="0" bIns="0" rtlCol="0" anchor="t"/>
          <a:lstStyle/>
          <a:p>
            <a:pPr algn="r" indent="0" marL="0">
              <a:lnSpc>
                <a:spcPct val="100000"/>
              </a:lnSpc>
              <a:buNone/>
            </a:pPr>
            <a:r>
              <a:rPr lang="en-US" sz="1200" b="1" dirty="0">
                <a:solidFill>
                  <a:schemeClr val="tx1"/>
                </a:solidFill>
              </a:rPr>
              <a:t>Structured</a:t>
            </a:r>
            <a:endParaRPr lang="en-US" sz="1200" dirty="0"/>
          </a:p>
          <a:p>
            <a:pPr algn="r" indent="0" marL="0">
              <a:lnSpc>
                <a:spcPct val="100000"/>
              </a:lnSpc>
              <a:buNone/>
            </a:pPr>
            <a:r>
              <a:rPr lang="en-US" sz="1200" dirty="0">
                <a:solidFill>
                  <a:srgbClr val="4A6B5A"/>
                </a:solidFill>
              </a:rPr>
              <a:t>menus, status, tracking</a:t>
            </a:r>
            <a:endParaRPr lang="en-US" sz="1200" dirty="0"/>
          </a:p>
        </p:txBody>
      </p:sp>
      <p:sp>
        <p:nvSpPr>
          <p:cNvPr id="8" name="Axis bottom"/>
          <p:cNvSpPr txBox="1"/>
          <p:nvPr/>
        </p:nvSpPr>
        <p:spPr>
          <a:xfrm>
            <a:off x="685800" y="4983480"/>
            <a:ext cx="1051560" cy="594360"/>
          </a:xfrm>
          <a:prstGeom prst="rect">
            <a:avLst/>
          </a:prstGeom>
          <a:noFill/>
          <a:ln/>
        </p:spPr>
        <p:txBody>
          <a:bodyPr wrap="square" lIns="0" tIns="0" rIns="0" bIns="0" rtlCol="0" anchor="t"/>
          <a:lstStyle/>
          <a:p>
            <a:pPr algn="r" indent="0" marL="0">
              <a:lnSpc>
                <a:spcPct val="100000"/>
              </a:lnSpc>
              <a:buNone/>
            </a:pPr>
            <a:r>
              <a:rPr lang="en-US" sz="1200" b="1" dirty="0">
                <a:solidFill>
                  <a:schemeClr val="tx1"/>
                </a:solidFill>
              </a:rPr>
              <a:t>Manual</a:t>
            </a:r>
            <a:endParaRPr lang="en-US" sz="1200" dirty="0"/>
          </a:p>
          <a:p>
            <a:pPr algn="r" indent="0" marL="0">
              <a:lnSpc>
                <a:spcPct val="100000"/>
              </a:lnSpc>
              <a:buNone/>
            </a:pPr>
            <a:r>
              <a:rPr lang="en-US" sz="1200" dirty="0">
                <a:solidFill>
                  <a:srgbClr val="4A6B5A"/>
                </a:solidFill>
              </a:rPr>
              <a:t>chats, posts, DMs</a:t>
            </a:r>
            <a:endParaRPr lang="en-US" sz="1200" dirty="0"/>
          </a:p>
        </p:txBody>
      </p:sp>
      <p:sp>
        <p:nvSpPr>
          <p:cNvPr id="9" name="Axis left"/>
          <p:cNvSpPr txBox="1"/>
          <p:nvPr/>
        </p:nvSpPr>
        <p:spPr>
          <a:xfrm>
            <a:off x="1783080" y="5760720"/>
            <a:ext cx="1828800" cy="256032"/>
          </a:xfrm>
          <a:prstGeom prst="rect">
            <a:avLst/>
          </a:prstGeom>
          <a:noFill/>
          <a:ln/>
        </p:spPr>
        <p:txBody>
          <a:bodyPr wrap="square" lIns="0" tIns="0" rIns="0" bIns="0" rtlCol="0" anchor="t"/>
          <a:lstStyle/>
          <a:p>
            <a:pPr algn="l" indent="0" marL="0">
              <a:buNone/>
            </a:pPr>
            <a:r>
              <a:rPr lang="en-US" sz="1200" b="1" dirty="0">
                <a:solidFill>
                  <a:schemeClr val="tx1"/>
                </a:solidFill>
              </a:rPr>
              <a:t>One community</a:t>
            </a:r>
            <a:endParaRPr lang="en-US" sz="1200" dirty="0"/>
          </a:p>
        </p:txBody>
      </p:sp>
      <p:sp>
        <p:nvSpPr>
          <p:cNvPr id="10" name="Axis right"/>
          <p:cNvSpPr txBox="1"/>
          <p:nvPr/>
        </p:nvSpPr>
        <p:spPr>
          <a:xfrm>
            <a:off x="4480560" y="5760720"/>
            <a:ext cx="1828800" cy="256032"/>
          </a:xfrm>
          <a:prstGeom prst="rect">
            <a:avLst/>
          </a:prstGeom>
          <a:noFill/>
          <a:ln/>
        </p:spPr>
        <p:txBody>
          <a:bodyPr wrap="square" lIns="0" tIns="0" rIns="0" bIns="0" rtlCol="0" anchor="t"/>
          <a:lstStyle/>
          <a:p>
            <a:pPr algn="r" indent="0" marL="0">
              <a:buNone/>
            </a:pPr>
            <a:r>
              <a:rPr lang="en-US" sz="1200" b="1" dirty="0">
                <a:solidFill>
                  <a:schemeClr val="tx1"/>
                </a:solidFill>
              </a:rPr>
              <a:t>Whole city</a:t>
            </a:r>
            <a:endParaRPr lang="en-US" sz="1200" dirty="0"/>
          </a:p>
        </p:txBody>
      </p:sp>
      <p:sp>
        <p:nvSpPr>
          <p:cNvPr id="11" name="Player platforms"/>
          <p:cNvSpPr/>
          <p:nvPr/>
        </p:nvSpPr>
        <p:spPr>
          <a:xfrm>
            <a:off x="4155948" y="2697480"/>
            <a:ext cx="2103120" cy="731520"/>
          </a:xfrm>
          <a:prstGeom prst="roundRect">
            <a:avLst>
              <a:gd name="adj" fmla="val 12500"/>
            </a:avLst>
          </a:prstGeom>
          <a:solidFill>
            <a:schemeClr val="bg2"/>
          </a:solidFill>
          <a:ln w="12700">
            <a:solidFill>
              <a:srgbClr val="D5E6DC"/>
            </a:solidFill>
          </a:ln>
        </p:spPr>
        <p:txBody>
          <a:bodyPr wrap="square" lIns="91440" tIns="91440" rIns="91440" bIns="91440" rtlCol="0" anchor="ctr"/>
          <a:lstStyle/>
          <a:p>
            <a:pPr algn="l" indent="0" marL="0">
              <a:lnSpc>
                <a:spcPct val="100000"/>
              </a:lnSpc>
              <a:buNone/>
            </a:pPr>
            <a:r>
              <a:rPr lang="en-US" sz="1400" b="1" dirty="0">
                <a:solidFill>
                  <a:schemeClr val="tx1"/>
                </a:solidFill>
              </a:rPr>
              <a:t>Large delivery platforms</a:t>
            </a:r>
            <a:endParaRPr lang="en-US" sz="1400" dirty="0"/>
          </a:p>
          <a:p>
            <a:pPr algn="l" indent="0" marL="0">
              <a:lnSpc>
                <a:spcPct val="100000"/>
              </a:lnSpc>
              <a:buNone/>
            </a:pPr>
            <a:r>
              <a:rPr lang="en-US" sz="1200" dirty="0">
                <a:solidFill>
                  <a:srgbClr val="4A6B5A"/>
                </a:solidFill>
              </a:rPr>
              <a:t>Whole city, structured</a:t>
            </a:r>
            <a:endParaRPr lang="en-US" sz="1400" dirty="0"/>
          </a:p>
        </p:txBody>
      </p:sp>
      <p:sp>
        <p:nvSpPr>
          <p:cNvPr id="12" name="Player informal"/>
          <p:cNvSpPr/>
          <p:nvPr/>
        </p:nvSpPr>
        <p:spPr>
          <a:xfrm>
            <a:off x="1892808" y="4480560"/>
            <a:ext cx="2103120" cy="822960"/>
          </a:xfrm>
          <a:prstGeom prst="roundRect">
            <a:avLst>
              <a:gd name="adj" fmla="val 11111"/>
            </a:avLst>
          </a:prstGeom>
          <a:solidFill>
            <a:schemeClr val="bg2"/>
          </a:solidFill>
          <a:ln w="12700">
            <a:solidFill>
              <a:srgbClr val="D5E6DC"/>
            </a:solidFill>
          </a:ln>
        </p:spPr>
        <p:txBody>
          <a:bodyPr wrap="square" lIns="91440" tIns="91440" rIns="91440" bIns="91440" rtlCol="0" anchor="ctr"/>
          <a:lstStyle/>
          <a:p>
            <a:pPr algn="l" indent="0" marL="0">
              <a:lnSpc>
                <a:spcPct val="100000"/>
              </a:lnSpc>
              <a:buNone/>
            </a:pPr>
            <a:r>
              <a:rPr lang="en-US" sz="1400" b="1" dirty="0">
                <a:solidFill>
                  <a:schemeClr val="tx1"/>
                </a:solidFill>
              </a:rPr>
              <a:t>Informal neighborhood selling</a:t>
            </a:r>
            <a:endParaRPr lang="en-US" sz="1400" dirty="0"/>
          </a:p>
          <a:p>
            <a:pPr algn="l" indent="0" marL="0">
              <a:lnSpc>
                <a:spcPct val="100000"/>
              </a:lnSpc>
              <a:buNone/>
            </a:pPr>
            <a:r>
              <a:rPr lang="en-US" sz="1200" dirty="0">
                <a:solidFill>
                  <a:srgbClr val="4A6B5A"/>
                </a:solidFill>
              </a:rPr>
              <a:t>Close to home, but manual</a:t>
            </a:r>
            <a:endParaRPr lang="en-US" sz="1400" dirty="0"/>
          </a:p>
        </p:txBody>
      </p:sp>
      <p:sp>
        <p:nvSpPr>
          <p:cNvPr id="13" name="Player Lokal Finder"/>
          <p:cNvSpPr/>
          <p:nvPr/>
        </p:nvSpPr>
        <p:spPr>
          <a:xfrm>
            <a:off x="1892808" y="2697480"/>
            <a:ext cx="2103120" cy="777240"/>
          </a:xfrm>
          <a:prstGeom prst="roundRect">
            <a:avLst>
              <a:gd name="adj" fmla="val 11765"/>
            </a:avLst>
          </a:prstGeom>
          <a:solidFill>
            <a:schemeClr val="accent1"/>
          </a:solidFill>
          <a:ln w="28575">
            <a:solidFill>
              <a:schemeClr val="accent3"/>
            </a:solidFill>
            <a:prstDash val="dash"/>
          </a:ln>
        </p:spPr>
        <p:txBody>
          <a:bodyPr wrap="square" lIns="91440" tIns="91440" rIns="91440" bIns="91440" rtlCol="0" anchor="ctr"/>
          <a:lstStyle/>
          <a:p>
            <a:pPr algn="l" indent="0" marL="0">
              <a:lnSpc>
                <a:spcPct val="100000"/>
              </a:lnSpc>
              <a:buNone/>
            </a:pPr>
            <a:r>
              <a:rPr lang="en-US" sz="1700" b="1" dirty="0">
                <a:solidFill>
                  <a:schemeClr val="bg1"/>
                </a:solidFill>
              </a:rPr>
              <a:t>Lokal Finder</a:t>
            </a:r>
            <a:endParaRPr lang="en-US" sz="1700" dirty="0"/>
          </a:p>
          <a:p>
            <a:pPr algn="l" indent="0" marL="0">
              <a:lnSpc>
                <a:spcPct val="100000"/>
              </a:lnSpc>
              <a:buNone/>
            </a:pPr>
            <a:r>
              <a:rPr lang="en-US" sz="1200" dirty="0">
                <a:solidFill>
                  <a:srgbClr val="FDFEFE"/>
                </a:solidFill>
              </a:rPr>
              <a:t>One community, structured</a:t>
            </a:r>
            <a:endParaRPr lang="en-US" sz="1700" dirty="0"/>
          </a:p>
        </p:txBody>
      </p:sp>
      <p:sp>
        <p:nvSpPr>
          <p:cNvPr id="14" name="Tag to prove"/>
          <p:cNvSpPr/>
          <p:nvPr/>
        </p:nvSpPr>
        <p:spPr>
          <a:xfrm>
            <a:off x="2240280" y="2542032"/>
            <a:ext cx="100584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TO PROVE</a:t>
            </a:r>
            <a:endParaRPr lang="en-US" sz="1100" dirty="0"/>
          </a:p>
        </p:txBody>
      </p:sp>
      <p:sp>
        <p:nvSpPr>
          <p:cNvPr id="15" name="Differences label"/>
          <p:cNvSpPr txBox="1"/>
          <p:nvPr/>
        </p:nvSpPr>
        <p:spPr>
          <a:xfrm>
            <a:off x="6766560" y="2240280"/>
            <a:ext cx="475488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WHAT WE AIM TO DO DIFFERENTLY</a:t>
            </a:r>
            <a:endParaRPr lang="en-US" sz="1200" dirty="0"/>
          </a:p>
        </p:txBody>
      </p:sp>
      <p:sp>
        <p:nvSpPr>
          <p:cNvPr id="16" name="Diff 1 badge disc"/>
          <p:cNvSpPr/>
          <p:nvPr/>
        </p:nvSpPr>
        <p:spPr>
          <a:xfrm>
            <a:off x="6766560" y="2688336"/>
            <a:ext cx="365760" cy="365760"/>
          </a:xfrm>
          <a:prstGeom prst="ellipse">
            <a:avLst/>
          </a:prstGeom>
          <a:solidFill>
            <a:schemeClr val="accent1"/>
          </a:solidFill>
          <a:ln/>
        </p:spPr>
      </p:sp>
      <p:pic>
        <p:nvPicPr>
          <p:cNvPr id="17" name="Diff 1 badge icon" descr="pin icon">    </p:cNvPr>
          <p:cNvPicPr>
            <a:picLocks noChangeAspect="1"/>
          </p:cNvPicPr>
          <p:nvPr/>
        </p:nvPicPr>
        <p:blipFill>
          <a:blip r:embed="rId1"/>
          <a:stretch>
            <a:fillRect/>
          </a:stretch>
        </p:blipFill>
        <p:spPr>
          <a:xfrm>
            <a:off x="6861658" y="2783434"/>
            <a:ext cx="175565" cy="175565"/>
          </a:xfrm>
          <a:prstGeom prst="rect">
            <a:avLst/>
          </a:prstGeom>
        </p:spPr>
      </p:pic>
      <p:sp>
        <p:nvSpPr>
          <p:cNvPr id="18" name="Diff 1"/>
          <p:cNvSpPr txBox="1"/>
          <p:nvPr/>
        </p:nvSpPr>
        <p:spPr>
          <a:xfrm>
            <a:off x="7269480" y="2651760"/>
            <a:ext cx="4297680" cy="548640"/>
          </a:xfrm>
          <a:prstGeom prst="rect">
            <a:avLst/>
          </a:prstGeom>
          <a:noFill/>
          <a:ln/>
        </p:spPr>
        <p:txBody>
          <a:bodyPr wrap="square" lIns="0" tIns="0" rIns="0" bIns="0" rtlCol="0" anchor="t"/>
          <a:lstStyle/>
          <a:p>
            <a:pPr algn="l" indent="0" marL="0">
              <a:lnSpc>
                <a:spcPct val="98000"/>
              </a:lnSpc>
              <a:buNone/>
            </a:pPr>
            <a:r>
              <a:rPr lang="en-US" sz="1600" b="1" dirty="0">
                <a:solidFill>
                  <a:schemeClr val="tx1"/>
                </a:solidFill>
              </a:rPr>
              <a:t>Hyperlocal discovery</a:t>
            </a:r>
            <a:endParaRPr lang="en-US" sz="1600" dirty="0"/>
          </a:p>
          <a:p>
            <a:pPr algn="l" indent="0" marL="0">
              <a:lnSpc>
                <a:spcPct val="98000"/>
              </a:lnSpc>
              <a:buNone/>
            </a:pPr>
            <a:r>
              <a:rPr lang="en-US" sz="1400" dirty="0">
                <a:solidFill>
                  <a:srgbClr val="4A6B5A"/>
                </a:solidFill>
              </a:rPr>
              <a:t>Stores in your own community, not a whole city’s.</a:t>
            </a:r>
            <a:endParaRPr lang="en-US" sz="1600" dirty="0"/>
          </a:p>
        </p:txBody>
      </p:sp>
      <p:sp>
        <p:nvSpPr>
          <p:cNvPr id="19" name="Diff 2 badge disc"/>
          <p:cNvSpPr/>
          <p:nvPr/>
        </p:nvSpPr>
        <p:spPr>
          <a:xfrm>
            <a:off x="6766560" y="3273552"/>
            <a:ext cx="365760" cy="365760"/>
          </a:xfrm>
          <a:prstGeom prst="ellipse">
            <a:avLst/>
          </a:prstGeom>
          <a:solidFill>
            <a:schemeClr val="accent1"/>
          </a:solidFill>
          <a:ln/>
        </p:spPr>
      </p:sp>
      <p:pic>
        <p:nvPicPr>
          <p:cNvPr id="20" name="Diff 2 badge icon" descr="users icon">    </p:cNvPr>
          <p:cNvPicPr>
            <a:picLocks noChangeAspect="1"/>
          </p:cNvPicPr>
          <p:nvPr/>
        </p:nvPicPr>
        <p:blipFill>
          <a:blip r:embed="rId2"/>
          <a:stretch>
            <a:fillRect/>
          </a:stretch>
        </p:blipFill>
        <p:spPr>
          <a:xfrm>
            <a:off x="6861658" y="3368650"/>
            <a:ext cx="175565" cy="175565"/>
          </a:xfrm>
          <a:prstGeom prst="rect">
            <a:avLst/>
          </a:prstGeom>
        </p:spPr>
      </p:pic>
      <p:sp>
        <p:nvSpPr>
          <p:cNvPr id="21" name="Diff 2"/>
          <p:cNvSpPr txBox="1"/>
          <p:nvPr/>
        </p:nvSpPr>
        <p:spPr>
          <a:xfrm>
            <a:off x="7269480" y="3236976"/>
            <a:ext cx="4297680" cy="548640"/>
          </a:xfrm>
          <a:prstGeom prst="rect">
            <a:avLst/>
          </a:prstGeom>
          <a:noFill/>
          <a:ln/>
        </p:spPr>
        <p:txBody>
          <a:bodyPr wrap="square" lIns="0" tIns="0" rIns="0" bIns="0" rtlCol="0" anchor="t"/>
          <a:lstStyle/>
          <a:p>
            <a:pPr algn="l" indent="0" marL="0">
              <a:lnSpc>
                <a:spcPct val="98000"/>
              </a:lnSpc>
              <a:buNone/>
            </a:pPr>
            <a:r>
              <a:rPr lang="en-US" sz="1600" b="1" dirty="0">
                <a:solidFill>
                  <a:schemeClr val="tx1"/>
                </a:solidFill>
              </a:rPr>
              <a:t>Nearby sellers</a:t>
            </a:r>
            <a:endParaRPr lang="en-US" sz="1600" dirty="0"/>
          </a:p>
          <a:p>
            <a:pPr algn="l" indent="0" marL="0">
              <a:lnSpc>
                <a:spcPct val="98000"/>
              </a:lnSpc>
              <a:buNone/>
            </a:pPr>
            <a:r>
              <a:rPr lang="en-US" sz="1400" dirty="0">
                <a:solidFill>
                  <a:srgbClr val="4A6B5A"/>
                </a:solidFill>
              </a:rPr>
              <a:t>Neighbors can open a store without a storefront.</a:t>
            </a:r>
            <a:endParaRPr lang="en-US" sz="1600" dirty="0"/>
          </a:p>
        </p:txBody>
      </p:sp>
      <p:sp>
        <p:nvSpPr>
          <p:cNvPr id="22" name="Diff 3 badge disc"/>
          <p:cNvSpPr/>
          <p:nvPr/>
        </p:nvSpPr>
        <p:spPr>
          <a:xfrm>
            <a:off x="6766560" y="3858768"/>
            <a:ext cx="365760" cy="365760"/>
          </a:xfrm>
          <a:prstGeom prst="ellipse">
            <a:avLst/>
          </a:prstGeom>
          <a:solidFill>
            <a:schemeClr val="accent1"/>
          </a:solidFill>
          <a:ln/>
        </p:spPr>
      </p:sp>
      <p:pic>
        <p:nvPicPr>
          <p:cNvPr id="23" name="Diff 3 badge icon" descr="home icon">    </p:cNvPr>
          <p:cNvPicPr>
            <a:picLocks noChangeAspect="1"/>
          </p:cNvPicPr>
          <p:nvPr/>
        </p:nvPicPr>
        <p:blipFill>
          <a:blip r:embed="rId3"/>
          <a:stretch>
            <a:fillRect/>
          </a:stretch>
        </p:blipFill>
        <p:spPr>
          <a:xfrm>
            <a:off x="6861658" y="3953866"/>
            <a:ext cx="175565" cy="175565"/>
          </a:xfrm>
          <a:prstGeom prst="rect">
            <a:avLst/>
          </a:prstGeom>
        </p:spPr>
      </p:pic>
      <p:sp>
        <p:nvSpPr>
          <p:cNvPr id="24" name="Diff 3"/>
          <p:cNvSpPr txBox="1"/>
          <p:nvPr/>
        </p:nvSpPr>
        <p:spPr>
          <a:xfrm>
            <a:off x="7269480" y="3822192"/>
            <a:ext cx="4297680" cy="548640"/>
          </a:xfrm>
          <a:prstGeom prst="rect">
            <a:avLst/>
          </a:prstGeom>
          <a:noFill/>
          <a:ln/>
        </p:spPr>
        <p:txBody>
          <a:bodyPr wrap="square" lIns="0" tIns="0" rIns="0" bIns="0" rtlCol="0" anchor="t"/>
          <a:lstStyle/>
          <a:p>
            <a:pPr algn="l" indent="0" marL="0">
              <a:lnSpc>
                <a:spcPct val="98000"/>
              </a:lnSpc>
              <a:buNone/>
            </a:pPr>
            <a:r>
              <a:rPr lang="en-US" sz="1600" b="1" dirty="0">
                <a:solidFill>
                  <a:schemeClr val="tx1"/>
                </a:solidFill>
              </a:rPr>
              <a:t>Community convenience</a:t>
            </a:r>
            <a:endParaRPr lang="en-US" sz="1600" dirty="0"/>
          </a:p>
          <a:p>
            <a:pPr algn="l" indent="0" marL="0">
              <a:lnSpc>
                <a:spcPct val="98000"/>
              </a:lnSpc>
              <a:buNone/>
            </a:pPr>
            <a:r>
              <a:rPr lang="en-US" sz="1400" dirty="0">
                <a:solidFill>
                  <a:srgbClr val="4A6B5A"/>
                </a:solidFill>
              </a:rPr>
              <a:t>Orders go to a unit in the same building.</a:t>
            </a:r>
            <a:endParaRPr lang="en-US" sz="1600" dirty="0"/>
          </a:p>
        </p:txBody>
      </p:sp>
      <p:sp>
        <p:nvSpPr>
          <p:cNvPr id="25" name="Diff 4 badge disc"/>
          <p:cNvSpPr/>
          <p:nvPr/>
        </p:nvSpPr>
        <p:spPr>
          <a:xfrm>
            <a:off x="6766560" y="4443984"/>
            <a:ext cx="365760" cy="365760"/>
          </a:xfrm>
          <a:prstGeom prst="ellipse">
            <a:avLst/>
          </a:prstGeom>
          <a:solidFill>
            <a:schemeClr val="accent1"/>
          </a:solidFill>
          <a:ln/>
        </p:spPr>
      </p:sp>
      <p:pic>
        <p:nvPicPr>
          <p:cNvPr id="26" name="Diff 4 badge icon" descr="badge icon">    </p:cNvPr>
          <p:cNvPicPr>
            <a:picLocks noChangeAspect="1"/>
          </p:cNvPicPr>
          <p:nvPr/>
        </p:nvPicPr>
        <p:blipFill>
          <a:blip r:embed="rId4"/>
          <a:stretch>
            <a:fillRect/>
          </a:stretch>
        </p:blipFill>
        <p:spPr>
          <a:xfrm>
            <a:off x="6861658" y="4539082"/>
            <a:ext cx="175565" cy="175565"/>
          </a:xfrm>
          <a:prstGeom prst="rect">
            <a:avLst/>
          </a:prstGeom>
        </p:spPr>
      </p:pic>
      <p:sp>
        <p:nvSpPr>
          <p:cNvPr id="27" name="Diff 4"/>
          <p:cNvSpPr txBox="1"/>
          <p:nvPr/>
        </p:nvSpPr>
        <p:spPr>
          <a:xfrm>
            <a:off x="7269480" y="4407408"/>
            <a:ext cx="4297680" cy="548640"/>
          </a:xfrm>
          <a:prstGeom prst="rect">
            <a:avLst/>
          </a:prstGeom>
          <a:noFill/>
          <a:ln/>
        </p:spPr>
        <p:txBody>
          <a:bodyPr wrap="square" lIns="0" tIns="0" rIns="0" bIns="0" rtlCol="0" anchor="t"/>
          <a:lstStyle/>
          <a:p>
            <a:pPr algn="l" indent="0" marL="0">
              <a:lnSpc>
                <a:spcPct val="98000"/>
              </a:lnSpc>
              <a:buNone/>
            </a:pPr>
            <a:r>
              <a:rPr lang="en-US" sz="1600" b="1" dirty="0">
                <a:solidFill>
                  <a:schemeClr val="tx1"/>
                </a:solidFill>
              </a:rPr>
              <a:t>Seller accessibility</a:t>
            </a:r>
            <a:endParaRPr lang="en-US" sz="1600" dirty="0"/>
          </a:p>
          <a:p>
            <a:pPr algn="l" indent="0" marL="0">
              <a:lnSpc>
                <a:spcPct val="98000"/>
              </a:lnSpc>
              <a:buNone/>
            </a:pPr>
            <a:r>
              <a:rPr lang="en-US" sz="1400" dirty="0">
                <a:solidFill>
                  <a:srgbClr val="4A6B5A"/>
                </a:solidFill>
              </a:rPr>
              <a:t>Stores apply themselves and sign in with a PIN.</a:t>
            </a:r>
            <a:endParaRPr lang="en-US" sz="1600" dirty="0"/>
          </a:p>
        </p:txBody>
      </p:sp>
      <p:sp>
        <p:nvSpPr>
          <p:cNvPr id="28" name="Diff 5 badge disc"/>
          <p:cNvSpPr/>
          <p:nvPr/>
        </p:nvSpPr>
        <p:spPr>
          <a:xfrm>
            <a:off x="6766560" y="5029200"/>
            <a:ext cx="365760" cy="365760"/>
          </a:xfrm>
          <a:prstGeom prst="ellipse">
            <a:avLst/>
          </a:prstGeom>
          <a:solidFill>
            <a:schemeClr val="accent1"/>
          </a:solidFill>
          <a:ln/>
        </p:spPr>
      </p:sp>
      <p:pic>
        <p:nvPicPr>
          <p:cNvPr id="29" name="Diff 5 badge icon" descr="message icon">    </p:cNvPr>
          <p:cNvPicPr>
            <a:picLocks noChangeAspect="1"/>
          </p:cNvPicPr>
          <p:nvPr/>
        </p:nvPicPr>
        <p:blipFill>
          <a:blip r:embed="rId5"/>
          <a:stretch>
            <a:fillRect/>
          </a:stretch>
        </p:blipFill>
        <p:spPr>
          <a:xfrm>
            <a:off x="6861658" y="5124298"/>
            <a:ext cx="175565" cy="175565"/>
          </a:xfrm>
          <a:prstGeom prst="rect">
            <a:avLst/>
          </a:prstGeom>
        </p:spPr>
      </p:pic>
      <p:sp>
        <p:nvSpPr>
          <p:cNvPr id="30" name="Diff 5"/>
          <p:cNvSpPr txBox="1"/>
          <p:nvPr/>
        </p:nvSpPr>
        <p:spPr>
          <a:xfrm>
            <a:off x="7269480" y="4992624"/>
            <a:ext cx="4297680" cy="548640"/>
          </a:xfrm>
          <a:prstGeom prst="rect">
            <a:avLst/>
          </a:prstGeom>
          <a:noFill/>
          <a:ln/>
        </p:spPr>
        <p:txBody>
          <a:bodyPr wrap="square" lIns="0" tIns="0" rIns="0" bIns="0" rtlCol="0" anchor="t"/>
          <a:lstStyle/>
          <a:p>
            <a:pPr algn="l" indent="0" marL="0">
              <a:lnSpc>
                <a:spcPct val="98000"/>
              </a:lnSpc>
              <a:buNone/>
            </a:pPr>
            <a:r>
              <a:rPr lang="en-US" sz="1600" b="1" dirty="0">
                <a:solidFill>
                  <a:schemeClr val="tx1"/>
                </a:solidFill>
              </a:rPr>
              <a:t>Ordering convenience</a:t>
            </a:r>
            <a:endParaRPr lang="en-US" sz="1600" dirty="0"/>
          </a:p>
          <a:p>
            <a:pPr algn="l" indent="0" marL="0">
              <a:lnSpc>
                <a:spcPct val="98000"/>
              </a:lnSpc>
              <a:buNone/>
            </a:pPr>
            <a:r>
              <a:rPr lang="en-US" sz="1400" dirty="0">
                <a:solidFill>
                  <a:srgbClr val="4A6B5A"/>
                </a:solidFill>
              </a:rPr>
              <a:t>Menus, status and chat in one place.</a:t>
            </a:r>
            <a:endParaRPr lang="en-US" sz="1600" dirty="0"/>
          </a:p>
        </p:txBody>
      </p:sp>
      <p:sp>
        <p:nvSpPr>
          <p:cNvPr id="31" name="Must prove"/>
          <p:cNvSpPr/>
          <p:nvPr/>
        </p:nvSpPr>
        <p:spPr>
          <a:xfrm>
            <a:off x="6766560" y="5650992"/>
            <a:ext cx="4754880" cy="566928"/>
          </a:xfrm>
          <a:prstGeom prst="roundRect">
            <a:avLst>
              <a:gd name="adj" fmla="val 16129"/>
            </a:avLst>
          </a:prstGeom>
          <a:solidFill>
            <a:schemeClr val="accent3">
              <a:alpha val="18000"/>
            </a:schemeClr>
          </a:solidFill>
          <a:ln w="12700">
            <a:solidFill>
              <a:schemeClr val="accent3"/>
            </a:solidFill>
          </a:ln>
        </p:spPr>
        <p:txBody>
          <a:bodyPr wrap="square" lIns="128016" tIns="128016" rIns="128016" bIns="128016" rtlCol="0" anchor="ctr"/>
          <a:lstStyle/>
          <a:p>
            <a:pPr algn="l" indent="0" marL="0">
              <a:lnSpc>
                <a:spcPct val="100000"/>
              </a:lnSpc>
              <a:buNone/>
            </a:pPr>
            <a:r>
              <a:rPr lang="en-US" sz="1500" b="1" dirty="0">
                <a:solidFill>
                  <a:schemeClr val="tx1"/>
                </a:solidFill>
              </a:rPr>
              <a:t>Still to prove: that the difference is big enough to win repeat orders and keep sellers.</a:t>
            </a:r>
            <a:endParaRPr lang="en-US" sz="1500" dirty="0"/>
          </a:p>
        </p:txBody>
      </p:sp>
      <p:sp>
        <p:nvSpPr>
          <p:cNvPr id="32" name="Footnote"/>
          <p:cNvSpPr txBox="1"/>
          <p:nvPr/>
        </p:nvSpPr>
        <p:spPr>
          <a:xfrm>
            <a:off x="1115568" y="6382512"/>
            <a:ext cx="8229600" cy="274320"/>
          </a:xfrm>
          <a:prstGeom prst="rect">
            <a:avLst/>
          </a:prstGeom>
          <a:noFill/>
          <a:ln/>
        </p:spPr>
        <p:txBody>
          <a:bodyPr wrap="square" lIns="0" tIns="0" rIns="0" bIns="0" rtlCol="0" anchor="ctr"/>
          <a:lstStyle/>
          <a:p>
            <a:pPr algn="l" indent="0" marL="0">
              <a:buNone/>
            </a:pPr>
            <a:r>
              <a:rPr lang="en-US" sz="1200" dirty="0">
                <a:solidFill>
                  <a:srgbClr val="4A6B5A"/>
                </a:solidFill>
              </a:rPr>
              <a:t>A qualitative map. No advantage is claimed and no competitor pricing or features are quoted.</a:t>
            </a:r>
            <a:endParaRPr lang="en-US" sz="1200" dirty="0"/>
          </a:p>
        </p:txBody>
      </p:sp>
      <p:sp>
        <p:nvSpPr>
          <p:cNvPr id="33" name="Slide Number Placeholder 0"/>
          <p:cNvSpPr>
            <a:spLocks noGrp="1"/>
          </p:cNvSpPr>
          <p:nvPr>
            <p:ph type="sldNum" sz="quarter" idx="4294967295"/>
          </p:nvPr>
        </p:nvSpPr>
        <p:spPr>
          <a:xfrm>
            <a:off x="10957560" y="6373368"/>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accent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3"/>
                                        </p:tgtEl>
                                        <p:attrNameLst>
                                          <p:attrName>style.visibility</p:attrName>
                                        </p:attrNameLst>
                                      </p:cBhvr>
                                      <p:to>
                                        <p:strVal val="visible"/>
                                      </p:to>
                                    </p:set>
                                    <p:anim calcmode="lin" valueType="num">
                                      <p:cBhvr>
                                        <p:cTn id="10" dur="550" fill="hold"/>
                                        <p:tgtEl>
                                          <p:spTgt spid="3"/>
                                        </p:tgtEl>
                                        <p:attrNameLst>
                                          <p:attrName>ppt_y</p:attrName>
                                        </p:attrNameLst>
                                      </p:cBhvr>
                                      <p:tavLst>
                                        <p:tav tm="0">
                                          <p:val>
                                            <p:strVal val="#ppt_y+.05"/>
                                          </p:val>
                                        </p:tav>
                                        <p:tav tm="100000">
                                          <p:val>
                                            <p:strVal val="#ppt_y"/>
                                          </p:val>
                                        </p:tav>
                                      </p:tavLst>
                                    </p:anim>
                                    <p:animEffect transition="in" filter="fade">
                                      <p:cBhvr>
                                        <p:cTn id="11" dur="550"/>
                                        <p:tgtEl>
                                          <p:spTgt spid="3"/>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15" presetID="10" presetClass="entr" presetSubtype="0" fill="hold" grpId="0" nodeType="withEffect">
                                  <p:stCondLst>
                                    <p:cond delay="50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10" presetClass="entr" presetSubtype="0" fill="hold" grpId="0" nodeType="withEffect">
                                  <p:stCondLst>
                                    <p:cond delay="50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par>
                                <p:cTn id="27" presetID="10" presetClass="entr" presetSubtype="0" fill="hold" grpId="0" nodeType="withEffect">
                                  <p:stCondLst>
                                    <p:cond delay="50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par>
                                <p:cTn id="30" presetID="10" presetClass="entr" presetSubtype="0" fill="hold" grpId="0" nodeType="withEffect">
                                  <p:stCondLst>
                                    <p:cond delay="50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7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42" presetClass="entr" presetSubtype="0" fill="hold" grpId="0" nodeType="withEffect">
                                  <p:stCondLst>
                                    <p:cond delay="900"/>
                                  </p:stCondLst>
                                  <p:childTnLst>
                                    <p:set>
                                      <p:cBhvr>
                                        <p:cTn id="37" dur="1" fill="hold">
                                          <p:stCondLst>
                                            <p:cond delay="0"/>
                                          </p:stCondLst>
                                        </p:cTn>
                                        <p:tgtEl>
                                          <p:spTgt spid="16"/>
                                        </p:tgtEl>
                                        <p:attrNameLst>
                                          <p:attrName>style.visibility</p:attrName>
                                        </p:attrNameLst>
                                      </p:cBhvr>
                                      <p:to>
                                        <p:strVal val="visible"/>
                                      </p:to>
                                    </p:set>
                                    <p:anim calcmode="lin" valueType="num">
                                      <p:cBhvr>
                                        <p:cTn id="38" dur="550" fill="hold"/>
                                        <p:tgtEl>
                                          <p:spTgt spid="16"/>
                                        </p:tgtEl>
                                        <p:attrNameLst>
                                          <p:attrName>ppt_y</p:attrName>
                                        </p:attrNameLst>
                                      </p:cBhvr>
                                      <p:tavLst>
                                        <p:tav tm="0">
                                          <p:val>
                                            <p:strVal val="#ppt_y+.05"/>
                                          </p:val>
                                        </p:tav>
                                        <p:tav tm="100000">
                                          <p:val>
                                            <p:strVal val="#ppt_y"/>
                                          </p:val>
                                        </p:tav>
                                      </p:tavLst>
                                    </p:anim>
                                    <p:animEffect transition="in" filter="fade">
                                      <p:cBhvr>
                                        <p:cTn id="39" dur="550"/>
                                        <p:tgtEl>
                                          <p:spTgt spid="16"/>
                                        </p:tgtEl>
                                      </p:cBhvr>
                                    </p:animEffect>
                                  </p:childTnLst>
                                </p:cTn>
                              </p:par>
                              <p:par>
                                <p:cTn id="40" presetID="42" presetClass="entr" presetSubtype="0" fill="hold" nodeType="withEffect">
                                  <p:stCondLst>
                                    <p:cond delay="900"/>
                                  </p:stCondLst>
                                  <p:childTnLst>
                                    <p:set>
                                      <p:cBhvr>
                                        <p:cTn id="41" dur="1" fill="hold">
                                          <p:stCondLst>
                                            <p:cond delay="0"/>
                                          </p:stCondLst>
                                        </p:cTn>
                                        <p:tgtEl>
                                          <p:spTgt spid="17"/>
                                        </p:tgtEl>
                                        <p:attrNameLst>
                                          <p:attrName>style.visibility</p:attrName>
                                        </p:attrNameLst>
                                      </p:cBhvr>
                                      <p:to>
                                        <p:strVal val="visible"/>
                                      </p:to>
                                    </p:set>
                                    <p:anim calcmode="lin" valueType="num">
                                      <p:cBhvr>
                                        <p:cTn id="42" dur="550" fill="hold"/>
                                        <p:tgtEl>
                                          <p:spTgt spid="17"/>
                                        </p:tgtEl>
                                        <p:attrNameLst>
                                          <p:attrName>ppt_y</p:attrName>
                                        </p:attrNameLst>
                                      </p:cBhvr>
                                      <p:tavLst>
                                        <p:tav tm="0">
                                          <p:val>
                                            <p:strVal val="#ppt_y+.05"/>
                                          </p:val>
                                        </p:tav>
                                        <p:tav tm="100000">
                                          <p:val>
                                            <p:strVal val="#ppt_y"/>
                                          </p:val>
                                        </p:tav>
                                      </p:tavLst>
                                    </p:anim>
                                    <p:animEffect transition="in" filter="fade">
                                      <p:cBhvr>
                                        <p:cTn id="43" dur="550"/>
                                        <p:tgtEl>
                                          <p:spTgt spid="17"/>
                                        </p:tgtEl>
                                      </p:cBhvr>
                                    </p:animEffect>
                                  </p:childTnLst>
                                </p:cTn>
                              </p:par>
                              <p:par>
                                <p:cTn id="44" presetID="42" presetClass="entr" presetSubtype="0" fill="hold" grpId="0" nodeType="withEffect">
                                  <p:stCondLst>
                                    <p:cond delay="900"/>
                                  </p:stCondLst>
                                  <p:childTnLst>
                                    <p:set>
                                      <p:cBhvr>
                                        <p:cTn id="45" dur="1" fill="hold">
                                          <p:stCondLst>
                                            <p:cond delay="0"/>
                                          </p:stCondLst>
                                        </p:cTn>
                                        <p:tgtEl>
                                          <p:spTgt spid="18"/>
                                        </p:tgtEl>
                                        <p:attrNameLst>
                                          <p:attrName>style.visibility</p:attrName>
                                        </p:attrNameLst>
                                      </p:cBhvr>
                                      <p:to>
                                        <p:strVal val="visible"/>
                                      </p:to>
                                    </p:set>
                                    <p:anim calcmode="lin" valueType="num">
                                      <p:cBhvr>
                                        <p:cTn id="46" dur="550" fill="hold"/>
                                        <p:tgtEl>
                                          <p:spTgt spid="18"/>
                                        </p:tgtEl>
                                        <p:attrNameLst>
                                          <p:attrName>ppt_y</p:attrName>
                                        </p:attrNameLst>
                                      </p:cBhvr>
                                      <p:tavLst>
                                        <p:tav tm="0">
                                          <p:val>
                                            <p:strVal val="#ppt_y+.05"/>
                                          </p:val>
                                        </p:tav>
                                        <p:tav tm="100000">
                                          <p:val>
                                            <p:strVal val="#ppt_y"/>
                                          </p:val>
                                        </p:tav>
                                      </p:tavLst>
                                    </p:anim>
                                    <p:animEffect transition="in" filter="fade">
                                      <p:cBhvr>
                                        <p:cTn id="47" dur="550"/>
                                        <p:tgtEl>
                                          <p:spTgt spid="18"/>
                                        </p:tgtEl>
                                      </p:cBhvr>
                                    </p:animEffect>
                                  </p:childTnLst>
                                </p:cTn>
                              </p:par>
                              <p:par>
                                <p:cTn id="48" presetID="42" presetClass="entr" presetSubtype="0" fill="hold" grpId="0" nodeType="withEffect">
                                  <p:stCondLst>
                                    <p:cond delay="900"/>
                                  </p:stCondLst>
                                  <p:childTnLst>
                                    <p:set>
                                      <p:cBhvr>
                                        <p:cTn id="49" dur="1" fill="hold">
                                          <p:stCondLst>
                                            <p:cond delay="0"/>
                                          </p:stCondLst>
                                        </p:cTn>
                                        <p:tgtEl>
                                          <p:spTgt spid="11"/>
                                        </p:tgtEl>
                                        <p:attrNameLst>
                                          <p:attrName>style.visibility</p:attrName>
                                        </p:attrNameLst>
                                      </p:cBhvr>
                                      <p:to>
                                        <p:strVal val="visible"/>
                                      </p:to>
                                    </p:set>
                                    <p:anim calcmode="lin" valueType="num">
                                      <p:cBhvr>
                                        <p:cTn id="50" dur="550" fill="hold"/>
                                        <p:tgtEl>
                                          <p:spTgt spid="11"/>
                                        </p:tgtEl>
                                        <p:attrNameLst>
                                          <p:attrName>ppt_y</p:attrName>
                                        </p:attrNameLst>
                                      </p:cBhvr>
                                      <p:tavLst>
                                        <p:tav tm="0">
                                          <p:val>
                                            <p:strVal val="#ppt_y+.05"/>
                                          </p:val>
                                        </p:tav>
                                        <p:tav tm="100000">
                                          <p:val>
                                            <p:strVal val="#ppt_y"/>
                                          </p:val>
                                        </p:tav>
                                      </p:tavLst>
                                    </p:anim>
                                    <p:animEffect transition="in" filter="fade">
                                      <p:cBhvr>
                                        <p:cTn id="51" dur="550"/>
                                        <p:tgtEl>
                                          <p:spTgt spid="11"/>
                                        </p:tgtEl>
                                      </p:cBhvr>
                                    </p:animEffect>
                                  </p:childTnLst>
                                </p:cTn>
                              </p:par>
                              <p:par>
                                <p:cTn id="52" presetID="42" presetClass="entr" presetSubtype="0" fill="hold" grpId="0" nodeType="withEffect">
                                  <p:stCondLst>
                                    <p:cond delay="1100"/>
                                  </p:stCondLst>
                                  <p:childTnLst>
                                    <p:set>
                                      <p:cBhvr>
                                        <p:cTn id="53" dur="1" fill="hold">
                                          <p:stCondLst>
                                            <p:cond delay="0"/>
                                          </p:stCondLst>
                                        </p:cTn>
                                        <p:tgtEl>
                                          <p:spTgt spid="19"/>
                                        </p:tgtEl>
                                        <p:attrNameLst>
                                          <p:attrName>style.visibility</p:attrName>
                                        </p:attrNameLst>
                                      </p:cBhvr>
                                      <p:to>
                                        <p:strVal val="visible"/>
                                      </p:to>
                                    </p:set>
                                    <p:anim calcmode="lin" valueType="num">
                                      <p:cBhvr>
                                        <p:cTn id="54" dur="550" fill="hold"/>
                                        <p:tgtEl>
                                          <p:spTgt spid="19"/>
                                        </p:tgtEl>
                                        <p:attrNameLst>
                                          <p:attrName>ppt_y</p:attrName>
                                        </p:attrNameLst>
                                      </p:cBhvr>
                                      <p:tavLst>
                                        <p:tav tm="0">
                                          <p:val>
                                            <p:strVal val="#ppt_y+.05"/>
                                          </p:val>
                                        </p:tav>
                                        <p:tav tm="100000">
                                          <p:val>
                                            <p:strVal val="#ppt_y"/>
                                          </p:val>
                                        </p:tav>
                                      </p:tavLst>
                                    </p:anim>
                                    <p:animEffect transition="in" filter="fade">
                                      <p:cBhvr>
                                        <p:cTn id="55" dur="550"/>
                                        <p:tgtEl>
                                          <p:spTgt spid="19"/>
                                        </p:tgtEl>
                                      </p:cBhvr>
                                    </p:animEffect>
                                  </p:childTnLst>
                                </p:cTn>
                              </p:par>
                              <p:par>
                                <p:cTn id="56" presetID="42" presetClass="entr" presetSubtype="0" fill="hold" nodeType="withEffect">
                                  <p:stCondLst>
                                    <p:cond delay="1100"/>
                                  </p:stCondLst>
                                  <p:childTnLst>
                                    <p:set>
                                      <p:cBhvr>
                                        <p:cTn id="57" dur="1" fill="hold">
                                          <p:stCondLst>
                                            <p:cond delay="0"/>
                                          </p:stCondLst>
                                        </p:cTn>
                                        <p:tgtEl>
                                          <p:spTgt spid="20"/>
                                        </p:tgtEl>
                                        <p:attrNameLst>
                                          <p:attrName>style.visibility</p:attrName>
                                        </p:attrNameLst>
                                      </p:cBhvr>
                                      <p:to>
                                        <p:strVal val="visible"/>
                                      </p:to>
                                    </p:set>
                                    <p:anim calcmode="lin" valueType="num">
                                      <p:cBhvr>
                                        <p:cTn id="58" dur="550" fill="hold"/>
                                        <p:tgtEl>
                                          <p:spTgt spid="20"/>
                                        </p:tgtEl>
                                        <p:attrNameLst>
                                          <p:attrName>ppt_y</p:attrName>
                                        </p:attrNameLst>
                                      </p:cBhvr>
                                      <p:tavLst>
                                        <p:tav tm="0">
                                          <p:val>
                                            <p:strVal val="#ppt_y+.05"/>
                                          </p:val>
                                        </p:tav>
                                        <p:tav tm="100000">
                                          <p:val>
                                            <p:strVal val="#ppt_y"/>
                                          </p:val>
                                        </p:tav>
                                      </p:tavLst>
                                    </p:anim>
                                    <p:animEffect transition="in" filter="fade">
                                      <p:cBhvr>
                                        <p:cTn id="59" dur="550"/>
                                        <p:tgtEl>
                                          <p:spTgt spid="20"/>
                                        </p:tgtEl>
                                      </p:cBhvr>
                                    </p:animEffect>
                                  </p:childTnLst>
                                </p:cTn>
                              </p:par>
                              <p:par>
                                <p:cTn id="60" presetID="42" presetClass="entr" presetSubtype="0" fill="hold" grpId="0" nodeType="withEffect">
                                  <p:stCondLst>
                                    <p:cond delay="1100"/>
                                  </p:stCondLst>
                                  <p:childTnLst>
                                    <p:set>
                                      <p:cBhvr>
                                        <p:cTn id="61" dur="1" fill="hold">
                                          <p:stCondLst>
                                            <p:cond delay="0"/>
                                          </p:stCondLst>
                                        </p:cTn>
                                        <p:tgtEl>
                                          <p:spTgt spid="21"/>
                                        </p:tgtEl>
                                        <p:attrNameLst>
                                          <p:attrName>style.visibility</p:attrName>
                                        </p:attrNameLst>
                                      </p:cBhvr>
                                      <p:to>
                                        <p:strVal val="visible"/>
                                      </p:to>
                                    </p:set>
                                    <p:anim calcmode="lin" valueType="num">
                                      <p:cBhvr>
                                        <p:cTn id="62" dur="550" fill="hold"/>
                                        <p:tgtEl>
                                          <p:spTgt spid="21"/>
                                        </p:tgtEl>
                                        <p:attrNameLst>
                                          <p:attrName>ppt_y</p:attrName>
                                        </p:attrNameLst>
                                      </p:cBhvr>
                                      <p:tavLst>
                                        <p:tav tm="0">
                                          <p:val>
                                            <p:strVal val="#ppt_y+.05"/>
                                          </p:val>
                                        </p:tav>
                                        <p:tav tm="100000">
                                          <p:val>
                                            <p:strVal val="#ppt_y"/>
                                          </p:val>
                                        </p:tav>
                                      </p:tavLst>
                                    </p:anim>
                                    <p:animEffect transition="in" filter="fade">
                                      <p:cBhvr>
                                        <p:cTn id="63" dur="550"/>
                                        <p:tgtEl>
                                          <p:spTgt spid="21"/>
                                        </p:tgtEl>
                                      </p:cBhvr>
                                    </p:animEffect>
                                  </p:childTnLst>
                                </p:cTn>
                              </p:par>
                              <p:par>
                                <p:cTn id="64" presetID="42" presetClass="entr" presetSubtype="0" fill="hold" grpId="0" nodeType="withEffect">
                                  <p:stCondLst>
                                    <p:cond delay="1150"/>
                                  </p:stCondLst>
                                  <p:childTnLst>
                                    <p:set>
                                      <p:cBhvr>
                                        <p:cTn id="65" dur="1" fill="hold">
                                          <p:stCondLst>
                                            <p:cond delay="0"/>
                                          </p:stCondLst>
                                        </p:cTn>
                                        <p:tgtEl>
                                          <p:spTgt spid="12"/>
                                        </p:tgtEl>
                                        <p:attrNameLst>
                                          <p:attrName>style.visibility</p:attrName>
                                        </p:attrNameLst>
                                      </p:cBhvr>
                                      <p:to>
                                        <p:strVal val="visible"/>
                                      </p:to>
                                    </p:set>
                                    <p:anim calcmode="lin" valueType="num">
                                      <p:cBhvr>
                                        <p:cTn id="66" dur="550" fill="hold"/>
                                        <p:tgtEl>
                                          <p:spTgt spid="12"/>
                                        </p:tgtEl>
                                        <p:attrNameLst>
                                          <p:attrName>ppt_y</p:attrName>
                                        </p:attrNameLst>
                                      </p:cBhvr>
                                      <p:tavLst>
                                        <p:tav tm="0">
                                          <p:val>
                                            <p:strVal val="#ppt_y+.05"/>
                                          </p:val>
                                        </p:tav>
                                        <p:tav tm="100000">
                                          <p:val>
                                            <p:strVal val="#ppt_y"/>
                                          </p:val>
                                        </p:tav>
                                      </p:tavLst>
                                    </p:anim>
                                    <p:animEffect transition="in" filter="fade">
                                      <p:cBhvr>
                                        <p:cTn id="67" dur="550"/>
                                        <p:tgtEl>
                                          <p:spTgt spid="12"/>
                                        </p:tgtEl>
                                      </p:cBhvr>
                                    </p:animEffect>
                                  </p:childTnLst>
                                </p:cTn>
                              </p:par>
                              <p:par>
                                <p:cTn id="68" presetID="42" presetClass="entr" presetSubtype="0" fill="hold" grpId="0" nodeType="withEffect">
                                  <p:stCondLst>
                                    <p:cond delay="1300"/>
                                  </p:stCondLst>
                                  <p:childTnLst>
                                    <p:set>
                                      <p:cBhvr>
                                        <p:cTn id="69" dur="1" fill="hold">
                                          <p:stCondLst>
                                            <p:cond delay="0"/>
                                          </p:stCondLst>
                                        </p:cTn>
                                        <p:tgtEl>
                                          <p:spTgt spid="22"/>
                                        </p:tgtEl>
                                        <p:attrNameLst>
                                          <p:attrName>style.visibility</p:attrName>
                                        </p:attrNameLst>
                                      </p:cBhvr>
                                      <p:to>
                                        <p:strVal val="visible"/>
                                      </p:to>
                                    </p:set>
                                    <p:anim calcmode="lin" valueType="num">
                                      <p:cBhvr>
                                        <p:cTn id="70" dur="550" fill="hold"/>
                                        <p:tgtEl>
                                          <p:spTgt spid="22"/>
                                        </p:tgtEl>
                                        <p:attrNameLst>
                                          <p:attrName>ppt_y</p:attrName>
                                        </p:attrNameLst>
                                      </p:cBhvr>
                                      <p:tavLst>
                                        <p:tav tm="0">
                                          <p:val>
                                            <p:strVal val="#ppt_y+.05"/>
                                          </p:val>
                                        </p:tav>
                                        <p:tav tm="100000">
                                          <p:val>
                                            <p:strVal val="#ppt_y"/>
                                          </p:val>
                                        </p:tav>
                                      </p:tavLst>
                                    </p:anim>
                                    <p:animEffect transition="in" filter="fade">
                                      <p:cBhvr>
                                        <p:cTn id="71" dur="550"/>
                                        <p:tgtEl>
                                          <p:spTgt spid="22"/>
                                        </p:tgtEl>
                                      </p:cBhvr>
                                    </p:animEffect>
                                  </p:childTnLst>
                                </p:cTn>
                              </p:par>
                              <p:par>
                                <p:cTn id="72" presetID="42" presetClass="entr" presetSubtype="0" fill="hold" nodeType="withEffect">
                                  <p:stCondLst>
                                    <p:cond delay="1300"/>
                                  </p:stCondLst>
                                  <p:childTnLst>
                                    <p:set>
                                      <p:cBhvr>
                                        <p:cTn id="73" dur="1" fill="hold">
                                          <p:stCondLst>
                                            <p:cond delay="0"/>
                                          </p:stCondLst>
                                        </p:cTn>
                                        <p:tgtEl>
                                          <p:spTgt spid="23"/>
                                        </p:tgtEl>
                                        <p:attrNameLst>
                                          <p:attrName>style.visibility</p:attrName>
                                        </p:attrNameLst>
                                      </p:cBhvr>
                                      <p:to>
                                        <p:strVal val="visible"/>
                                      </p:to>
                                    </p:set>
                                    <p:anim calcmode="lin" valueType="num">
                                      <p:cBhvr>
                                        <p:cTn id="74" dur="550" fill="hold"/>
                                        <p:tgtEl>
                                          <p:spTgt spid="23"/>
                                        </p:tgtEl>
                                        <p:attrNameLst>
                                          <p:attrName>ppt_y</p:attrName>
                                        </p:attrNameLst>
                                      </p:cBhvr>
                                      <p:tavLst>
                                        <p:tav tm="0">
                                          <p:val>
                                            <p:strVal val="#ppt_y+.05"/>
                                          </p:val>
                                        </p:tav>
                                        <p:tav tm="100000">
                                          <p:val>
                                            <p:strVal val="#ppt_y"/>
                                          </p:val>
                                        </p:tav>
                                      </p:tavLst>
                                    </p:anim>
                                    <p:animEffect transition="in" filter="fade">
                                      <p:cBhvr>
                                        <p:cTn id="75" dur="550"/>
                                        <p:tgtEl>
                                          <p:spTgt spid="23"/>
                                        </p:tgtEl>
                                      </p:cBhvr>
                                    </p:animEffect>
                                  </p:childTnLst>
                                </p:cTn>
                              </p:par>
                              <p:par>
                                <p:cTn id="76" presetID="42" presetClass="entr" presetSubtype="0" fill="hold" grpId="0" nodeType="withEffect">
                                  <p:stCondLst>
                                    <p:cond delay="1300"/>
                                  </p:stCondLst>
                                  <p:childTnLst>
                                    <p:set>
                                      <p:cBhvr>
                                        <p:cTn id="77" dur="1" fill="hold">
                                          <p:stCondLst>
                                            <p:cond delay="0"/>
                                          </p:stCondLst>
                                        </p:cTn>
                                        <p:tgtEl>
                                          <p:spTgt spid="24"/>
                                        </p:tgtEl>
                                        <p:attrNameLst>
                                          <p:attrName>style.visibility</p:attrName>
                                        </p:attrNameLst>
                                      </p:cBhvr>
                                      <p:to>
                                        <p:strVal val="visible"/>
                                      </p:to>
                                    </p:set>
                                    <p:anim calcmode="lin" valueType="num">
                                      <p:cBhvr>
                                        <p:cTn id="78" dur="550" fill="hold"/>
                                        <p:tgtEl>
                                          <p:spTgt spid="24"/>
                                        </p:tgtEl>
                                        <p:attrNameLst>
                                          <p:attrName>ppt_y</p:attrName>
                                        </p:attrNameLst>
                                      </p:cBhvr>
                                      <p:tavLst>
                                        <p:tav tm="0">
                                          <p:val>
                                            <p:strVal val="#ppt_y+.05"/>
                                          </p:val>
                                        </p:tav>
                                        <p:tav tm="100000">
                                          <p:val>
                                            <p:strVal val="#ppt_y"/>
                                          </p:val>
                                        </p:tav>
                                      </p:tavLst>
                                    </p:anim>
                                    <p:animEffect transition="in" filter="fade">
                                      <p:cBhvr>
                                        <p:cTn id="79" dur="550"/>
                                        <p:tgtEl>
                                          <p:spTgt spid="24"/>
                                        </p:tgtEl>
                                      </p:cBhvr>
                                    </p:animEffect>
                                  </p:childTnLst>
                                </p:cTn>
                              </p:par>
                              <p:par>
                                <p:cTn id="80" presetID="42" presetClass="entr" presetSubtype="0" fill="hold" grpId="0" nodeType="withEffect">
                                  <p:stCondLst>
                                    <p:cond delay="1500"/>
                                  </p:stCondLst>
                                  <p:childTnLst>
                                    <p:set>
                                      <p:cBhvr>
                                        <p:cTn id="81" dur="1" fill="hold">
                                          <p:stCondLst>
                                            <p:cond delay="0"/>
                                          </p:stCondLst>
                                        </p:cTn>
                                        <p:tgtEl>
                                          <p:spTgt spid="25"/>
                                        </p:tgtEl>
                                        <p:attrNameLst>
                                          <p:attrName>style.visibility</p:attrName>
                                        </p:attrNameLst>
                                      </p:cBhvr>
                                      <p:to>
                                        <p:strVal val="visible"/>
                                      </p:to>
                                    </p:set>
                                    <p:anim calcmode="lin" valueType="num">
                                      <p:cBhvr>
                                        <p:cTn id="82" dur="550" fill="hold"/>
                                        <p:tgtEl>
                                          <p:spTgt spid="25"/>
                                        </p:tgtEl>
                                        <p:attrNameLst>
                                          <p:attrName>ppt_y</p:attrName>
                                        </p:attrNameLst>
                                      </p:cBhvr>
                                      <p:tavLst>
                                        <p:tav tm="0">
                                          <p:val>
                                            <p:strVal val="#ppt_y+.05"/>
                                          </p:val>
                                        </p:tav>
                                        <p:tav tm="100000">
                                          <p:val>
                                            <p:strVal val="#ppt_y"/>
                                          </p:val>
                                        </p:tav>
                                      </p:tavLst>
                                    </p:anim>
                                    <p:animEffect transition="in" filter="fade">
                                      <p:cBhvr>
                                        <p:cTn id="83" dur="550"/>
                                        <p:tgtEl>
                                          <p:spTgt spid="25"/>
                                        </p:tgtEl>
                                      </p:cBhvr>
                                    </p:animEffect>
                                  </p:childTnLst>
                                </p:cTn>
                              </p:par>
                              <p:par>
                                <p:cTn id="84" presetID="42" presetClass="entr" presetSubtype="0" fill="hold" nodeType="withEffect">
                                  <p:stCondLst>
                                    <p:cond delay="1500"/>
                                  </p:stCondLst>
                                  <p:childTnLst>
                                    <p:set>
                                      <p:cBhvr>
                                        <p:cTn id="85" dur="1" fill="hold">
                                          <p:stCondLst>
                                            <p:cond delay="0"/>
                                          </p:stCondLst>
                                        </p:cTn>
                                        <p:tgtEl>
                                          <p:spTgt spid="26"/>
                                        </p:tgtEl>
                                        <p:attrNameLst>
                                          <p:attrName>style.visibility</p:attrName>
                                        </p:attrNameLst>
                                      </p:cBhvr>
                                      <p:to>
                                        <p:strVal val="visible"/>
                                      </p:to>
                                    </p:set>
                                    <p:anim calcmode="lin" valueType="num">
                                      <p:cBhvr>
                                        <p:cTn id="86" dur="550" fill="hold"/>
                                        <p:tgtEl>
                                          <p:spTgt spid="26"/>
                                        </p:tgtEl>
                                        <p:attrNameLst>
                                          <p:attrName>ppt_y</p:attrName>
                                        </p:attrNameLst>
                                      </p:cBhvr>
                                      <p:tavLst>
                                        <p:tav tm="0">
                                          <p:val>
                                            <p:strVal val="#ppt_y+.05"/>
                                          </p:val>
                                        </p:tav>
                                        <p:tav tm="100000">
                                          <p:val>
                                            <p:strVal val="#ppt_y"/>
                                          </p:val>
                                        </p:tav>
                                      </p:tavLst>
                                    </p:anim>
                                    <p:animEffect transition="in" filter="fade">
                                      <p:cBhvr>
                                        <p:cTn id="87" dur="550"/>
                                        <p:tgtEl>
                                          <p:spTgt spid="26"/>
                                        </p:tgtEl>
                                      </p:cBhvr>
                                    </p:animEffect>
                                  </p:childTnLst>
                                </p:cTn>
                              </p:par>
                              <p:par>
                                <p:cTn id="88" presetID="42" presetClass="entr" presetSubtype="0" fill="hold" grpId="0" nodeType="withEffect">
                                  <p:stCondLst>
                                    <p:cond delay="1500"/>
                                  </p:stCondLst>
                                  <p:childTnLst>
                                    <p:set>
                                      <p:cBhvr>
                                        <p:cTn id="89" dur="1" fill="hold">
                                          <p:stCondLst>
                                            <p:cond delay="0"/>
                                          </p:stCondLst>
                                        </p:cTn>
                                        <p:tgtEl>
                                          <p:spTgt spid="27"/>
                                        </p:tgtEl>
                                        <p:attrNameLst>
                                          <p:attrName>style.visibility</p:attrName>
                                        </p:attrNameLst>
                                      </p:cBhvr>
                                      <p:to>
                                        <p:strVal val="visible"/>
                                      </p:to>
                                    </p:set>
                                    <p:anim calcmode="lin" valueType="num">
                                      <p:cBhvr>
                                        <p:cTn id="90" dur="550" fill="hold"/>
                                        <p:tgtEl>
                                          <p:spTgt spid="27"/>
                                        </p:tgtEl>
                                        <p:attrNameLst>
                                          <p:attrName>ppt_y</p:attrName>
                                        </p:attrNameLst>
                                      </p:cBhvr>
                                      <p:tavLst>
                                        <p:tav tm="0">
                                          <p:val>
                                            <p:strVal val="#ppt_y+.05"/>
                                          </p:val>
                                        </p:tav>
                                        <p:tav tm="100000">
                                          <p:val>
                                            <p:strVal val="#ppt_y"/>
                                          </p:val>
                                        </p:tav>
                                      </p:tavLst>
                                    </p:anim>
                                    <p:animEffect transition="in" filter="fade">
                                      <p:cBhvr>
                                        <p:cTn id="91" dur="550"/>
                                        <p:tgtEl>
                                          <p:spTgt spid="27"/>
                                        </p:tgtEl>
                                      </p:cBhvr>
                                    </p:animEffect>
                                  </p:childTnLst>
                                </p:cTn>
                              </p:par>
                              <p:par>
                                <p:cTn id="92" presetID="42" presetClass="entr" presetSubtype="0" fill="hold" grpId="0" nodeType="withEffect">
                                  <p:stCondLst>
                                    <p:cond delay="1500"/>
                                  </p:stCondLst>
                                  <p:childTnLst>
                                    <p:set>
                                      <p:cBhvr>
                                        <p:cTn id="93" dur="1" fill="hold">
                                          <p:stCondLst>
                                            <p:cond delay="0"/>
                                          </p:stCondLst>
                                        </p:cTn>
                                        <p:tgtEl>
                                          <p:spTgt spid="13"/>
                                        </p:tgtEl>
                                        <p:attrNameLst>
                                          <p:attrName>style.visibility</p:attrName>
                                        </p:attrNameLst>
                                      </p:cBhvr>
                                      <p:to>
                                        <p:strVal val="visible"/>
                                      </p:to>
                                    </p:set>
                                    <p:anim calcmode="lin" valueType="num">
                                      <p:cBhvr>
                                        <p:cTn id="94" dur="550" fill="hold"/>
                                        <p:tgtEl>
                                          <p:spTgt spid="13"/>
                                        </p:tgtEl>
                                        <p:attrNameLst>
                                          <p:attrName>ppt_y</p:attrName>
                                        </p:attrNameLst>
                                      </p:cBhvr>
                                      <p:tavLst>
                                        <p:tav tm="0">
                                          <p:val>
                                            <p:strVal val="#ppt_y+.05"/>
                                          </p:val>
                                        </p:tav>
                                        <p:tav tm="100000">
                                          <p:val>
                                            <p:strVal val="#ppt_y"/>
                                          </p:val>
                                        </p:tav>
                                      </p:tavLst>
                                    </p:anim>
                                    <p:animEffect transition="in" filter="fade">
                                      <p:cBhvr>
                                        <p:cTn id="95" dur="550"/>
                                        <p:tgtEl>
                                          <p:spTgt spid="13"/>
                                        </p:tgtEl>
                                      </p:cBhvr>
                                    </p:animEffect>
                                  </p:childTnLst>
                                </p:cTn>
                              </p:par>
                              <p:par>
                                <p:cTn id="96" presetID="42" presetClass="entr" presetSubtype="0" fill="hold" grpId="0" nodeType="withEffect">
                                  <p:stCondLst>
                                    <p:cond delay="1500"/>
                                  </p:stCondLst>
                                  <p:childTnLst>
                                    <p:set>
                                      <p:cBhvr>
                                        <p:cTn id="97" dur="1" fill="hold">
                                          <p:stCondLst>
                                            <p:cond delay="0"/>
                                          </p:stCondLst>
                                        </p:cTn>
                                        <p:tgtEl>
                                          <p:spTgt spid="14"/>
                                        </p:tgtEl>
                                        <p:attrNameLst>
                                          <p:attrName>style.visibility</p:attrName>
                                        </p:attrNameLst>
                                      </p:cBhvr>
                                      <p:to>
                                        <p:strVal val="visible"/>
                                      </p:to>
                                    </p:set>
                                    <p:anim calcmode="lin" valueType="num">
                                      <p:cBhvr>
                                        <p:cTn id="98" dur="550" fill="hold"/>
                                        <p:tgtEl>
                                          <p:spTgt spid="14"/>
                                        </p:tgtEl>
                                        <p:attrNameLst>
                                          <p:attrName>ppt_y</p:attrName>
                                        </p:attrNameLst>
                                      </p:cBhvr>
                                      <p:tavLst>
                                        <p:tav tm="0">
                                          <p:val>
                                            <p:strVal val="#ppt_y+.05"/>
                                          </p:val>
                                        </p:tav>
                                        <p:tav tm="100000">
                                          <p:val>
                                            <p:strVal val="#ppt_y"/>
                                          </p:val>
                                        </p:tav>
                                      </p:tavLst>
                                    </p:anim>
                                    <p:animEffect transition="in" filter="fade">
                                      <p:cBhvr>
                                        <p:cTn id="99" dur="550"/>
                                        <p:tgtEl>
                                          <p:spTgt spid="14"/>
                                        </p:tgtEl>
                                      </p:cBhvr>
                                    </p:animEffect>
                                  </p:childTnLst>
                                </p:cTn>
                              </p:par>
                              <p:par>
                                <p:cTn id="100" presetID="42" presetClass="entr" presetSubtype="0" fill="hold" grpId="0" nodeType="withEffect">
                                  <p:stCondLst>
                                    <p:cond delay="1700"/>
                                  </p:stCondLst>
                                  <p:childTnLst>
                                    <p:set>
                                      <p:cBhvr>
                                        <p:cTn id="101" dur="1" fill="hold">
                                          <p:stCondLst>
                                            <p:cond delay="0"/>
                                          </p:stCondLst>
                                        </p:cTn>
                                        <p:tgtEl>
                                          <p:spTgt spid="28"/>
                                        </p:tgtEl>
                                        <p:attrNameLst>
                                          <p:attrName>style.visibility</p:attrName>
                                        </p:attrNameLst>
                                      </p:cBhvr>
                                      <p:to>
                                        <p:strVal val="visible"/>
                                      </p:to>
                                    </p:set>
                                    <p:anim calcmode="lin" valueType="num">
                                      <p:cBhvr>
                                        <p:cTn id="102" dur="550" fill="hold"/>
                                        <p:tgtEl>
                                          <p:spTgt spid="28"/>
                                        </p:tgtEl>
                                        <p:attrNameLst>
                                          <p:attrName>ppt_y</p:attrName>
                                        </p:attrNameLst>
                                      </p:cBhvr>
                                      <p:tavLst>
                                        <p:tav tm="0">
                                          <p:val>
                                            <p:strVal val="#ppt_y+.05"/>
                                          </p:val>
                                        </p:tav>
                                        <p:tav tm="100000">
                                          <p:val>
                                            <p:strVal val="#ppt_y"/>
                                          </p:val>
                                        </p:tav>
                                      </p:tavLst>
                                    </p:anim>
                                    <p:animEffect transition="in" filter="fade">
                                      <p:cBhvr>
                                        <p:cTn id="103" dur="550"/>
                                        <p:tgtEl>
                                          <p:spTgt spid="28"/>
                                        </p:tgtEl>
                                      </p:cBhvr>
                                    </p:animEffect>
                                  </p:childTnLst>
                                </p:cTn>
                              </p:par>
                              <p:par>
                                <p:cTn id="104" presetID="42" presetClass="entr" presetSubtype="0" fill="hold" nodeType="withEffect">
                                  <p:stCondLst>
                                    <p:cond delay="1700"/>
                                  </p:stCondLst>
                                  <p:childTnLst>
                                    <p:set>
                                      <p:cBhvr>
                                        <p:cTn id="105" dur="1" fill="hold">
                                          <p:stCondLst>
                                            <p:cond delay="0"/>
                                          </p:stCondLst>
                                        </p:cTn>
                                        <p:tgtEl>
                                          <p:spTgt spid="29"/>
                                        </p:tgtEl>
                                        <p:attrNameLst>
                                          <p:attrName>style.visibility</p:attrName>
                                        </p:attrNameLst>
                                      </p:cBhvr>
                                      <p:to>
                                        <p:strVal val="visible"/>
                                      </p:to>
                                    </p:set>
                                    <p:anim calcmode="lin" valueType="num">
                                      <p:cBhvr>
                                        <p:cTn id="106" dur="550" fill="hold"/>
                                        <p:tgtEl>
                                          <p:spTgt spid="29"/>
                                        </p:tgtEl>
                                        <p:attrNameLst>
                                          <p:attrName>ppt_y</p:attrName>
                                        </p:attrNameLst>
                                      </p:cBhvr>
                                      <p:tavLst>
                                        <p:tav tm="0">
                                          <p:val>
                                            <p:strVal val="#ppt_y+.05"/>
                                          </p:val>
                                        </p:tav>
                                        <p:tav tm="100000">
                                          <p:val>
                                            <p:strVal val="#ppt_y"/>
                                          </p:val>
                                        </p:tav>
                                      </p:tavLst>
                                    </p:anim>
                                    <p:animEffect transition="in" filter="fade">
                                      <p:cBhvr>
                                        <p:cTn id="107" dur="550"/>
                                        <p:tgtEl>
                                          <p:spTgt spid="29"/>
                                        </p:tgtEl>
                                      </p:cBhvr>
                                    </p:animEffect>
                                  </p:childTnLst>
                                </p:cTn>
                              </p:par>
                              <p:par>
                                <p:cTn id="108" presetID="42" presetClass="entr" presetSubtype="0" fill="hold" grpId="0" nodeType="withEffect">
                                  <p:stCondLst>
                                    <p:cond delay="1700"/>
                                  </p:stCondLst>
                                  <p:childTnLst>
                                    <p:set>
                                      <p:cBhvr>
                                        <p:cTn id="109" dur="1" fill="hold">
                                          <p:stCondLst>
                                            <p:cond delay="0"/>
                                          </p:stCondLst>
                                        </p:cTn>
                                        <p:tgtEl>
                                          <p:spTgt spid="30"/>
                                        </p:tgtEl>
                                        <p:attrNameLst>
                                          <p:attrName>style.visibility</p:attrName>
                                        </p:attrNameLst>
                                      </p:cBhvr>
                                      <p:to>
                                        <p:strVal val="visible"/>
                                      </p:to>
                                    </p:set>
                                    <p:anim calcmode="lin" valueType="num">
                                      <p:cBhvr>
                                        <p:cTn id="110" dur="550" fill="hold"/>
                                        <p:tgtEl>
                                          <p:spTgt spid="30"/>
                                        </p:tgtEl>
                                        <p:attrNameLst>
                                          <p:attrName>ppt_y</p:attrName>
                                        </p:attrNameLst>
                                      </p:cBhvr>
                                      <p:tavLst>
                                        <p:tav tm="0">
                                          <p:val>
                                            <p:strVal val="#ppt_y+.05"/>
                                          </p:val>
                                        </p:tav>
                                        <p:tav tm="100000">
                                          <p:val>
                                            <p:strVal val="#ppt_y"/>
                                          </p:val>
                                        </p:tav>
                                      </p:tavLst>
                                    </p:anim>
                                    <p:animEffect transition="in" filter="fade">
                                      <p:cBhvr>
                                        <p:cTn id="111" dur="550"/>
                                        <p:tgtEl>
                                          <p:spTgt spid="30"/>
                                        </p:tgtEl>
                                      </p:cBhvr>
                                    </p:animEffect>
                                  </p:childTnLst>
                                </p:cTn>
                              </p:par>
                              <p:par>
                                <p:cTn id="112" presetID="42" presetClass="entr" presetSubtype="0" fill="hold" grpId="0" nodeType="withEffect">
                                  <p:stCondLst>
                                    <p:cond delay="2100"/>
                                  </p:stCondLst>
                                  <p:childTnLst>
                                    <p:set>
                                      <p:cBhvr>
                                        <p:cTn id="113" dur="1" fill="hold">
                                          <p:stCondLst>
                                            <p:cond delay="0"/>
                                          </p:stCondLst>
                                        </p:cTn>
                                        <p:tgtEl>
                                          <p:spTgt spid="31"/>
                                        </p:tgtEl>
                                        <p:attrNameLst>
                                          <p:attrName>style.visibility</p:attrName>
                                        </p:attrNameLst>
                                      </p:cBhvr>
                                      <p:to>
                                        <p:strVal val="visible"/>
                                      </p:to>
                                    </p:set>
                                    <p:anim calcmode="lin" valueType="num">
                                      <p:cBhvr>
                                        <p:cTn id="114" dur="550" fill="hold"/>
                                        <p:tgtEl>
                                          <p:spTgt spid="31"/>
                                        </p:tgtEl>
                                        <p:attrNameLst>
                                          <p:attrName>ppt_y</p:attrName>
                                        </p:attrNameLst>
                                      </p:cBhvr>
                                      <p:tavLst>
                                        <p:tav tm="0">
                                          <p:val>
                                            <p:strVal val="#ppt_y+.05"/>
                                          </p:val>
                                        </p:tav>
                                        <p:tav tm="100000">
                                          <p:val>
                                            <p:strVal val="#ppt_y"/>
                                          </p:val>
                                        </p:tav>
                                      </p:tavLst>
                                    </p:anim>
                                    <p:animEffect transition="in" filter="fade">
                                      <p:cBhvr>
                                        <p:cTn id="115" dur="550"/>
                                        <p:tgtEl>
                                          <p:spTgt spid="31"/>
                                        </p:tgtEl>
                                      </p:cBhvr>
                                    </p:animEffect>
                                  </p:childTnLst>
                                </p:cTn>
                              </p:par>
                              <p:par>
                                <p:cTn id="116" presetID="10" presetClass="entr" presetSubtype="0" fill="hold" grpId="0" nodeType="withEffect">
                                  <p:stCondLst>
                                    <p:cond delay="2400"/>
                                  </p:stCondLst>
                                  <p:childTnLst>
                                    <p:set>
                                      <p:cBhvr>
                                        <p:cTn id="117" dur="1" fill="hold">
                                          <p:stCondLst>
                                            <p:cond delay="0"/>
                                          </p:stCondLst>
                                        </p:cTn>
                                        <p:tgtEl>
                                          <p:spTgt spid="32"/>
                                        </p:tgtEl>
                                        <p:attrNameLst>
                                          <p:attrName>style.visibility</p:attrName>
                                        </p:attrNameLst>
                                      </p:cBhvr>
                                      <p:to>
                                        <p:strVal val="visible"/>
                                      </p:to>
                                    </p:set>
                                    <p:animEffect transition="in" filter="fade">
                                      <p:cBhvr>
                                        <p:cTn id="11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animBg="1"/>
      <p:bldP spid="6" grpId="0" animBg="1"/>
      <p:bldP spid="7" grpId="0"/>
      <p:bldP spid="8" grpId="0"/>
      <p:bldP spid="9" grpId="0"/>
      <p:bldP spid="10" grpId="0"/>
      <p:bldP spid="15" grpId="0"/>
      <p:bldP spid="16" grpId="0" animBg="1"/>
      <p:bldP spid="18" grpId="0"/>
      <p:bldP spid="11" grpId="0" animBg="1"/>
      <p:bldP spid="19" grpId="0" animBg="1"/>
      <p:bldP spid="21" grpId="0"/>
      <p:bldP spid="12" grpId="0" animBg="1"/>
      <p:bldP spid="22" grpId="0" animBg="1"/>
      <p:bldP spid="24" grpId="0"/>
      <p:bldP spid="25" grpId="0" animBg="1"/>
      <p:bldP spid="27" grpId="0"/>
      <p:bldP spid="13" grpId="0" animBg="1"/>
      <p:bldP spid="14" grpId="0" animBg="1"/>
      <p:bldP spid="28" grpId="0" animBg="1"/>
      <p:bldP spid="30" grpId="0"/>
      <p:bldP spid="31" grpId="0" animBg="1"/>
      <p:bldP spid="32" grpId="0"/>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685800" y="502920"/>
            <a:ext cx="7315200" cy="274320"/>
          </a:xfrm>
          <a:prstGeom prst="rect">
            <a:avLst/>
          </a:prstGeom>
          <a:noFill/>
          <a:ln/>
        </p:spPr>
        <p:txBody>
          <a:bodyPr wrap="square" lIns="0" tIns="0" rIns="0" bIns="0" rtlCol="0" anchor="t"/>
          <a:lstStyle/>
          <a:p>
            <a:pPr algn="l" indent="0" marL="0">
              <a:buNone/>
            </a:pPr>
            <a:r>
              <a:rPr lang="en-US" sz="1300" b="1" spc="300" kern="0" dirty="0">
                <a:solidFill>
                  <a:srgbClr val="3FD39B"/>
                </a:solidFill>
              </a:rPr>
              <a:t>THE GROWTH STRATEGY</a:t>
            </a:r>
            <a:endParaRPr lang="en-US" sz="1300" dirty="0"/>
          </a:p>
        </p:txBody>
      </p:sp>
      <p:sp>
        <p:nvSpPr>
          <p:cNvPr id="3" name="Text 0"/>
          <p:cNvSpPr/>
          <p:nvPr>
            <p:ph idx="101" type="title" hasCustomPrompt="1"/>
          </p:nvPr>
        </p:nvSpPr>
        <p:spPr>
          <a:xfrm>
            <a:off x="685800" y="841248"/>
            <a:ext cx="10820400" cy="1325880"/>
          </a:xfrm>
          <a:prstGeom prst="rect">
            <a:avLst/>
          </a:prstGeom>
          <a:noFill/>
          <a:ln/>
        </p:spPr>
        <p:txBody>
          <a:bodyPr wrap="square" lIns="0" tIns="0" rIns="0" bIns="0" rtlCol="0" anchor="t"/>
          <a:lstStyle/>
          <a:p>
            <a:pPr algn="l" indent="0" marL="0">
              <a:lnSpc>
                <a:spcPct val="95000"/>
              </a:lnSpc>
              <a:buNone/>
            </a:pPr>
            <a:r>
              <a:rPr lang="en-US" sz="4000" b="1" dirty="0">
                <a:solidFill>
                  <a:schemeClr val="bg1"/>
                </a:solidFill>
                <a:latin typeface="+mj-lt" pitchFamily="34" charset="0"/>
                <a:ea typeface="+mj-lt" pitchFamily="34" charset="-122"/>
                <a:cs typeface="+mj-lt" pitchFamily="34" charset="-120"/>
              </a:rPr>
              <a:t>Prove one community. </a:t>
            </a:r>
            <a:pPr algn="l" indent="0" marL="0">
              <a:lnSpc>
                <a:spcPct val="95000"/>
              </a:lnSpc>
              <a:buNone/>
            </a:pPr>
            <a:r>
              <a:rPr lang="en-US" sz="4000" b="1" i="1" dirty="0">
                <a:solidFill>
                  <a:srgbClr val="3FD39B"/>
                </a:solidFill>
                <a:latin typeface="+mj-lt" pitchFamily="34" charset="0"/>
                <a:ea typeface="+mj-lt" pitchFamily="34" charset="-122"/>
                <a:cs typeface="+mj-lt" pitchFamily="34" charset="-120"/>
              </a:rPr>
              <a:t>Then repeat it.</a:t>
            </a:r>
            <a:endParaRPr lang="en-US" sz="4000" dirty="0"/>
          </a:p>
        </p:txBody>
      </p:sp>
      <p:sp>
        <p:nvSpPr>
          <p:cNvPr id="4" name="Path solid"/>
          <p:cNvSpPr/>
          <p:nvPr/>
        </p:nvSpPr>
        <p:spPr>
          <a:xfrm>
            <a:off x="1097280" y="2560320"/>
            <a:ext cx="5349240" cy="0"/>
          </a:xfrm>
          <a:prstGeom prst="line">
            <a:avLst/>
          </a:prstGeom>
          <a:noFill/>
          <a:ln w="25400">
            <a:solidFill>
              <a:srgbClr val="3FD39B"/>
            </a:solidFill>
            <a:prstDash val="solid"/>
          </a:ln>
        </p:spPr>
      </p:sp>
      <p:sp>
        <p:nvSpPr>
          <p:cNvPr id="5" name="Path gated"/>
          <p:cNvSpPr/>
          <p:nvPr/>
        </p:nvSpPr>
        <p:spPr>
          <a:xfrm>
            <a:off x="6446520" y="2560320"/>
            <a:ext cx="1554480" cy="0"/>
          </a:xfrm>
          <a:prstGeom prst="line">
            <a:avLst/>
          </a:prstGeom>
          <a:noFill/>
          <a:ln w="25400">
            <a:solidFill>
              <a:srgbClr val="3FD39B">
                <a:alpha val="50000"/>
              </a:srgbClr>
            </a:solidFill>
            <a:prstDash val="dash"/>
          </a:ln>
        </p:spPr>
      </p:sp>
      <p:sp>
        <p:nvSpPr>
          <p:cNvPr id="6" name="When 1"/>
          <p:cNvSpPr txBox="1"/>
          <p:nvPr/>
        </p:nvSpPr>
        <p:spPr>
          <a:xfrm>
            <a:off x="868680" y="1984248"/>
            <a:ext cx="1645920" cy="237744"/>
          </a:xfrm>
          <a:prstGeom prst="rect">
            <a:avLst/>
          </a:prstGeom>
          <a:noFill/>
          <a:ln/>
        </p:spPr>
        <p:txBody>
          <a:bodyPr wrap="square" lIns="0" tIns="0" rIns="0" bIns="0" rtlCol="0" anchor="t"/>
          <a:lstStyle/>
          <a:p>
            <a:pPr algn="l" indent="0" marL="0">
              <a:buNone/>
            </a:pPr>
            <a:r>
              <a:rPr lang="en-US" sz="1200" b="1" spc="200" kern="0" dirty="0">
                <a:solidFill>
                  <a:schemeClr val="accent3"/>
                </a:solidFill>
              </a:rPr>
              <a:t>NOW</a:t>
            </a:r>
            <a:endParaRPr lang="en-US" sz="1200" dirty="0"/>
          </a:p>
        </p:txBody>
      </p:sp>
      <p:sp>
        <p:nvSpPr>
          <p:cNvPr id="7" name="Node 1"/>
          <p:cNvSpPr/>
          <p:nvPr/>
        </p:nvSpPr>
        <p:spPr>
          <a:xfrm>
            <a:off x="868680" y="2331720"/>
            <a:ext cx="457200" cy="457200"/>
          </a:xfrm>
          <a:prstGeom prst="ellipse">
            <a:avLst/>
          </a:prstGeom>
          <a:solidFill>
            <a:srgbClr val="3FD39B"/>
          </a:solidFill>
          <a:ln/>
        </p:spPr>
        <p:txBody>
          <a:bodyPr wrap="square" lIns="0" tIns="0" rIns="0" bIns="0" rtlCol="0" anchor="ctr"/>
          <a:lstStyle/>
          <a:p>
            <a:pPr algn="ctr" indent="0" marL="0">
              <a:buNone/>
            </a:pPr>
            <a:r>
              <a:rPr lang="en-US" sz="1700" b="1" dirty="0">
                <a:solidFill>
                  <a:schemeClr val="tx1"/>
                </a:solidFill>
              </a:rPr>
              <a:t>1</a:t>
            </a:r>
            <a:endParaRPr lang="en-US" sz="1700" dirty="0"/>
          </a:p>
        </p:txBody>
      </p:sp>
      <p:sp>
        <p:nvSpPr>
          <p:cNvPr id="8" name="Stage 1"/>
          <p:cNvSpPr txBox="1"/>
          <p:nvPr/>
        </p:nvSpPr>
        <p:spPr>
          <a:xfrm>
            <a:off x="868680" y="3017520"/>
            <a:ext cx="1645920" cy="1325880"/>
          </a:xfrm>
          <a:prstGeom prst="rect">
            <a:avLst/>
          </a:prstGeom>
          <a:noFill/>
          <a:ln/>
        </p:spPr>
        <p:txBody>
          <a:bodyPr wrap="square" lIns="0" tIns="0" rIns="0" bIns="0" rtlCol="0" anchor="t"/>
          <a:lstStyle/>
          <a:p>
            <a:pPr algn="l" indent="0" marL="0">
              <a:lnSpc>
                <a:spcPct val="100000"/>
              </a:lnSpc>
              <a:buNone/>
            </a:pPr>
            <a:r>
              <a:rPr lang="en-US" sz="1800" b="1" dirty="0">
                <a:solidFill>
                  <a:schemeClr val="bg1"/>
                </a:solidFill>
              </a:rPr>
              <a:t>Validate one community</a:t>
            </a:r>
            <a:endParaRPr lang="en-US" sz="1800" dirty="0"/>
          </a:p>
          <a:p>
            <a:pPr algn="l" indent="0" marL="0">
              <a:lnSpc>
                <a:spcPct val="100000"/>
              </a:lnSpc>
              <a:buNone/>
            </a:pPr>
            <a:r>
              <a:rPr lang="en-US" sz="1450" dirty="0">
                <a:solidFill>
                  <a:srgbClr val="DADFDD"/>
                </a:solidFill>
              </a:rPr>
              <a:t>GRASS Residences, Quezon City.</a:t>
            </a:r>
            <a:endParaRPr lang="en-US" sz="1800" dirty="0"/>
          </a:p>
        </p:txBody>
      </p:sp>
      <p:sp>
        <p:nvSpPr>
          <p:cNvPr id="9" name="When 2"/>
          <p:cNvSpPr txBox="1"/>
          <p:nvPr/>
        </p:nvSpPr>
        <p:spPr>
          <a:xfrm>
            <a:off x="2651760" y="1984248"/>
            <a:ext cx="1645920" cy="237744"/>
          </a:xfrm>
          <a:prstGeom prst="rect">
            <a:avLst/>
          </a:prstGeom>
          <a:noFill/>
          <a:ln/>
        </p:spPr>
        <p:txBody>
          <a:bodyPr wrap="square" lIns="0" tIns="0" rIns="0" bIns="0" rtlCol="0" anchor="t"/>
          <a:lstStyle/>
          <a:p>
            <a:pPr algn="l" indent="0" marL="0">
              <a:buNone/>
            </a:pPr>
            <a:r>
              <a:rPr lang="en-US" sz="1200" b="1" spc="200" kern="0" dirty="0">
                <a:solidFill>
                  <a:schemeClr val="accent3"/>
                </a:solidFill>
              </a:rPr>
              <a:t>NOW</a:t>
            </a:r>
            <a:endParaRPr lang="en-US" sz="1200" dirty="0"/>
          </a:p>
        </p:txBody>
      </p:sp>
      <p:sp>
        <p:nvSpPr>
          <p:cNvPr id="10" name="Node 2"/>
          <p:cNvSpPr/>
          <p:nvPr/>
        </p:nvSpPr>
        <p:spPr>
          <a:xfrm>
            <a:off x="2651760" y="2331720"/>
            <a:ext cx="457200" cy="457200"/>
          </a:xfrm>
          <a:prstGeom prst="ellipse">
            <a:avLst/>
          </a:prstGeom>
          <a:solidFill>
            <a:srgbClr val="3FD39B"/>
          </a:solidFill>
          <a:ln/>
        </p:spPr>
        <p:txBody>
          <a:bodyPr wrap="square" lIns="0" tIns="0" rIns="0" bIns="0" rtlCol="0" anchor="ctr"/>
          <a:lstStyle/>
          <a:p>
            <a:pPr algn="ctr" indent="0" marL="0">
              <a:buNone/>
            </a:pPr>
            <a:r>
              <a:rPr lang="en-US" sz="1700" b="1" dirty="0">
                <a:solidFill>
                  <a:schemeClr val="tx1"/>
                </a:solidFill>
              </a:rPr>
              <a:t>2</a:t>
            </a:r>
            <a:endParaRPr lang="en-US" sz="1700" dirty="0"/>
          </a:p>
        </p:txBody>
      </p:sp>
      <p:sp>
        <p:nvSpPr>
          <p:cNvPr id="11" name="Stage 2"/>
          <p:cNvSpPr txBox="1"/>
          <p:nvPr/>
        </p:nvSpPr>
        <p:spPr>
          <a:xfrm>
            <a:off x="2651760" y="3017520"/>
            <a:ext cx="1645920" cy="1325880"/>
          </a:xfrm>
          <a:prstGeom prst="rect">
            <a:avLst/>
          </a:prstGeom>
          <a:noFill/>
          <a:ln/>
        </p:spPr>
        <p:txBody>
          <a:bodyPr wrap="square" lIns="0" tIns="0" rIns="0" bIns="0" rtlCol="0" anchor="t"/>
          <a:lstStyle/>
          <a:p>
            <a:pPr algn="l" indent="0" marL="0">
              <a:lnSpc>
                <a:spcPct val="100000"/>
              </a:lnSpc>
              <a:buNone/>
            </a:pPr>
            <a:r>
              <a:rPr lang="en-US" sz="1800" b="1" dirty="0">
                <a:solidFill>
                  <a:schemeClr val="bg1"/>
                </a:solidFill>
              </a:rPr>
              <a:t>Measure</a:t>
            </a:r>
            <a:endParaRPr lang="en-US" sz="1800" dirty="0"/>
          </a:p>
          <a:p>
            <a:pPr algn="l" indent="0" marL="0">
              <a:lnSpc>
                <a:spcPct val="100000"/>
              </a:lnSpc>
              <a:buNone/>
            </a:pPr>
            <a:r>
              <a:rPr lang="en-US" sz="1450" dirty="0">
                <a:solidFill>
                  <a:srgbClr val="DADFDD"/>
                </a:solidFill>
              </a:rPr>
              <a:t>Orders, repeat ordering, seller activity.</a:t>
            </a:r>
            <a:endParaRPr lang="en-US" sz="1800" dirty="0"/>
          </a:p>
        </p:txBody>
      </p:sp>
      <p:sp>
        <p:nvSpPr>
          <p:cNvPr id="12" name="When 3"/>
          <p:cNvSpPr txBox="1"/>
          <p:nvPr/>
        </p:nvSpPr>
        <p:spPr>
          <a:xfrm>
            <a:off x="4434840" y="1984248"/>
            <a:ext cx="1645920" cy="237744"/>
          </a:xfrm>
          <a:prstGeom prst="rect">
            <a:avLst/>
          </a:prstGeom>
          <a:noFill/>
          <a:ln/>
        </p:spPr>
        <p:txBody>
          <a:bodyPr wrap="square" lIns="0" tIns="0" rIns="0" bIns="0" rtlCol="0" anchor="t"/>
          <a:lstStyle/>
          <a:p>
            <a:pPr algn="l" indent="0" marL="0">
              <a:buNone/>
            </a:pPr>
            <a:r>
              <a:rPr lang="en-US" sz="1200" b="1" spc="200" kern="0" dirty="0">
                <a:solidFill>
                  <a:srgbClr val="35B182"/>
                </a:solidFill>
              </a:rPr>
              <a:t>NEXT</a:t>
            </a:r>
            <a:endParaRPr lang="en-US" sz="1200" dirty="0"/>
          </a:p>
        </p:txBody>
      </p:sp>
      <p:sp>
        <p:nvSpPr>
          <p:cNvPr id="13" name="Node 3"/>
          <p:cNvSpPr/>
          <p:nvPr/>
        </p:nvSpPr>
        <p:spPr>
          <a:xfrm>
            <a:off x="4434840" y="2331720"/>
            <a:ext cx="457200" cy="457200"/>
          </a:xfrm>
          <a:prstGeom prst="ellipse">
            <a:avLst/>
          </a:prstGeom>
          <a:solidFill>
            <a:schemeClr val="tx2"/>
          </a:solidFill>
          <a:ln w="22225">
            <a:solidFill>
              <a:srgbClr val="3FD39B"/>
            </a:solidFill>
          </a:ln>
        </p:spPr>
        <p:txBody>
          <a:bodyPr wrap="square" lIns="0" tIns="0" rIns="0" bIns="0" rtlCol="0" anchor="ctr"/>
          <a:lstStyle/>
          <a:p>
            <a:pPr algn="ctr" indent="0" marL="0">
              <a:buNone/>
            </a:pPr>
            <a:r>
              <a:rPr lang="en-US" sz="1700" b="1" dirty="0">
                <a:solidFill>
                  <a:srgbClr val="3FD39B"/>
                </a:solidFill>
              </a:rPr>
              <a:t>3</a:t>
            </a:r>
            <a:endParaRPr lang="en-US" sz="1700" dirty="0"/>
          </a:p>
        </p:txBody>
      </p:sp>
      <p:sp>
        <p:nvSpPr>
          <p:cNvPr id="14" name="Stage 3"/>
          <p:cNvSpPr txBox="1"/>
          <p:nvPr/>
        </p:nvSpPr>
        <p:spPr>
          <a:xfrm>
            <a:off x="4434840" y="3017520"/>
            <a:ext cx="1645920" cy="1325880"/>
          </a:xfrm>
          <a:prstGeom prst="rect">
            <a:avLst/>
          </a:prstGeom>
          <a:noFill/>
          <a:ln/>
        </p:spPr>
        <p:txBody>
          <a:bodyPr wrap="square" lIns="0" tIns="0" rIns="0" bIns="0" rtlCol="0" anchor="t"/>
          <a:lstStyle/>
          <a:p>
            <a:pPr algn="l" indent="0" marL="0">
              <a:lnSpc>
                <a:spcPct val="100000"/>
              </a:lnSpc>
              <a:buNone/>
            </a:pPr>
            <a:r>
              <a:rPr lang="en-US" sz="1800" b="1" dirty="0">
                <a:solidFill>
                  <a:schemeClr val="bg1"/>
                </a:solidFill>
              </a:rPr>
              <a:t>Improve</a:t>
            </a:r>
            <a:endParaRPr lang="en-US" sz="1800" dirty="0"/>
          </a:p>
          <a:p>
            <a:pPr algn="l" indent="0" marL="0">
              <a:lnSpc>
                <a:spcPct val="100000"/>
              </a:lnSpc>
              <a:buNone/>
            </a:pPr>
            <a:r>
              <a:rPr lang="en-US" sz="1450" dirty="0">
                <a:solidFill>
                  <a:srgbClr val="DADFDD"/>
                </a:solidFill>
              </a:rPr>
              <a:t>Product and operations, from what we see.</a:t>
            </a:r>
            <a:endParaRPr lang="en-US" sz="1800" dirty="0"/>
          </a:p>
        </p:txBody>
      </p:sp>
      <p:sp>
        <p:nvSpPr>
          <p:cNvPr id="15" name="When 4"/>
          <p:cNvSpPr txBox="1"/>
          <p:nvPr/>
        </p:nvSpPr>
        <p:spPr>
          <a:xfrm>
            <a:off x="6217920" y="1984248"/>
            <a:ext cx="1645920" cy="237744"/>
          </a:xfrm>
          <a:prstGeom prst="rect">
            <a:avLst/>
          </a:prstGeom>
          <a:noFill/>
          <a:ln/>
        </p:spPr>
        <p:txBody>
          <a:bodyPr wrap="square" lIns="0" tIns="0" rIns="0" bIns="0" rtlCol="0" anchor="t"/>
          <a:lstStyle/>
          <a:p>
            <a:pPr algn="l" indent="0" marL="0">
              <a:buNone/>
            </a:pPr>
            <a:r>
              <a:rPr lang="en-US" sz="1200" b="1" spc="200" kern="0" dirty="0">
                <a:solidFill>
                  <a:srgbClr val="35B182"/>
                </a:solidFill>
              </a:rPr>
              <a:t>NEXT</a:t>
            </a:r>
            <a:endParaRPr lang="en-US" sz="1200" dirty="0"/>
          </a:p>
        </p:txBody>
      </p:sp>
      <p:sp>
        <p:nvSpPr>
          <p:cNvPr id="16" name="Node 4"/>
          <p:cNvSpPr/>
          <p:nvPr/>
        </p:nvSpPr>
        <p:spPr>
          <a:xfrm>
            <a:off x="6217920" y="2331720"/>
            <a:ext cx="457200" cy="457200"/>
          </a:xfrm>
          <a:prstGeom prst="ellipse">
            <a:avLst/>
          </a:prstGeom>
          <a:solidFill>
            <a:schemeClr val="tx2"/>
          </a:solidFill>
          <a:ln w="22225">
            <a:solidFill>
              <a:srgbClr val="3FD39B"/>
            </a:solidFill>
          </a:ln>
        </p:spPr>
        <p:txBody>
          <a:bodyPr wrap="square" lIns="0" tIns="0" rIns="0" bIns="0" rtlCol="0" anchor="ctr"/>
          <a:lstStyle/>
          <a:p>
            <a:pPr algn="ctr" indent="0" marL="0">
              <a:buNone/>
            </a:pPr>
            <a:r>
              <a:rPr lang="en-US" sz="1700" b="1" dirty="0">
                <a:solidFill>
                  <a:srgbClr val="3FD39B"/>
                </a:solidFill>
              </a:rPr>
              <a:t>4</a:t>
            </a:r>
            <a:endParaRPr lang="en-US" sz="1700" dirty="0"/>
          </a:p>
        </p:txBody>
      </p:sp>
      <p:sp>
        <p:nvSpPr>
          <p:cNvPr id="17" name="Stage 4"/>
          <p:cNvSpPr txBox="1"/>
          <p:nvPr/>
        </p:nvSpPr>
        <p:spPr>
          <a:xfrm>
            <a:off x="6217920" y="3017520"/>
            <a:ext cx="1645920" cy="1325880"/>
          </a:xfrm>
          <a:prstGeom prst="rect">
            <a:avLst/>
          </a:prstGeom>
          <a:noFill/>
          <a:ln/>
        </p:spPr>
        <p:txBody>
          <a:bodyPr wrap="square" lIns="0" tIns="0" rIns="0" bIns="0" rtlCol="0" anchor="t"/>
          <a:lstStyle/>
          <a:p>
            <a:pPr algn="l" indent="0" marL="0">
              <a:lnSpc>
                <a:spcPct val="100000"/>
              </a:lnSpc>
              <a:buNone/>
            </a:pPr>
            <a:r>
              <a:rPr lang="en-US" sz="1800" b="1" dirty="0">
                <a:solidFill>
                  <a:schemeClr val="bg1"/>
                </a:solidFill>
              </a:rPr>
              <a:t>Write the playbook</a:t>
            </a:r>
            <a:endParaRPr lang="en-US" sz="1800" dirty="0"/>
          </a:p>
          <a:p>
            <a:pPr algn="l" indent="0" marL="0">
              <a:lnSpc>
                <a:spcPct val="100000"/>
              </a:lnSpc>
              <a:buNone/>
            </a:pPr>
            <a:r>
              <a:rPr lang="en-US" sz="1450" dirty="0">
                <a:solidFill>
                  <a:srgbClr val="DADFDD"/>
                </a:solidFill>
              </a:rPr>
              <a:t>A repeatable launch process.</a:t>
            </a:r>
            <a:endParaRPr lang="en-US" sz="1800" dirty="0"/>
          </a:p>
        </p:txBody>
      </p:sp>
      <p:sp>
        <p:nvSpPr>
          <p:cNvPr id="18" name="When 5"/>
          <p:cNvSpPr txBox="1"/>
          <p:nvPr/>
        </p:nvSpPr>
        <p:spPr>
          <a:xfrm>
            <a:off x="8001000" y="1984248"/>
            <a:ext cx="1645920" cy="237744"/>
          </a:xfrm>
          <a:prstGeom prst="rect">
            <a:avLst/>
          </a:prstGeom>
          <a:noFill/>
          <a:ln/>
        </p:spPr>
        <p:txBody>
          <a:bodyPr wrap="square" lIns="0" tIns="0" rIns="0" bIns="0" rtlCol="0" anchor="t"/>
          <a:lstStyle/>
          <a:p>
            <a:pPr algn="l" indent="0" marL="0">
              <a:buNone/>
            </a:pPr>
            <a:r>
              <a:rPr lang="en-US" sz="1200" b="1" spc="200" kern="0" dirty="0">
                <a:solidFill>
                  <a:srgbClr val="35B182"/>
                </a:solidFill>
              </a:rPr>
              <a:t>WHEN EARNED</a:t>
            </a:r>
            <a:endParaRPr lang="en-US" sz="1200" dirty="0"/>
          </a:p>
        </p:txBody>
      </p:sp>
      <p:sp>
        <p:nvSpPr>
          <p:cNvPr id="19" name="Node 5"/>
          <p:cNvSpPr/>
          <p:nvPr/>
        </p:nvSpPr>
        <p:spPr>
          <a:xfrm>
            <a:off x="8001000" y="2331720"/>
            <a:ext cx="457200" cy="457200"/>
          </a:xfrm>
          <a:prstGeom prst="ellipse">
            <a:avLst/>
          </a:prstGeom>
          <a:solidFill>
            <a:schemeClr val="tx2"/>
          </a:solidFill>
          <a:ln w="22225">
            <a:solidFill>
              <a:srgbClr val="3FD39B"/>
            </a:solidFill>
            <a:prstDash val="dash"/>
          </a:ln>
        </p:spPr>
        <p:txBody>
          <a:bodyPr wrap="square" lIns="0" tIns="0" rIns="0" bIns="0" rtlCol="0" anchor="ctr"/>
          <a:lstStyle/>
          <a:p>
            <a:pPr algn="ctr" indent="0" marL="0">
              <a:buNone/>
            </a:pPr>
            <a:r>
              <a:rPr lang="en-US" sz="1700" b="1" dirty="0">
                <a:solidFill>
                  <a:srgbClr val="3FD39B"/>
                </a:solidFill>
              </a:rPr>
              <a:t>5</a:t>
            </a:r>
            <a:endParaRPr lang="en-US" sz="1700" dirty="0"/>
          </a:p>
        </p:txBody>
      </p:sp>
      <p:sp>
        <p:nvSpPr>
          <p:cNvPr id="20" name="Stage 5"/>
          <p:cNvSpPr txBox="1"/>
          <p:nvPr/>
        </p:nvSpPr>
        <p:spPr>
          <a:xfrm>
            <a:off x="8001000" y="3017520"/>
            <a:ext cx="1645920" cy="1325880"/>
          </a:xfrm>
          <a:prstGeom prst="rect">
            <a:avLst/>
          </a:prstGeom>
          <a:noFill/>
          <a:ln/>
        </p:spPr>
        <p:txBody>
          <a:bodyPr wrap="square" lIns="0" tIns="0" rIns="0" bIns="0" rtlCol="0" anchor="t"/>
          <a:lstStyle/>
          <a:p>
            <a:pPr algn="l" indent="0" marL="0">
              <a:lnSpc>
                <a:spcPct val="100000"/>
              </a:lnSpc>
              <a:buNone/>
            </a:pPr>
            <a:r>
              <a:rPr lang="en-US" sz="1800" b="1" dirty="0">
                <a:solidFill>
                  <a:schemeClr val="bg1"/>
                </a:solidFill>
              </a:rPr>
              <a:t>Expand</a:t>
            </a:r>
            <a:endParaRPr lang="en-US" sz="1800" dirty="0"/>
          </a:p>
          <a:p>
            <a:pPr algn="l" indent="0" marL="0">
              <a:lnSpc>
                <a:spcPct val="100000"/>
              </a:lnSpc>
              <a:buNone/>
            </a:pPr>
            <a:r>
              <a:rPr lang="en-US" sz="1450" dirty="0">
                <a:solidFill>
                  <a:srgbClr val="DADFDD"/>
                </a:solidFill>
              </a:rPr>
              <a:t>To comparable communities.</a:t>
            </a:r>
            <a:endParaRPr lang="en-US" sz="1800" dirty="0"/>
          </a:p>
        </p:txBody>
      </p:sp>
      <p:sp>
        <p:nvSpPr>
          <p:cNvPr id="21" name="Gate disc"/>
          <p:cNvSpPr/>
          <p:nvPr/>
        </p:nvSpPr>
        <p:spPr>
          <a:xfrm>
            <a:off x="6935724" y="2331720"/>
            <a:ext cx="457200" cy="457200"/>
          </a:xfrm>
          <a:prstGeom prst="ellipse">
            <a:avLst/>
          </a:prstGeom>
          <a:solidFill>
            <a:schemeClr val="accent3"/>
          </a:solidFill>
          <a:ln/>
        </p:spPr>
      </p:sp>
      <p:pic>
        <p:nvPicPr>
          <p:cNvPr id="22" name="Gate icon" descr="lock icon">    </p:cNvPr>
          <p:cNvPicPr>
            <a:picLocks noChangeAspect="1"/>
          </p:cNvPicPr>
          <p:nvPr/>
        </p:nvPicPr>
        <p:blipFill>
          <a:blip r:embed="rId1"/>
          <a:stretch>
            <a:fillRect/>
          </a:stretch>
        </p:blipFill>
        <p:spPr>
          <a:xfrm>
            <a:off x="7054596" y="2450592"/>
            <a:ext cx="219456" cy="219456"/>
          </a:xfrm>
          <a:prstGeom prst="rect">
            <a:avLst/>
          </a:prstGeom>
        </p:spPr>
      </p:pic>
      <p:sp>
        <p:nvSpPr>
          <p:cNvPr id="23" name="Gate text"/>
          <p:cNvSpPr txBox="1"/>
          <p:nvPr/>
        </p:nvSpPr>
        <p:spPr>
          <a:xfrm>
            <a:off x="6172200" y="4389120"/>
            <a:ext cx="3246120" cy="640080"/>
          </a:xfrm>
          <a:prstGeom prst="rect">
            <a:avLst/>
          </a:prstGeom>
          <a:noFill/>
          <a:ln/>
        </p:spPr>
        <p:txBody>
          <a:bodyPr wrap="square" lIns="0" tIns="0" rIns="0" bIns="0" rtlCol="0" anchor="t"/>
          <a:lstStyle/>
          <a:p>
            <a:pPr algn="l" indent="0" marL="0">
              <a:lnSpc>
                <a:spcPct val="100000"/>
              </a:lnSpc>
              <a:buNone/>
            </a:pPr>
            <a:r>
              <a:rPr lang="en-US" sz="1200" b="1" spc="200" kern="0" dirty="0">
                <a:solidFill>
                  <a:schemeClr val="accent3"/>
                </a:solidFill>
              </a:rPr>
              <a:t>PROPOSED GATE  </a:t>
            </a:r>
            <a:pPr algn="l" indent="0" marL="0">
              <a:lnSpc>
                <a:spcPct val="100000"/>
              </a:lnSpc>
              <a:buNone/>
            </a:pPr>
            <a:r>
              <a:rPr lang="en-US" sz="1300" dirty="0">
                <a:solidFill>
                  <a:srgbClr val="E2E5E4"/>
                </a:solidFill>
              </a:rPr>
              <a:t>Repeat ordering shown, sellers staying active, economics understood.</a:t>
            </a:r>
            <a:endParaRPr lang="en-US" sz="1200" dirty="0"/>
          </a:p>
        </p:txBody>
      </p:sp>
      <p:sp>
        <p:nvSpPr>
          <p:cNvPr id="24" name="Built label"/>
          <p:cNvSpPr txBox="1"/>
          <p:nvPr/>
        </p:nvSpPr>
        <p:spPr>
          <a:xfrm>
            <a:off x="713232" y="4846320"/>
            <a:ext cx="5486400" cy="256032"/>
          </a:xfrm>
          <a:prstGeom prst="rect">
            <a:avLst/>
          </a:prstGeom>
          <a:noFill/>
          <a:ln/>
        </p:spPr>
        <p:txBody>
          <a:bodyPr wrap="square" lIns="0" tIns="0" rIns="0" bIns="0" rtlCol="0" anchor="t"/>
          <a:lstStyle/>
          <a:p>
            <a:pPr algn="l" indent="0" marL="0">
              <a:buNone/>
            </a:pPr>
            <a:r>
              <a:rPr lang="en-US" sz="1200" b="1" spc="200" kern="0" dirty="0">
                <a:solidFill>
                  <a:srgbClr val="3FD39B"/>
                </a:solidFill>
              </a:rPr>
              <a:t>ALREADY BUILT FOR THE LAUNCH PROCESS</a:t>
            </a:r>
            <a:endParaRPr lang="en-US" sz="1200" dirty="0"/>
          </a:p>
        </p:txBody>
      </p:sp>
      <p:sp>
        <p:nvSpPr>
          <p:cNvPr id="25" name="Built 1"/>
          <p:cNvSpPr/>
          <p:nvPr/>
        </p:nvSpPr>
        <p:spPr>
          <a:xfrm>
            <a:off x="713232" y="5193792"/>
            <a:ext cx="1572768" cy="347472"/>
          </a:xfrm>
          <a:prstGeom prst="roundRect">
            <a:avLst>
              <a:gd name="adj" fmla="val 50000"/>
            </a:avLst>
          </a:prstGeom>
          <a:noFill/>
          <a:ln w="15875">
            <a:solidFill>
              <a:srgbClr val="3FD39B"/>
            </a:solidFill>
          </a:ln>
        </p:spPr>
        <p:txBody>
          <a:bodyPr wrap="square" lIns="0" tIns="0" rIns="0" bIns="0" rtlCol="0" anchor="ctr"/>
          <a:lstStyle/>
          <a:p>
            <a:pPr algn="ctr" indent="0" marL="0">
              <a:buNone/>
            </a:pPr>
            <a:r>
              <a:rPr lang="en-US" sz="1200" b="1" dirty="0">
                <a:solidFill>
                  <a:schemeClr val="bg1"/>
                </a:solidFill>
              </a:rPr>
              <a:t>CONDO DIRECTORY</a:t>
            </a:r>
            <a:endParaRPr lang="en-US" sz="1200" dirty="0"/>
          </a:p>
        </p:txBody>
      </p:sp>
      <p:sp>
        <p:nvSpPr>
          <p:cNvPr id="26" name="Built 2"/>
          <p:cNvSpPr/>
          <p:nvPr/>
        </p:nvSpPr>
        <p:spPr>
          <a:xfrm>
            <a:off x="2423160" y="5193792"/>
            <a:ext cx="2216506" cy="347472"/>
          </a:xfrm>
          <a:prstGeom prst="roundRect">
            <a:avLst>
              <a:gd name="adj" fmla="val 50000"/>
            </a:avLst>
          </a:prstGeom>
          <a:noFill/>
          <a:ln w="15875">
            <a:solidFill>
              <a:srgbClr val="3FD39B"/>
            </a:solidFill>
          </a:ln>
        </p:spPr>
        <p:txBody>
          <a:bodyPr wrap="square" lIns="0" tIns="0" rIns="0" bIns="0" rtlCol="0" anchor="ctr"/>
          <a:lstStyle/>
          <a:p>
            <a:pPr algn="ctr" indent="0" marL="0">
              <a:buNone/>
            </a:pPr>
            <a:r>
              <a:rPr lang="en-US" sz="1200" b="1" dirty="0">
                <a:solidFill>
                  <a:schemeClr val="bg1"/>
                </a:solidFill>
              </a:rPr>
              <a:t>7-STAGE LAUNCH PIPELINE</a:t>
            </a:r>
            <a:endParaRPr lang="en-US" sz="1200" dirty="0"/>
          </a:p>
        </p:txBody>
      </p:sp>
      <p:sp>
        <p:nvSpPr>
          <p:cNvPr id="27" name="Built 3"/>
          <p:cNvSpPr/>
          <p:nvPr/>
        </p:nvSpPr>
        <p:spPr>
          <a:xfrm>
            <a:off x="4776826" y="5193792"/>
            <a:ext cx="2296973" cy="347472"/>
          </a:xfrm>
          <a:prstGeom prst="roundRect">
            <a:avLst>
              <a:gd name="adj" fmla="val 50000"/>
            </a:avLst>
          </a:prstGeom>
          <a:noFill/>
          <a:ln w="15875">
            <a:solidFill>
              <a:srgbClr val="3FD39B"/>
            </a:solidFill>
          </a:ln>
        </p:spPr>
        <p:txBody>
          <a:bodyPr wrap="square" lIns="0" tIns="0" rIns="0" bIns="0" rtlCol="0" anchor="ctr"/>
          <a:lstStyle/>
          <a:p>
            <a:pPr algn="ctr" indent="0" marL="0">
              <a:buNone/>
            </a:pPr>
            <a:r>
              <a:rPr lang="en-US" sz="1200" b="1" dirty="0">
                <a:solidFill>
                  <a:schemeClr val="bg1"/>
                </a:solidFill>
              </a:rPr>
              <a:t>SEPARATE COMMUNITY ROOMS</a:t>
            </a:r>
            <a:endParaRPr lang="en-US" sz="1200" dirty="0"/>
          </a:p>
        </p:txBody>
      </p:sp>
      <p:sp>
        <p:nvSpPr>
          <p:cNvPr id="28" name="Built 4"/>
          <p:cNvSpPr/>
          <p:nvPr/>
        </p:nvSpPr>
        <p:spPr>
          <a:xfrm>
            <a:off x="7210958" y="5193792"/>
            <a:ext cx="1733702" cy="347472"/>
          </a:xfrm>
          <a:prstGeom prst="roundRect">
            <a:avLst>
              <a:gd name="adj" fmla="val 50000"/>
            </a:avLst>
          </a:prstGeom>
          <a:noFill/>
          <a:ln w="15875">
            <a:solidFill>
              <a:srgbClr val="3FD39B"/>
            </a:solidFill>
          </a:ln>
        </p:spPr>
        <p:txBody>
          <a:bodyPr wrap="square" lIns="0" tIns="0" rIns="0" bIns="0" rtlCol="0" anchor="ctr"/>
          <a:lstStyle/>
          <a:p>
            <a:pPr algn="ctr" indent="0" marL="0">
              <a:buNone/>
            </a:pPr>
            <a:r>
              <a:rPr lang="en-US" sz="1200" b="1" dirty="0">
                <a:solidFill>
                  <a:schemeClr val="bg1"/>
                </a:solidFill>
              </a:rPr>
              <a:t>ADMIN-ONLY SWITCH</a:t>
            </a:r>
            <a:endParaRPr lang="en-US" sz="1200" dirty="0"/>
          </a:p>
        </p:txBody>
      </p:sp>
      <p:sp>
        <p:nvSpPr>
          <p:cNvPr id="29" name="Not claimed"/>
          <p:cNvSpPr txBox="1"/>
          <p:nvPr/>
        </p:nvSpPr>
        <p:spPr>
          <a:xfrm>
            <a:off x="713232" y="5760720"/>
            <a:ext cx="7863840" cy="320040"/>
          </a:xfrm>
          <a:prstGeom prst="rect">
            <a:avLst/>
          </a:prstGeom>
          <a:noFill/>
          <a:ln/>
        </p:spPr>
        <p:txBody>
          <a:bodyPr wrap="square" lIns="0" tIns="0" rIns="0" bIns="0" rtlCol="0" anchor="t"/>
          <a:lstStyle/>
          <a:p>
            <a:pPr algn="l" indent="0" marL="0">
              <a:buNone/>
            </a:pPr>
            <a:r>
              <a:rPr lang="en-US" sz="1500" i="1" dirty="0">
                <a:solidFill>
                  <a:srgbClr val="E7EAE8"/>
                </a:solidFill>
              </a:rPr>
              <a:t>No second community is live. No condominium partnership or access is claimed.</a:t>
            </a:r>
            <a:endParaRPr lang="en-US" sz="1500" dirty="0"/>
          </a:p>
        </p:txBody>
      </p:sp>
      <p:sp>
        <p:nvSpPr>
          <p:cNvPr id="30" name="Footnote"/>
          <p:cNvSpPr txBox="1"/>
          <p:nvPr/>
        </p:nvSpPr>
        <p:spPr>
          <a:xfrm>
            <a:off x="1115568" y="6382512"/>
            <a:ext cx="7863840" cy="274320"/>
          </a:xfrm>
          <a:prstGeom prst="rect">
            <a:avLst/>
          </a:prstGeom>
          <a:noFill/>
          <a:ln/>
        </p:spPr>
        <p:txBody>
          <a:bodyPr wrap="square" lIns="0" tIns="0" rIns="0" bIns="0" rtlCol="0" anchor="ctr"/>
          <a:lstStyle/>
          <a:p>
            <a:pPr algn="l" indent="0" marL="0">
              <a:buNone/>
            </a:pPr>
            <a:r>
              <a:rPr lang="en-US" sz="1200" dirty="0">
                <a:solidFill>
                  <a:schemeClr val="accent5"/>
                </a:solidFill>
              </a:rPr>
              <a:t>Plan, not a result. The community tools are built; no second community is live.</a:t>
            </a:r>
            <a:endParaRPr lang="en-US" sz="1200" dirty="0"/>
          </a:p>
        </p:txBody>
      </p:sp>
      <p:pic>
        <p:nvPicPr>
          <p:cNvPr id="31" name="Phone condos" descr="The customer Condos list with sample condos marked Live or Coming soon (real app screen, sample data).">    </p:cNvPr>
          <p:cNvPicPr>
            <a:picLocks noChangeAspect="1"/>
          </p:cNvPicPr>
          <p:nvPr/>
        </p:nvPicPr>
        <p:blipFill>
          <a:blip r:embed="rId2"/>
          <a:stretch>
            <a:fillRect/>
          </a:stretch>
        </p:blipFill>
        <p:spPr>
          <a:xfrm>
            <a:off x="9267278" y="3602487"/>
            <a:ext cx="2085164" cy="3255513"/>
          </a:xfrm>
          <a:prstGeom prst="rect">
            <a:avLst/>
          </a:prstGeom>
        </p:spPr>
      </p:pic>
      <p:sp>
        <p:nvSpPr>
          <p:cNvPr id="32" name="Phone caption"/>
          <p:cNvSpPr txBox="1"/>
          <p:nvPr/>
        </p:nvSpPr>
        <p:spPr>
          <a:xfrm>
            <a:off x="9281160" y="3456432"/>
            <a:ext cx="2057400" cy="256032"/>
          </a:xfrm>
          <a:prstGeom prst="rect">
            <a:avLst/>
          </a:prstGeom>
          <a:noFill/>
          <a:ln/>
        </p:spPr>
        <p:txBody>
          <a:bodyPr wrap="square" lIns="0" tIns="0" rIns="0" bIns="0" rtlCol="0" anchor="t"/>
          <a:lstStyle/>
          <a:p>
            <a:pPr algn="ctr" indent="0" marL="0">
              <a:buNone/>
            </a:pPr>
            <a:r>
              <a:rPr lang="en-US" sz="1200" b="1" spc="200" kern="0" dirty="0">
                <a:solidFill>
                  <a:schemeClr val="accent5"/>
                </a:solidFill>
              </a:rPr>
              <a:t>Sample condos</a:t>
            </a:r>
            <a:endParaRPr lang="en-US" sz="1200" dirty="0"/>
          </a:p>
        </p:txBody>
      </p:sp>
      <p:sp>
        <p:nvSpPr>
          <p:cNvPr id="33" name="Slide Number Placeholder 0"/>
          <p:cNvSpPr>
            <a:spLocks noGrp="1"/>
          </p:cNvSpPr>
          <p:nvPr>
            <p:ph type="sldNum" sz="quarter" idx="4294967295"/>
          </p:nvPr>
        </p:nvSpPr>
        <p:spPr>
          <a:xfrm>
            <a:off x="10957560" y="6373368"/>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accent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3"/>
                                        </p:tgtEl>
                                        <p:attrNameLst>
                                          <p:attrName>style.visibility</p:attrName>
                                        </p:attrNameLst>
                                      </p:cBhvr>
                                      <p:to>
                                        <p:strVal val="visible"/>
                                      </p:to>
                                    </p:set>
                                    <p:anim calcmode="lin" valueType="num">
                                      <p:cBhvr>
                                        <p:cTn id="10" dur="550" fill="hold"/>
                                        <p:tgtEl>
                                          <p:spTgt spid="3"/>
                                        </p:tgtEl>
                                        <p:attrNameLst>
                                          <p:attrName>ppt_y</p:attrName>
                                        </p:attrNameLst>
                                      </p:cBhvr>
                                      <p:tavLst>
                                        <p:tav tm="0">
                                          <p:val>
                                            <p:strVal val="#ppt_y+.05"/>
                                          </p:val>
                                        </p:tav>
                                        <p:tav tm="100000">
                                          <p:val>
                                            <p:strVal val="#ppt_y"/>
                                          </p:val>
                                        </p:tav>
                                      </p:tavLst>
                                    </p:anim>
                                    <p:animEffect transition="in" filter="fade">
                                      <p:cBhvr>
                                        <p:cTn id="11" dur="550"/>
                                        <p:tgtEl>
                                          <p:spTgt spid="3"/>
                                        </p:tgtEl>
                                      </p:cBhvr>
                                    </p:animEffect>
                                  </p:childTnLst>
                                </p:cTn>
                              </p:par>
                              <p:par>
                                <p:cTn id="12" presetID="22" presetClass="entr" presetSubtype="8" fill="hold" grpId="0" nodeType="withEffect">
                                  <p:stCondLst>
                                    <p:cond delay="55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1400"/>
                                        <p:tgtEl>
                                          <p:spTgt spid="4"/>
                                        </p:tgtEl>
                                      </p:cBhvr>
                                    </p:animEffect>
                                  </p:childTnLst>
                                </p:cTn>
                              </p:par>
                              <p:par>
                                <p:cTn id="15" presetID="42" presetClass="entr" presetSubtype="0" fill="hold" grpId="0" nodeType="withEffect">
                                  <p:stCondLst>
                                    <p:cond delay="600"/>
                                  </p:stCondLst>
                                  <p:childTnLst>
                                    <p:set>
                                      <p:cBhvr>
                                        <p:cTn id="16" dur="1" fill="hold">
                                          <p:stCondLst>
                                            <p:cond delay="0"/>
                                          </p:stCondLst>
                                        </p:cTn>
                                        <p:tgtEl>
                                          <p:spTgt spid="6"/>
                                        </p:tgtEl>
                                        <p:attrNameLst>
                                          <p:attrName>style.visibility</p:attrName>
                                        </p:attrNameLst>
                                      </p:cBhvr>
                                      <p:to>
                                        <p:strVal val="visible"/>
                                      </p:to>
                                    </p:set>
                                    <p:anim calcmode="lin" valueType="num">
                                      <p:cBhvr>
                                        <p:cTn id="17" dur="550" fill="hold"/>
                                        <p:tgtEl>
                                          <p:spTgt spid="6"/>
                                        </p:tgtEl>
                                        <p:attrNameLst>
                                          <p:attrName>ppt_y</p:attrName>
                                        </p:attrNameLst>
                                      </p:cBhvr>
                                      <p:tavLst>
                                        <p:tav tm="0">
                                          <p:val>
                                            <p:strVal val="#ppt_y+.05"/>
                                          </p:val>
                                        </p:tav>
                                        <p:tav tm="100000">
                                          <p:val>
                                            <p:strVal val="#ppt_y"/>
                                          </p:val>
                                        </p:tav>
                                      </p:tavLst>
                                    </p:anim>
                                    <p:animEffect transition="in" filter="fade">
                                      <p:cBhvr>
                                        <p:cTn id="18" dur="550"/>
                                        <p:tgtEl>
                                          <p:spTgt spid="6"/>
                                        </p:tgtEl>
                                      </p:cBhvr>
                                    </p:animEffect>
                                  </p:childTnLst>
                                </p:cTn>
                              </p:par>
                              <p:par>
                                <p:cTn id="19" presetID="42" presetClass="entr" presetSubtype="0" fill="hold" grpId="0" nodeType="withEffect">
                                  <p:stCondLst>
                                    <p:cond delay="600"/>
                                  </p:stCondLst>
                                  <p:childTnLst>
                                    <p:set>
                                      <p:cBhvr>
                                        <p:cTn id="20" dur="1" fill="hold">
                                          <p:stCondLst>
                                            <p:cond delay="0"/>
                                          </p:stCondLst>
                                        </p:cTn>
                                        <p:tgtEl>
                                          <p:spTgt spid="7"/>
                                        </p:tgtEl>
                                        <p:attrNameLst>
                                          <p:attrName>style.visibility</p:attrName>
                                        </p:attrNameLst>
                                      </p:cBhvr>
                                      <p:to>
                                        <p:strVal val="visible"/>
                                      </p:to>
                                    </p:set>
                                    <p:anim calcmode="lin" valueType="num">
                                      <p:cBhvr>
                                        <p:cTn id="21" dur="550" fill="hold"/>
                                        <p:tgtEl>
                                          <p:spTgt spid="7"/>
                                        </p:tgtEl>
                                        <p:attrNameLst>
                                          <p:attrName>ppt_y</p:attrName>
                                        </p:attrNameLst>
                                      </p:cBhvr>
                                      <p:tavLst>
                                        <p:tav tm="0">
                                          <p:val>
                                            <p:strVal val="#ppt_y+.05"/>
                                          </p:val>
                                        </p:tav>
                                        <p:tav tm="100000">
                                          <p:val>
                                            <p:strVal val="#ppt_y"/>
                                          </p:val>
                                        </p:tav>
                                      </p:tavLst>
                                    </p:anim>
                                    <p:animEffect transition="in" filter="fade">
                                      <p:cBhvr>
                                        <p:cTn id="22" dur="550"/>
                                        <p:tgtEl>
                                          <p:spTgt spid="7"/>
                                        </p:tgtEl>
                                      </p:cBhvr>
                                    </p:animEffect>
                                  </p:childTnLst>
                                </p:cTn>
                              </p:par>
                              <p:par>
                                <p:cTn id="23" presetID="42" presetClass="entr" presetSubtype="0" fill="hold" grpId="0" nodeType="withEffect">
                                  <p:stCondLst>
                                    <p:cond delay="600"/>
                                  </p:stCondLst>
                                  <p:childTnLst>
                                    <p:set>
                                      <p:cBhvr>
                                        <p:cTn id="24" dur="1" fill="hold">
                                          <p:stCondLst>
                                            <p:cond delay="0"/>
                                          </p:stCondLst>
                                        </p:cTn>
                                        <p:tgtEl>
                                          <p:spTgt spid="8"/>
                                        </p:tgtEl>
                                        <p:attrNameLst>
                                          <p:attrName>style.visibility</p:attrName>
                                        </p:attrNameLst>
                                      </p:cBhvr>
                                      <p:to>
                                        <p:strVal val="visible"/>
                                      </p:to>
                                    </p:set>
                                    <p:anim calcmode="lin" valueType="num">
                                      <p:cBhvr>
                                        <p:cTn id="25" dur="550" fill="hold"/>
                                        <p:tgtEl>
                                          <p:spTgt spid="8"/>
                                        </p:tgtEl>
                                        <p:attrNameLst>
                                          <p:attrName>ppt_y</p:attrName>
                                        </p:attrNameLst>
                                      </p:cBhvr>
                                      <p:tavLst>
                                        <p:tav tm="0">
                                          <p:val>
                                            <p:strVal val="#ppt_y+.05"/>
                                          </p:val>
                                        </p:tav>
                                        <p:tav tm="100000">
                                          <p:val>
                                            <p:strVal val="#ppt_y"/>
                                          </p:val>
                                        </p:tav>
                                      </p:tavLst>
                                    </p:anim>
                                    <p:animEffect transition="in" filter="fade">
                                      <p:cBhvr>
                                        <p:cTn id="26" dur="550"/>
                                        <p:tgtEl>
                                          <p:spTgt spid="8"/>
                                        </p:tgtEl>
                                      </p:cBhvr>
                                    </p:animEffect>
                                  </p:childTnLst>
                                </p:cTn>
                              </p:par>
                              <p:par>
                                <p:cTn id="27" presetID="42" presetClass="entr" presetSubtype="0" fill="hold" grpId="0" nodeType="withEffect">
                                  <p:stCondLst>
                                    <p:cond delay="900"/>
                                  </p:stCondLst>
                                  <p:childTnLst>
                                    <p:set>
                                      <p:cBhvr>
                                        <p:cTn id="28" dur="1" fill="hold">
                                          <p:stCondLst>
                                            <p:cond delay="0"/>
                                          </p:stCondLst>
                                        </p:cTn>
                                        <p:tgtEl>
                                          <p:spTgt spid="9"/>
                                        </p:tgtEl>
                                        <p:attrNameLst>
                                          <p:attrName>style.visibility</p:attrName>
                                        </p:attrNameLst>
                                      </p:cBhvr>
                                      <p:to>
                                        <p:strVal val="visible"/>
                                      </p:to>
                                    </p:set>
                                    <p:anim calcmode="lin" valueType="num">
                                      <p:cBhvr>
                                        <p:cTn id="29" dur="550" fill="hold"/>
                                        <p:tgtEl>
                                          <p:spTgt spid="9"/>
                                        </p:tgtEl>
                                        <p:attrNameLst>
                                          <p:attrName>ppt_y</p:attrName>
                                        </p:attrNameLst>
                                      </p:cBhvr>
                                      <p:tavLst>
                                        <p:tav tm="0">
                                          <p:val>
                                            <p:strVal val="#ppt_y+.05"/>
                                          </p:val>
                                        </p:tav>
                                        <p:tav tm="100000">
                                          <p:val>
                                            <p:strVal val="#ppt_y"/>
                                          </p:val>
                                        </p:tav>
                                      </p:tavLst>
                                    </p:anim>
                                    <p:animEffect transition="in" filter="fade">
                                      <p:cBhvr>
                                        <p:cTn id="30" dur="550"/>
                                        <p:tgtEl>
                                          <p:spTgt spid="9"/>
                                        </p:tgtEl>
                                      </p:cBhvr>
                                    </p:animEffect>
                                  </p:childTnLst>
                                </p:cTn>
                              </p:par>
                              <p:par>
                                <p:cTn id="31" presetID="42" presetClass="entr" presetSubtype="0" fill="hold" grpId="0" nodeType="withEffect">
                                  <p:stCondLst>
                                    <p:cond delay="900"/>
                                  </p:stCondLst>
                                  <p:childTnLst>
                                    <p:set>
                                      <p:cBhvr>
                                        <p:cTn id="32" dur="1" fill="hold">
                                          <p:stCondLst>
                                            <p:cond delay="0"/>
                                          </p:stCondLst>
                                        </p:cTn>
                                        <p:tgtEl>
                                          <p:spTgt spid="10"/>
                                        </p:tgtEl>
                                        <p:attrNameLst>
                                          <p:attrName>style.visibility</p:attrName>
                                        </p:attrNameLst>
                                      </p:cBhvr>
                                      <p:to>
                                        <p:strVal val="visible"/>
                                      </p:to>
                                    </p:set>
                                    <p:anim calcmode="lin" valueType="num">
                                      <p:cBhvr>
                                        <p:cTn id="33" dur="550" fill="hold"/>
                                        <p:tgtEl>
                                          <p:spTgt spid="10"/>
                                        </p:tgtEl>
                                        <p:attrNameLst>
                                          <p:attrName>ppt_y</p:attrName>
                                        </p:attrNameLst>
                                      </p:cBhvr>
                                      <p:tavLst>
                                        <p:tav tm="0">
                                          <p:val>
                                            <p:strVal val="#ppt_y+.05"/>
                                          </p:val>
                                        </p:tav>
                                        <p:tav tm="100000">
                                          <p:val>
                                            <p:strVal val="#ppt_y"/>
                                          </p:val>
                                        </p:tav>
                                      </p:tavLst>
                                    </p:anim>
                                    <p:animEffect transition="in" filter="fade">
                                      <p:cBhvr>
                                        <p:cTn id="34" dur="550"/>
                                        <p:tgtEl>
                                          <p:spTgt spid="10"/>
                                        </p:tgtEl>
                                      </p:cBhvr>
                                    </p:animEffect>
                                  </p:childTnLst>
                                </p:cTn>
                              </p:par>
                              <p:par>
                                <p:cTn id="35" presetID="42" presetClass="entr" presetSubtype="0" fill="hold" grpId="0" nodeType="withEffect">
                                  <p:stCondLst>
                                    <p:cond delay="900"/>
                                  </p:stCondLst>
                                  <p:childTnLst>
                                    <p:set>
                                      <p:cBhvr>
                                        <p:cTn id="36" dur="1" fill="hold">
                                          <p:stCondLst>
                                            <p:cond delay="0"/>
                                          </p:stCondLst>
                                        </p:cTn>
                                        <p:tgtEl>
                                          <p:spTgt spid="11"/>
                                        </p:tgtEl>
                                        <p:attrNameLst>
                                          <p:attrName>style.visibility</p:attrName>
                                        </p:attrNameLst>
                                      </p:cBhvr>
                                      <p:to>
                                        <p:strVal val="visible"/>
                                      </p:to>
                                    </p:set>
                                    <p:anim calcmode="lin" valueType="num">
                                      <p:cBhvr>
                                        <p:cTn id="37" dur="550" fill="hold"/>
                                        <p:tgtEl>
                                          <p:spTgt spid="11"/>
                                        </p:tgtEl>
                                        <p:attrNameLst>
                                          <p:attrName>ppt_y</p:attrName>
                                        </p:attrNameLst>
                                      </p:cBhvr>
                                      <p:tavLst>
                                        <p:tav tm="0">
                                          <p:val>
                                            <p:strVal val="#ppt_y+.05"/>
                                          </p:val>
                                        </p:tav>
                                        <p:tav tm="100000">
                                          <p:val>
                                            <p:strVal val="#ppt_y"/>
                                          </p:val>
                                        </p:tav>
                                      </p:tavLst>
                                    </p:anim>
                                    <p:animEffect transition="in" filter="fade">
                                      <p:cBhvr>
                                        <p:cTn id="38" dur="550"/>
                                        <p:tgtEl>
                                          <p:spTgt spid="11"/>
                                        </p:tgtEl>
                                      </p:cBhvr>
                                    </p:animEffect>
                                  </p:childTnLst>
                                </p:cTn>
                              </p:par>
                              <p:par>
                                <p:cTn id="39" presetID="42" presetClass="entr" presetSubtype="0" fill="hold" grpId="0" nodeType="withEffect">
                                  <p:stCondLst>
                                    <p:cond delay="1200"/>
                                  </p:stCondLst>
                                  <p:childTnLst>
                                    <p:set>
                                      <p:cBhvr>
                                        <p:cTn id="40" dur="1" fill="hold">
                                          <p:stCondLst>
                                            <p:cond delay="0"/>
                                          </p:stCondLst>
                                        </p:cTn>
                                        <p:tgtEl>
                                          <p:spTgt spid="12"/>
                                        </p:tgtEl>
                                        <p:attrNameLst>
                                          <p:attrName>style.visibility</p:attrName>
                                        </p:attrNameLst>
                                      </p:cBhvr>
                                      <p:to>
                                        <p:strVal val="visible"/>
                                      </p:to>
                                    </p:set>
                                    <p:anim calcmode="lin" valueType="num">
                                      <p:cBhvr>
                                        <p:cTn id="41" dur="550" fill="hold"/>
                                        <p:tgtEl>
                                          <p:spTgt spid="12"/>
                                        </p:tgtEl>
                                        <p:attrNameLst>
                                          <p:attrName>ppt_y</p:attrName>
                                        </p:attrNameLst>
                                      </p:cBhvr>
                                      <p:tavLst>
                                        <p:tav tm="0">
                                          <p:val>
                                            <p:strVal val="#ppt_y+.05"/>
                                          </p:val>
                                        </p:tav>
                                        <p:tav tm="100000">
                                          <p:val>
                                            <p:strVal val="#ppt_y"/>
                                          </p:val>
                                        </p:tav>
                                      </p:tavLst>
                                    </p:anim>
                                    <p:animEffect transition="in" filter="fade">
                                      <p:cBhvr>
                                        <p:cTn id="42" dur="550"/>
                                        <p:tgtEl>
                                          <p:spTgt spid="12"/>
                                        </p:tgtEl>
                                      </p:cBhvr>
                                    </p:animEffect>
                                  </p:childTnLst>
                                </p:cTn>
                              </p:par>
                              <p:par>
                                <p:cTn id="43" presetID="42" presetClass="entr" presetSubtype="0" fill="hold" grpId="0" nodeType="withEffect">
                                  <p:stCondLst>
                                    <p:cond delay="1200"/>
                                  </p:stCondLst>
                                  <p:childTnLst>
                                    <p:set>
                                      <p:cBhvr>
                                        <p:cTn id="44" dur="1" fill="hold">
                                          <p:stCondLst>
                                            <p:cond delay="0"/>
                                          </p:stCondLst>
                                        </p:cTn>
                                        <p:tgtEl>
                                          <p:spTgt spid="13"/>
                                        </p:tgtEl>
                                        <p:attrNameLst>
                                          <p:attrName>style.visibility</p:attrName>
                                        </p:attrNameLst>
                                      </p:cBhvr>
                                      <p:to>
                                        <p:strVal val="visible"/>
                                      </p:to>
                                    </p:set>
                                    <p:anim calcmode="lin" valueType="num">
                                      <p:cBhvr>
                                        <p:cTn id="45" dur="550" fill="hold"/>
                                        <p:tgtEl>
                                          <p:spTgt spid="13"/>
                                        </p:tgtEl>
                                        <p:attrNameLst>
                                          <p:attrName>ppt_y</p:attrName>
                                        </p:attrNameLst>
                                      </p:cBhvr>
                                      <p:tavLst>
                                        <p:tav tm="0">
                                          <p:val>
                                            <p:strVal val="#ppt_y+.05"/>
                                          </p:val>
                                        </p:tav>
                                        <p:tav tm="100000">
                                          <p:val>
                                            <p:strVal val="#ppt_y"/>
                                          </p:val>
                                        </p:tav>
                                      </p:tavLst>
                                    </p:anim>
                                    <p:animEffect transition="in" filter="fade">
                                      <p:cBhvr>
                                        <p:cTn id="46" dur="550"/>
                                        <p:tgtEl>
                                          <p:spTgt spid="13"/>
                                        </p:tgtEl>
                                      </p:cBhvr>
                                    </p:animEffect>
                                  </p:childTnLst>
                                </p:cTn>
                              </p:par>
                              <p:par>
                                <p:cTn id="47" presetID="42" presetClass="entr" presetSubtype="0" fill="hold" grpId="0" nodeType="withEffect">
                                  <p:stCondLst>
                                    <p:cond delay="1200"/>
                                  </p:stCondLst>
                                  <p:childTnLst>
                                    <p:set>
                                      <p:cBhvr>
                                        <p:cTn id="48" dur="1" fill="hold">
                                          <p:stCondLst>
                                            <p:cond delay="0"/>
                                          </p:stCondLst>
                                        </p:cTn>
                                        <p:tgtEl>
                                          <p:spTgt spid="14"/>
                                        </p:tgtEl>
                                        <p:attrNameLst>
                                          <p:attrName>style.visibility</p:attrName>
                                        </p:attrNameLst>
                                      </p:cBhvr>
                                      <p:to>
                                        <p:strVal val="visible"/>
                                      </p:to>
                                    </p:set>
                                    <p:anim calcmode="lin" valueType="num">
                                      <p:cBhvr>
                                        <p:cTn id="49" dur="550" fill="hold"/>
                                        <p:tgtEl>
                                          <p:spTgt spid="14"/>
                                        </p:tgtEl>
                                        <p:attrNameLst>
                                          <p:attrName>ppt_y</p:attrName>
                                        </p:attrNameLst>
                                      </p:cBhvr>
                                      <p:tavLst>
                                        <p:tav tm="0">
                                          <p:val>
                                            <p:strVal val="#ppt_y+.05"/>
                                          </p:val>
                                        </p:tav>
                                        <p:tav tm="100000">
                                          <p:val>
                                            <p:strVal val="#ppt_y"/>
                                          </p:val>
                                        </p:tav>
                                      </p:tavLst>
                                    </p:anim>
                                    <p:animEffect transition="in" filter="fade">
                                      <p:cBhvr>
                                        <p:cTn id="50" dur="550"/>
                                        <p:tgtEl>
                                          <p:spTgt spid="14"/>
                                        </p:tgtEl>
                                      </p:cBhvr>
                                    </p:animEffect>
                                  </p:childTnLst>
                                </p:cTn>
                              </p:par>
                              <p:par>
                                <p:cTn id="51" presetID="42" presetClass="entr" presetSubtype="0" fill="hold" nodeType="withEffect">
                                  <p:stCondLst>
                                    <p:cond delay="1200"/>
                                  </p:stCondLst>
                                  <p:childTnLst>
                                    <p:set>
                                      <p:cBhvr>
                                        <p:cTn id="52" dur="1" fill="hold">
                                          <p:stCondLst>
                                            <p:cond delay="0"/>
                                          </p:stCondLst>
                                        </p:cTn>
                                        <p:tgtEl>
                                          <p:spTgt spid="31"/>
                                        </p:tgtEl>
                                        <p:attrNameLst>
                                          <p:attrName>style.visibility</p:attrName>
                                        </p:attrNameLst>
                                      </p:cBhvr>
                                      <p:to>
                                        <p:strVal val="visible"/>
                                      </p:to>
                                    </p:set>
                                    <p:anim calcmode="lin" valueType="num">
                                      <p:cBhvr>
                                        <p:cTn id="53" dur="800" fill="hold"/>
                                        <p:tgtEl>
                                          <p:spTgt spid="31"/>
                                        </p:tgtEl>
                                        <p:attrNameLst>
                                          <p:attrName>ppt_y</p:attrName>
                                        </p:attrNameLst>
                                      </p:cBhvr>
                                      <p:tavLst>
                                        <p:tav tm="0">
                                          <p:val>
                                            <p:strVal val="#ppt_y+.05"/>
                                          </p:val>
                                        </p:tav>
                                        <p:tav tm="100000">
                                          <p:val>
                                            <p:strVal val="#ppt_y"/>
                                          </p:val>
                                        </p:tav>
                                      </p:tavLst>
                                    </p:anim>
                                    <p:animEffect transition="in" filter="fade">
                                      <p:cBhvr>
                                        <p:cTn id="54" dur="800"/>
                                        <p:tgtEl>
                                          <p:spTgt spid="31"/>
                                        </p:tgtEl>
                                      </p:cBhvr>
                                    </p:animEffect>
                                  </p:childTnLst>
                                </p:cTn>
                              </p:par>
                              <p:par>
                                <p:cTn id="55" presetID="42" presetClass="entr" presetSubtype="0" fill="hold" grpId="0" nodeType="withEffect">
                                  <p:stCondLst>
                                    <p:cond delay="1500"/>
                                  </p:stCondLst>
                                  <p:childTnLst>
                                    <p:set>
                                      <p:cBhvr>
                                        <p:cTn id="56" dur="1" fill="hold">
                                          <p:stCondLst>
                                            <p:cond delay="0"/>
                                          </p:stCondLst>
                                        </p:cTn>
                                        <p:tgtEl>
                                          <p:spTgt spid="15"/>
                                        </p:tgtEl>
                                        <p:attrNameLst>
                                          <p:attrName>style.visibility</p:attrName>
                                        </p:attrNameLst>
                                      </p:cBhvr>
                                      <p:to>
                                        <p:strVal val="visible"/>
                                      </p:to>
                                    </p:set>
                                    <p:anim calcmode="lin" valueType="num">
                                      <p:cBhvr>
                                        <p:cTn id="57" dur="550" fill="hold"/>
                                        <p:tgtEl>
                                          <p:spTgt spid="15"/>
                                        </p:tgtEl>
                                        <p:attrNameLst>
                                          <p:attrName>ppt_y</p:attrName>
                                        </p:attrNameLst>
                                      </p:cBhvr>
                                      <p:tavLst>
                                        <p:tav tm="0">
                                          <p:val>
                                            <p:strVal val="#ppt_y+.05"/>
                                          </p:val>
                                        </p:tav>
                                        <p:tav tm="100000">
                                          <p:val>
                                            <p:strVal val="#ppt_y"/>
                                          </p:val>
                                        </p:tav>
                                      </p:tavLst>
                                    </p:anim>
                                    <p:animEffect transition="in" filter="fade">
                                      <p:cBhvr>
                                        <p:cTn id="58" dur="550"/>
                                        <p:tgtEl>
                                          <p:spTgt spid="15"/>
                                        </p:tgtEl>
                                      </p:cBhvr>
                                    </p:animEffect>
                                  </p:childTnLst>
                                </p:cTn>
                              </p:par>
                              <p:par>
                                <p:cTn id="59" presetID="42" presetClass="entr" presetSubtype="0" fill="hold" grpId="0" nodeType="withEffect">
                                  <p:stCondLst>
                                    <p:cond delay="1500"/>
                                  </p:stCondLst>
                                  <p:childTnLst>
                                    <p:set>
                                      <p:cBhvr>
                                        <p:cTn id="60" dur="1" fill="hold">
                                          <p:stCondLst>
                                            <p:cond delay="0"/>
                                          </p:stCondLst>
                                        </p:cTn>
                                        <p:tgtEl>
                                          <p:spTgt spid="16"/>
                                        </p:tgtEl>
                                        <p:attrNameLst>
                                          <p:attrName>style.visibility</p:attrName>
                                        </p:attrNameLst>
                                      </p:cBhvr>
                                      <p:to>
                                        <p:strVal val="visible"/>
                                      </p:to>
                                    </p:set>
                                    <p:anim calcmode="lin" valueType="num">
                                      <p:cBhvr>
                                        <p:cTn id="61" dur="550" fill="hold"/>
                                        <p:tgtEl>
                                          <p:spTgt spid="16"/>
                                        </p:tgtEl>
                                        <p:attrNameLst>
                                          <p:attrName>ppt_y</p:attrName>
                                        </p:attrNameLst>
                                      </p:cBhvr>
                                      <p:tavLst>
                                        <p:tav tm="0">
                                          <p:val>
                                            <p:strVal val="#ppt_y+.05"/>
                                          </p:val>
                                        </p:tav>
                                        <p:tav tm="100000">
                                          <p:val>
                                            <p:strVal val="#ppt_y"/>
                                          </p:val>
                                        </p:tav>
                                      </p:tavLst>
                                    </p:anim>
                                    <p:animEffect transition="in" filter="fade">
                                      <p:cBhvr>
                                        <p:cTn id="62" dur="550"/>
                                        <p:tgtEl>
                                          <p:spTgt spid="16"/>
                                        </p:tgtEl>
                                      </p:cBhvr>
                                    </p:animEffect>
                                  </p:childTnLst>
                                </p:cTn>
                              </p:par>
                              <p:par>
                                <p:cTn id="63" presetID="42" presetClass="entr" presetSubtype="0" fill="hold" grpId="0" nodeType="withEffect">
                                  <p:stCondLst>
                                    <p:cond delay="1500"/>
                                  </p:stCondLst>
                                  <p:childTnLst>
                                    <p:set>
                                      <p:cBhvr>
                                        <p:cTn id="64" dur="1" fill="hold">
                                          <p:stCondLst>
                                            <p:cond delay="0"/>
                                          </p:stCondLst>
                                        </p:cTn>
                                        <p:tgtEl>
                                          <p:spTgt spid="17"/>
                                        </p:tgtEl>
                                        <p:attrNameLst>
                                          <p:attrName>style.visibility</p:attrName>
                                        </p:attrNameLst>
                                      </p:cBhvr>
                                      <p:to>
                                        <p:strVal val="visible"/>
                                      </p:to>
                                    </p:set>
                                    <p:anim calcmode="lin" valueType="num">
                                      <p:cBhvr>
                                        <p:cTn id="65" dur="550" fill="hold"/>
                                        <p:tgtEl>
                                          <p:spTgt spid="17"/>
                                        </p:tgtEl>
                                        <p:attrNameLst>
                                          <p:attrName>ppt_y</p:attrName>
                                        </p:attrNameLst>
                                      </p:cBhvr>
                                      <p:tavLst>
                                        <p:tav tm="0">
                                          <p:val>
                                            <p:strVal val="#ppt_y+.05"/>
                                          </p:val>
                                        </p:tav>
                                        <p:tav tm="100000">
                                          <p:val>
                                            <p:strVal val="#ppt_y"/>
                                          </p:val>
                                        </p:tav>
                                      </p:tavLst>
                                    </p:anim>
                                    <p:animEffect transition="in" filter="fade">
                                      <p:cBhvr>
                                        <p:cTn id="66" dur="550"/>
                                        <p:tgtEl>
                                          <p:spTgt spid="17"/>
                                        </p:tgtEl>
                                      </p:cBhvr>
                                    </p:animEffect>
                                  </p:childTnLst>
                                </p:cTn>
                              </p:par>
                              <p:par>
                                <p:cTn id="67" presetID="42" presetClass="entr" presetSubtype="0" fill="hold" grpId="0" nodeType="withEffect">
                                  <p:stCondLst>
                                    <p:cond delay="1800"/>
                                  </p:stCondLst>
                                  <p:childTnLst>
                                    <p:set>
                                      <p:cBhvr>
                                        <p:cTn id="68" dur="1" fill="hold">
                                          <p:stCondLst>
                                            <p:cond delay="0"/>
                                          </p:stCondLst>
                                        </p:cTn>
                                        <p:tgtEl>
                                          <p:spTgt spid="18"/>
                                        </p:tgtEl>
                                        <p:attrNameLst>
                                          <p:attrName>style.visibility</p:attrName>
                                        </p:attrNameLst>
                                      </p:cBhvr>
                                      <p:to>
                                        <p:strVal val="visible"/>
                                      </p:to>
                                    </p:set>
                                    <p:anim calcmode="lin" valueType="num">
                                      <p:cBhvr>
                                        <p:cTn id="69" dur="550" fill="hold"/>
                                        <p:tgtEl>
                                          <p:spTgt spid="18"/>
                                        </p:tgtEl>
                                        <p:attrNameLst>
                                          <p:attrName>ppt_y</p:attrName>
                                        </p:attrNameLst>
                                      </p:cBhvr>
                                      <p:tavLst>
                                        <p:tav tm="0">
                                          <p:val>
                                            <p:strVal val="#ppt_y+.05"/>
                                          </p:val>
                                        </p:tav>
                                        <p:tav tm="100000">
                                          <p:val>
                                            <p:strVal val="#ppt_y"/>
                                          </p:val>
                                        </p:tav>
                                      </p:tavLst>
                                    </p:anim>
                                    <p:animEffect transition="in" filter="fade">
                                      <p:cBhvr>
                                        <p:cTn id="70" dur="550"/>
                                        <p:tgtEl>
                                          <p:spTgt spid="18"/>
                                        </p:tgtEl>
                                      </p:cBhvr>
                                    </p:animEffect>
                                  </p:childTnLst>
                                </p:cTn>
                              </p:par>
                              <p:par>
                                <p:cTn id="71" presetID="42" presetClass="entr" presetSubtype="0" fill="hold" grpId="0" nodeType="withEffect">
                                  <p:stCondLst>
                                    <p:cond delay="1800"/>
                                  </p:stCondLst>
                                  <p:childTnLst>
                                    <p:set>
                                      <p:cBhvr>
                                        <p:cTn id="72" dur="1" fill="hold">
                                          <p:stCondLst>
                                            <p:cond delay="0"/>
                                          </p:stCondLst>
                                        </p:cTn>
                                        <p:tgtEl>
                                          <p:spTgt spid="19"/>
                                        </p:tgtEl>
                                        <p:attrNameLst>
                                          <p:attrName>style.visibility</p:attrName>
                                        </p:attrNameLst>
                                      </p:cBhvr>
                                      <p:to>
                                        <p:strVal val="visible"/>
                                      </p:to>
                                    </p:set>
                                    <p:anim calcmode="lin" valueType="num">
                                      <p:cBhvr>
                                        <p:cTn id="73" dur="550" fill="hold"/>
                                        <p:tgtEl>
                                          <p:spTgt spid="19"/>
                                        </p:tgtEl>
                                        <p:attrNameLst>
                                          <p:attrName>ppt_y</p:attrName>
                                        </p:attrNameLst>
                                      </p:cBhvr>
                                      <p:tavLst>
                                        <p:tav tm="0">
                                          <p:val>
                                            <p:strVal val="#ppt_y+.05"/>
                                          </p:val>
                                        </p:tav>
                                        <p:tav tm="100000">
                                          <p:val>
                                            <p:strVal val="#ppt_y"/>
                                          </p:val>
                                        </p:tav>
                                      </p:tavLst>
                                    </p:anim>
                                    <p:animEffect transition="in" filter="fade">
                                      <p:cBhvr>
                                        <p:cTn id="74" dur="550"/>
                                        <p:tgtEl>
                                          <p:spTgt spid="19"/>
                                        </p:tgtEl>
                                      </p:cBhvr>
                                    </p:animEffect>
                                  </p:childTnLst>
                                </p:cTn>
                              </p:par>
                              <p:par>
                                <p:cTn id="75" presetID="42" presetClass="entr" presetSubtype="0" fill="hold" grpId="0" nodeType="withEffect">
                                  <p:stCondLst>
                                    <p:cond delay="1800"/>
                                  </p:stCondLst>
                                  <p:childTnLst>
                                    <p:set>
                                      <p:cBhvr>
                                        <p:cTn id="76" dur="1" fill="hold">
                                          <p:stCondLst>
                                            <p:cond delay="0"/>
                                          </p:stCondLst>
                                        </p:cTn>
                                        <p:tgtEl>
                                          <p:spTgt spid="20"/>
                                        </p:tgtEl>
                                        <p:attrNameLst>
                                          <p:attrName>style.visibility</p:attrName>
                                        </p:attrNameLst>
                                      </p:cBhvr>
                                      <p:to>
                                        <p:strVal val="visible"/>
                                      </p:to>
                                    </p:set>
                                    <p:anim calcmode="lin" valueType="num">
                                      <p:cBhvr>
                                        <p:cTn id="77" dur="550" fill="hold"/>
                                        <p:tgtEl>
                                          <p:spTgt spid="20"/>
                                        </p:tgtEl>
                                        <p:attrNameLst>
                                          <p:attrName>ppt_y</p:attrName>
                                        </p:attrNameLst>
                                      </p:cBhvr>
                                      <p:tavLst>
                                        <p:tav tm="0">
                                          <p:val>
                                            <p:strVal val="#ppt_y+.05"/>
                                          </p:val>
                                        </p:tav>
                                        <p:tav tm="100000">
                                          <p:val>
                                            <p:strVal val="#ppt_y"/>
                                          </p:val>
                                        </p:tav>
                                      </p:tavLst>
                                    </p:anim>
                                    <p:animEffect transition="in" filter="fade">
                                      <p:cBhvr>
                                        <p:cTn id="78" dur="550"/>
                                        <p:tgtEl>
                                          <p:spTgt spid="20"/>
                                        </p:tgtEl>
                                      </p:cBhvr>
                                    </p:animEffect>
                                  </p:childTnLst>
                                </p:cTn>
                              </p:par>
                              <p:par>
                                <p:cTn id="79" presetID="10" presetClass="entr" presetSubtype="0" fill="hold" grpId="0" nodeType="withEffect">
                                  <p:stCondLst>
                                    <p:cond delay="1800"/>
                                  </p:stCondLst>
                                  <p:childTnLst>
                                    <p:set>
                                      <p:cBhvr>
                                        <p:cTn id="80" dur="1" fill="hold">
                                          <p:stCondLst>
                                            <p:cond delay="0"/>
                                          </p:stCondLst>
                                        </p:cTn>
                                        <p:tgtEl>
                                          <p:spTgt spid="32"/>
                                        </p:tgtEl>
                                        <p:attrNameLst>
                                          <p:attrName>style.visibility</p:attrName>
                                        </p:attrNameLst>
                                      </p:cBhvr>
                                      <p:to>
                                        <p:strVal val="visible"/>
                                      </p:to>
                                    </p:set>
                                    <p:animEffect transition="in" filter="fade">
                                      <p:cBhvr>
                                        <p:cTn id="81" dur="500"/>
                                        <p:tgtEl>
                                          <p:spTgt spid="32"/>
                                        </p:tgtEl>
                                      </p:cBhvr>
                                    </p:animEffect>
                                  </p:childTnLst>
                                </p:cTn>
                              </p:par>
                              <p:par>
                                <p:cTn id="82" presetID="22" presetClass="entr" presetSubtype="8" fill="hold" grpId="0" nodeType="withEffect">
                                  <p:stCondLst>
                                    <p:cond delay="1900"/>
                                  </p:stCondLst>
                                  <p:childTnLst>
                                    <p:set>
                                      <p:cBhvr>
                                        <p:cTn id="83" dur="1" fill="hold">
                                          <p:stCondLst>
                                            <p:cond delay="0"/>
                                          </p:stCondLst>
                                        </p:cTn>
                                        <p:tgtEl>
                                          <p:spTgt spid="5"/>
                                        </p:tgtEl>
                                        <p:attrNameLst>
                                          <p:attrName>style.visibility</p:attrName>
                                        </p:attrNameLst>
                                      </p:cBhvr>
                                      <p:to>
                                        <p:strVal val="visible"/>
                                      </p:to>
                                    </p:set>
                                    <p:animEffect transition="in" filter="wipe(left)">
                                      <p:cBhvr>
                                        <p:cTn id="84" dur="500"/>
                                        <p:tgtEl>
                                          <p:spTgt spid="5"/>
                                        </p:tgtEl>
                                      </p:cBhvr>
                                    </p:animEffect>
                                  </p:childTnLst>
                                </p:cTn>
                              </p:par>
                              <p:par>
                                <p:cTn id="85" presetID="10" presetClass="entr" presetSubtype="0" fill="hold" grpId="0" nodeType="withEffect">
                                  <p:stCondLst>
                                    <p:cond delay="200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500"/>
                                        <p:tgtEl>
                                          <p:spTgt spid="21"/>
                                        </p:tgtEl>
                                      </p:cBhvr>
                                    </p:animEffect>
                                  </p:childTnLst>
                                </p:cTn>
                              </p:par>
                              <p:par>
                                <p:cTn id="88" presetID="10" presetClass="entr" presetSubtype="0" fill="hold" nodeType="withEffect">
                                  <p:stCondLst>
                                    <p:cond delay="2000"/>
                                  </p:stCondLst>
                                  <p:childTnLst>
                                    <p:set>
                                      <p:cBhvr>
                                        <p:cTn id="89" dur="1" fill="hold">
                                          <p:stCondLst>
                                            <p:cond delay="0"/>
                                          </p:stCondLst>
                                        </p:cTn>
                                        <p:tgtEl>
                                          <p:spTgt spid="22"/>
                                        </p:tgtEl>
                                        <p:attrNameLst>
                                          <p:attrName>style.visibility</p:attrName>
                                        </p:attrNameLst>
                                      </p:cBhvr>
                                      <p:to>
                                        <p:strVal val="visible"/>
                                      </p:to>
                                    </p:set>
                                    <p:animEffect transition="in" filter="fade">
                                      <p:cBhvr>
                                        <p:cTn id="90" dur="500"/>
                                        <p:tgtEl>
                                          <p:spTgt spid="22"/>
                                        </p:tgtEl>
                                      </p:cBhvr>
                                    </p:animEffect>
                                  </p:childTnLst>
                                </p:cTn>
                              </p:par>
                              <p:par>
                                <p:cTn id="91" presetID="10" presetClass="entr" presetSubtype="0" fill="hold" grpId="0" nodeType="withEffect">
                                  <p:stCondLst>
                                    <p:cond delay="2200"/>
                                  </p:stCondLst>
                                  <p:childTnLst>
                                    <p:set>
                                      <p:cBhvr>
                                        <p:cTn id="92" dur="1" fill="hold">
                                          <p:stCondLst>
                                            <p:cond delay="0"/>
                                          </p:stCondLst>
                                        </p:cTn>
                                        <p:tgtEl>
                                          <p:spTgt spid="23"/>
                                        </p:tgtEl>
                                        <p:attrNameLst>
                                          <p:attrName>style.visibility</p:attrName>
                                        </p:attrNameLst>
                                      </p:cBhvr>
                                      <p:to>
                                        <p:strVal val="visible"/>
                                      </p:to>
                                    </p:set>
                                    <p:animEffect transition="in" filter="fade">
                                      <p:cBhvr>
                                        <p:cTn id="93" dur="500"/>
                                        <p:tgtEl>
                                          <p:spTgt spid="23"/>
                                        </p:tgtEl>
                                      </p:cBhvr>
                                    </p:animEffect>
                                  </p:childTnLst>
                                </p:cTn>
                              </p:par>
                              <p:par>
                                <p:cTn id="94" presetID="10" presetClass="entr" presetSubtype="0" fill="hold" grpId="0" nodeType="withEffect">
                                  <p:stCondLst>
                                    <p:cond delay="2400"/>
                                  </p:stCondLst>
                                  <p:childTnLst>
                                    <p:set>
                                      <p:cBhvr>
                                        <p:cTn id="95" dur="1" fill="hold">
                                          <p:stCondLst>
                                            <p:cond delay="0"/>
                                          </p:stCondLst>
                                        </p:cTn>
                                        <p:tgtEl>
                                          <p:spTgt spid="24"/>
                                        </p:tgtEl>
                                        <p:attrNameLst>
                                          <p:attrName>style.visibility</p:attrName>
                                        </p:attrNameLst>
                                      </p:cBhvr>
                                      <p:to>
                                        <p:strVal val="visible"/>
                                      </p:to>
                                    </p:set>
                                    <p:animEffect transition="in" filter="fade">
                                      <p:cBhvr>
                                        <p:cTn id="96" dur="500"/>
                                        <p:tgtEl>
                                          <p:spTgt spid="24"/>
                                        </p:tgtEl>
                                      </p:cBhvr>
                                    </p:animEffect>
                                  </p:childTnLst>
                                </p:cTn>
                              </p:par>
                              <p:par>
                                <p:cTn id="97" presetID="10" presetClass="entr" presetSubtype="0" fill="hold" grpId="0" nodeType="withEffect">
                                  <p:stCondLst>
                                    <p:cond delay="2500"/>
                                  </p:stCondLst>
                                  <p:childTnLst>
                                    <p:set>
                                      <p:cBhvr>
                                        <p:cTn id="98" dur="1" fill="hold">
                                          <p:stCondLst>
                                            <p:cond delay="0"/>
                                          </p:stCondLst>
                                        </p:cTn>
                                        <p:tgtEl>
                                          <p:spTgt spid="25"/>
                                        </p:tgtEl>
                                        <p:attrNameLst>
                                          <p:attrName>style.visibility</p:attrName>
                                        </p:attrNameLst>
                                      </p:cBhvr>
                                      <p:to>
                                        <p:strVal val="visible"/>
                                      </p:to>
                                    </p:set>
                                    <p:animEffect transition="in" filter="fade">
                                      <p:cBhvr>
                                        <p:cTn id="99" dur="500"/>
                                        <p:tgtEl>
                                          <p:spTgt spid="25"/>
                                        </p:tgtEl>
                                      </p:cBhvr>
                                    </p:animEffect>
                                  </p:childTnLst>
                                </p:cTn>
                              </p:par>
                              <p:par>
                                <p:cTn id="100" presetID="10" presetClass="entr" presetSubtype="0" fill="hold" grpId="0" nodeType="withEffect">
                                  <p:stCondLst>
                                    <p:cond delay="2650"/>
                                  </p:stCondLst>
                                  <p:childTnLst>
                                    <p:set>
                                      <p:cBhvr>
                                        <p:cTn id="101" dur="1" fill="hold">
                                          <p:stCondLst>
                                            <p:cond delay="0"/>
                                          </p:stCondLst>
                                        </p:cTn>
                                        <p:tgtEl>
                                          <p:spTgt spid="26"/>
                                        </p:tgtEl>
                                        <p:attrNameLst>
                                          <p:attrName>style.visibility</p:attrName>
                                        </p:attrNameLst>
                                      </p:cBhvr>
                                      <p:to>
                                        <p:strVal val="visible"/>
                                      </p:to>
                                    </p:set>
                                    <p:animEffect transition="in" filter="fade">
                                      <p:cBhvr>
                                        <p:cTn id="102" dur="500"/>
                                        <p:tgtEl>
                                          <p:spTgt spid="26"/>
                                        </p:tgtEl>
                                      </p:cBhvr>
                                    </p:animEffect>
                                  </p:childTnLst>
                                </p:cTn>
                              </p:par>
                              <p:par>
                                <p:cTn id="103" presetID="10" presetClass="entr" presetSubtype="0" fill="hold" grpId="0" nodeType="withEffect">
                                  <p:stCondLst>
                                    <p:cond delay="2800"/>
                                  </p:stCondLst>
                                  <p:childTnLst>
                                    <p:set>
                                      <p:cBhvr>
                                        <p:cTn id="104" dur="1" fill="hold">
                                          <p:stCondLst>
                                            <p:cond delay="0"/>
                                          </p:stCondLst>
                                        </p:cTn>
                                        <p:tgtEl>
                                          <p:spTgt spid="27"/>
                                        </p:tgtEl>
                                        <p:attrNameLst>
                                          <p:attrName>style.visibility</p:attrName>
                                        </p:attrNameLst>
                                      </p:cBhvr>
                                      <p:to>
                                        <p:strVal val="visible"/>
                                      </p:to>
                                    </p:set>
                                    <p:animEffect transition="in" filter="fade">
                                      <p:cBhvr>
                                        <p:cTn id="105" dur="500"/>
                                        <p:tgtEl>
                                          <p:spTgt spid="27"/>
                                        </p:tgtEl>
                                      </p:cBhvr>
                                    </p:animEffect>
                                  </p:childTnLst>
                                </p:cTn>
                              </p:par>
                              <p:par>
                                <p:cTn id="106" presetID="10" presetClass="entr" presetSubtype="0" fill="hold" grpId="0" nodeType="withEffect">
                                  <p:stCondLst>
                                    <p:cond delay="2950"/>
                                  </p:stCondLst>
                                  <p:childTnLst>
                                    <p:set>
                                      <p:cBhvr>
                                        <p:cTn id="107" dur="1" fill="hold">
                                          <p:stCondLst>
                                            <p:cond delay="0"/>
                                          </p:stCondLst>
                                        </p:cTn>
                                        <p:tgtEl>
                                          <p:spTgt spid="28"/>
                                        </p:tgtEl>
                                        <p:attrNameLst>
                                          <p:attrName>style.visibility</p:attrName>
                                        </p:attrNameLst>
                                      </p:cBhvr>
                                      <p:to>
                                        <p:strVal val="visible"/>
                                      </p:to>
                                    </p:set>
                                    <p:animEffect transition="in" filter="fade">
                                      <p:cBhvr>
                                        <p:cTn id="108" dur="500"/>
                                        <p:tgtEl>
                                          <p:spTgt spid="28"/>
                                        </p:tgtEl>
                                      </p:cBhvr>
                                    </p:animEffect>
                                  </p:childTnLst>
                                </p:cTn>
                              </p:par>
                              <p:par>
                                <p:cTn id="109" presetID="10" presetClass="entr" presetSubtype="0" fill="hold" grpId="0" nodeType="withEffect">
                                  <p:stCondLst>
                                    <p:cond delay="3000"/>
                                  </p:stCondLst>
                                  <p:childTnLst>
                                    <p:set>
                                      <p:cBhvr>
                                        <p:cTn id="110" dur="1" fill="hold">
                                          <p:stCondLst>
                                            <p:cond delay="0"/>
                                          </p:stCondLst>
                                        </p:cTn>
                                        <p:tgtEl>
                                          <p:spTgt spid="29"/>
                                        </p:tgtEl>
                                        <p:attrNameLst>
                                          <p:attrName>style.visibility</p:attrName>
                                        </p:attrNameLst>
                                      </p:cBhvr>
                                      <p:to>
                                        <p:strVal val="visible"/>
                                      </p:to>
                                    </p:set>
                                    <p:animEffect transition="in" filter="fade">
                                      <p:cBhvr>
                                        <p:cTn id="111" dur="500"/>
                                        <p:tgtEl>
                                          <p:spTgt spid="29"/>
                                        </p:tgtEl>
                                      </p:cBhvr>
                                    </p:animEffect>
                                  </p:childTnLst>
                                </p:cTn>
                              </p:par>
                              <p:par>
                                <p:cTn id="112" presetID="10" presetClass="entr" presetSubtype="0" fill="hold" grpId="0" nodeType="withEffect">
                                  <p:stCondLst>
                                    <p:cond delay="320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6" grpId="0"/>
      <p:bldP spid="7" grpId="0" animBg="1"/>
      <p:bldP spid="8" grpId="0"/>
      <p:bldP spid="9" grpId="0"/>
      <p:bldP spid="10" grpId="0" animBg="1"/>
      <p:bldP spid="11" grpId="0"/>
      <p:bldP spid="12" grpId="0"/>
      <p:bldP spid="13" grpId="0" animBg="1"/>
      <p:bldP spid="14" grpId="0"/>
      <p:bldP spid="15" grpId="0"/>
      <p:bldP spid="16" grpId="0" animBg="1"/>
      <p:bldP spid="17" grpId="0"/>
      <p:bldP spid="18" grpId="0"/>
      <p:bldP spid="19" grpId="0" animBg="1"/>
      <p:bldP spid="20" grpId="0"/>
      <p:bldP spid="32" grpId="0"/>
      <p:bldP spid="5" grpId="0" animBg="1"/>
      <p:bldP spid="21" grpId="0" animBg="1"/>
      <p:bldP spid="23" grpId="0"/>
      <p:bldP spid="24" grpId="0"/>
      <p:bldP spid="25" grpId="0" animBg="1"/>
      <p:bldP spid="26" grpId="0" animBg="1"/>
      <p:bldP spid="27" grpId="0" animBg="1"/>
      <p:bldP spid="28" grpId="0" animBg="1"/>
      <p:bldP spid="29" grpId="0"/>
      <p:bldP spid="30" grpId="0"/>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Eyebrow"/>
          <p:cNvSpPr txBox="1"/>
          <p:nvPr/>
        </p:nvSpPr>
        <p:spPr>
          <a:xfrm>
            <a:off x="685800" y="502920"/>
            <a:ext cx="7315200" cy="274320"/>
          </a:xfrm>
          <a:prstGeom prst="rect">
            <a:avLst/>
          </a:prstGeom>
          <a:noFill/>
          <a:ln/>
        </p:spPr>
        <p:txBody>
          <a:bodyPr wrap="square" lIns="0" tIns="0" rIns="0" bIns="0" rtlCol="0" anchor="t"/>
          <a:lstStyle/>
          <a:p>
            <a:pPr algn="l" indent="0" marL="0">
              <a:buNone/>
            </a:pPr>
            <a:r>
              <a:rPr lang="en-US" sz="1300" b="1" spc="300" kern="0" dirty="0">
                <a:solidFill>
                  <a:schemeClr val="accent1"/>
                </a:solidFill>
              </a:rPr>
              <a:t>THE ROADMAP</a:t>
            </a:r>
            <a:endParaRPr lang="en-US" sz="1300" dirty="0"/>
          </a:p>
        </p:txBody>
      </p:sp>
      <p:sp>
        <p:nvSpPr>
          <p:cNvPr id="3" name="Text 0"/>
          <p:cNvSpPr/>
          <p:nvPr>
            <p:ph idx="101" type="title" hasCustomPrompt="1"/>
          </p:nvPr>
        </p:nvSpPr>
        <p:spPr>
          <a:xfrm>
            <a:off x="685800" y="841248"/>
            <a:ext cx="10820400" cy="1325880"/>
          </a:xfrm>
          <a:prstGeom prst="rect">
            <a:avLst/>
          </a:prstGeom>
          <a:noFill/>
          <a:ln/>
        </p:spPr>
        <p:txBody>
          <a:bodyPr wrap="square" lIns="0" tIns="0" rIns="0" bIns="0" rtlCol="0" anchor="t"/>
          <a:lstStyle/>
          <a:p>
            <a:pPr algn="l" indent="0" marL="0">
              <a:lnSpc>
                <a:spcPct val="95000"/>
              </a:lnSpc>
              <a:buNone/>
            </a:pPr>
            <a:r>
              <a:rPr lang="en-US" sz="4000" b="1" dirty="0">
                <a:solidFill>
                  <a:schemeClr val="tx1"/>
                </a:solidFill>
                <a:latin typeface="+mj-lt" pitchFamily="34" charset="0"/>
                <a:ea typeface="+mj-lt" pitchFamily="34" charset="-122"/>
                <a:cs typeface="+mj-lt" pitchFamily="34" charset="-120"/>
              </a:rPr>
              <a:t>The next steps, </a:t>
            </a:r>
            <a:pPr algn="l" indent="0" marL="0">
              <a:lnSpc>
                <a:spcPct val="95000"/>
              </a:lnSpc>
              <a:buNone/>
            </a:pPr>
            <a:r>
              <a:rPr lang="en-US" sz="4000" b="1" i="1" dirty="0">
                <a:solidFill>
                  <a:schemeClr val="accent1"/>
                </a:solidFill>
                <a:latin typeface="+mj-lt" pitchFamily="34" charset="0"/>
                <a:ea typeface="+mj-lt" pitchFamily="34" charset="-122"/>
                <a:cs typeface="+mj-lt" pitchFamily="34" charset="-120"/>
              </a:rPr>
              <a:t>in order.</a:t>
            </a:r>
            <a:endParaRPr lang="en-US" sz="4000" dirty="0"/>
          </a:p>
        </p:txBody>
      </p:sp>
      <p:sp>
        <p:nvSpPr>
          <p:cNvPr id="4" name="Phase 1"/>
          <p:cNvSpPr txBox="1"/>
          <p:nvPr/>
        </p:nvSpPr>
        <p:spPr>
          <a:xfrm>
            <a:off x="685800" y="2011680"/>
            <a:ext cx="3511296" cy="256032"/>
          </a:xfrm>
          <a:prstGeom prst="rect">
            <a:avLst/>
          </a:prstGeom>
          <a:noFill/>
          <a:ln/>
        </p:spPr>
        <p:txBody>
          <a:bodyPr wrap="square" lIns="0" tIns="0" rIns="0" bIns="0" rtlCol="0" anchor="t"/>
          <a:lstStyle/>
          <a:p>
            <a:pPr algn="l" indent="0" marL="0">
              <a:buNone/>
            </a:pPr>
            <a:r>
              <a:rPr lang="en-US" sz="1200" b="1" spc="300" kern="0" dirty="0">
                <a:solidFill>
                  <a:schemeClr val="accent3"/>
                </a:solidFill>
              </a:rPr>
              <a:t>NOW</a:t>
            </a:r>
            <a:endParaRPr lang="en-US" sz="1200" dirty="0"/>
          </a:p>
        </p:txBody>
      </p:sp>
      <p:sp>
        <p:nvSpPr>
          <p:cNvPr id="5" name="Phase 1 line"/>
          <p:cNvSpPr/>
          <p:nvPr/>
        </p:nvSpPr>
        <p:spPr>
          <a:xfrm>
            <a:off x="685800" y="2331720"/>
            <a:ext cx="3419856" cy="0"/>
          </a:xfrm>
          <a:prstGeom prst="line">
            <a:avLst/>
          </a:prstGeom>
          <a:noFill/>
          <a:ln w="25400">
            <a:solidFill>
              <a:schemeClr val="accent3"/>
            </a:solidFill>
            <a:prstDash val="solid"/>
          </a:ln>
        </p:spPr>
      </p:sp>
      <p:sp>
        <p:nvSpPr>
          <p:cNvPr id="6" name="Phase 2"/>
          <p:cNvSpPr txBox="1"/>
          <p:nvPr/>
        </p:nvSpPr>
        <p:spPr>
          <a:xfrm>
            <a:off x="4325112" y="2011680"/>
            <a:ext cx="3511296" cy="256032"/>
          </a:xfrm>
          <a:prstGeom prst="rect">
            <a:avLst/>
          </a:prstGeom>
          <a:noFill/>
          <a:ln/>
        </p:spPr>
        <p:txBody>
          <a:bodyPr wrap="square" lIns="0" tIns="0" rIns="0" bIns="0" rtlCol="0" anchor="t"/>
          <a:lstStyle/>
          <a:p>
            <a:pPr algn="l" indent="0" marL="0">
              <a:buNone/>
            </a:pPr>
            <a:r>
              <a:rPr lang="en-US" sz="1200" b="1" spc="300" kern="0" dirty="0">
                <a:solidFill>
                  <a:schemeClr val="accent1"/>
                </a:solidFill>
              </a:rPr>
              <a:t>NEXT</a:t>
            </a:r>
            <a:endParaRPr lang="en-US" sz="1200" dirty="0"/>
          </a:p>
        </p:txBody>
      </p:sp>
      <p:sp>
        <p:nvSpPr>
          <p:cNvPr id="7" name="Phase 2 line"/>
          <p:cNvSpPr/>
          <p:nvPr/>
        </p:nvSpPr>
        <p:spPr>
          <a:xfrm>
            <a:off x="4325112" y="2331720"/>
            <a:ext cx="3419856" cy="0"/>
          </a:xfrm>
          <a:prstGeom prst="line">
            <a:avLst/>
          </a:prstGeom>
          <a:noFill/>
          <a:ln w="25400">
            <a:solidFill>
              <a:schemeClr val="accent1"/>
            </a:solidFill>
            <a:prstDash val="solid"/>
          </a:ln>
        </p:spPr>
      </p:sp>
      <p:sp>
        <p:nvSpPr>
          <p:cNvPr id="8" name="Phase 3"/>
          <p:cNvSpPr txBox="1"/>
          <p:nvPr/>
        </p:nvSpPr>
        <p:spPr>
          <a:xfrm>
            <a:off x="7964424" y="2011680"/>
            <a:ext cx="1691640" cy="256032"/>
          </a:xfrm>
          <a:prstGeom prst="rect">
            <a:avLst/>
          </a:prstGeom>
          <a:noFill/>
          <a:ln/>
        </p:spPr>
        <p:txBody>
          <a:bodyPr wrap="square" lIns="0" tIns="0" rIns="0" bIns="0" rtlCol="0" anchor="t"/>
          <a:lstStyle/>
          <a:p>
            <a:pPr algn="l" indent="0" marL="0">
              <a:buNone/>
            </a:pPr>
            <a:r>
              <a:rPr lang="en-US" sz="1200" b="1" spc="300" kern="0" dirty="0">
                <a:solidFill>
                  <a:schemeClr val="accent1"/>
                </a:solidFill>
              </a:rPr>
              <a:t>LATER</a:t>
            </a:r>
            <a:endParaRPr lang="en-US" sz="1200" dirty="0"/>
          </a:p>
        </p:txBody>
      </p:sp>
      <p:sp>
        <p:nvSpPr>
          <p:cNvPr id="9" name="Phase 3 line"/>
          <p:cNvSpPr/>
          <p:nvPr/>
        </p:nvSpPr>
        <p:spPr>
          <a:xfrm>
            <a:off x="7964424" y="2331720"/>
            <a:ext cx="1600200" cy="0"/>
          </a:xfrm>
          <a:prstGeom prst="line">
            <a:avLst/>
          </a:prstGeom>
          <a:noFill/>
          <a:ln w="25400">
            <a:solidFill>
              <a:schemeClr val="accent1"/>
            </a:solidFill>
            <a:prstDash val="solid"/>
          </a:ln>
        </p:spPr>
      </p:sp>
      <p:sp>
        <p:nvSpPr>
          <p:cNvPr id="10" name="Phase 4"/>
          <p:cNvSpPr txBox="1"/>
          <p:nvPr/>
        </p:nvSpPr>
        <p:spPr>
          <a:xfrm>
            <a:off x="9784080" y="2011680"/>
            <a:ext cx="1691640" cy="256032"/>
          </a:xfrm>
          <a:prstGeom prst="rect">
            <a:avLst/>
          </a:prstGeom>
          <a:noFill/>
          <a:ln/>
        </p:spPr>
        <p:txBody>
          <a:bodyPr wrap="square" lIns="0" tIns="0" rIns="0" bIns="0" rtlCol="0" anchor="t"/>
          <a:lstStyle/>
          <a:p>
            <a:pPr algn="l" indent="0" marL="0">
              <a:buNone/>
            </a:pPr>
            <a:r>
              <a:rPr lang="en-US" sz="1200" b="1" spc="300" kern="0" dirty="0">
                <a:solidFill>
                  <a:schemeClr val="accent1"/>
                </a:solidFill>
              </a:rPr>
              <a:t>ON EVIDENCE</a:t>
            </a:r>
            <a:endParaRPr lang="en-US" sz="1200" dirty="0"/>
          </a:p>
        </p:txBody>
      </p:sp>
      <p:sp>
        <p:nvSpPr>
          <p:cNvPr id="11" name="Phase 4 line"/>
          <p:cNvSpPr/>
          <p:nvPr/>
        </p:nvSpPr>
        <p:spPr>
          <a:xfrm>
            <a:off x="9784080" y="2331720"/>
            <a:ext cx="1600200" cy="0"/>
          </a:xfrm>
          <a:prstGeom prst="line">
            <a:avLst/>
          </a:prstGeom>
          <a:noFill/>
          <a:ln w="25400">
            <a:solidFill>
              <a:schemeClr val="accent1">
                <a:alpha val="45000"/>
              </a:schemeClr>
            </a:solidFill>
            <a:prstDash val="dash"/>
          </a:ln>
        </p:spPr>
      </p:sp>
      <p:sp>
        <p:nvSpPr>
          <p:cNvPr id="12" name="Thread"/>
          <p:cNvSpPr/>
          <p:nvPr/>
        </p:nvSpPr>
        <p:spPr>
          <a:xfrm>
            <a:off x="896112" y="2907792"/>
            <a:ext cx="9098280" cy="0"/>
          </a:xfrm>
          <a:prstGeom prst="line">
            <a:avLst/>
          </a:prstGeom>
          <a:noFill/>
          <a:ln w="19050">
            <a:solidFill>
              <a:schemeClr val="accent1">
                <a:alpha val="60000"/>
              </a:schemeClr>
            </a:solidFill>
            <a:prstDash val="solid"/>
          </a:ln>
        </p:spPr>
      </p:sp>
      <p:sp>
        <p:nvSpPr>
          <p:cNvPr id="13" name="Marker 1"/>
          <p:cNvSpPr/>
          <p:nvPr/>
        </p:nvSpPr>
        <p:spPr>
          <a:xfrm>
            <a:off x="685800" y="2697480"/>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14" name="Card 1"/>
          <p:cNvSpPr/>
          <p:nvPr/>
        </p:nvSpPr>
        <p:spPr>
          <a:xfrm>
            <a:off x="685800" y="3383280"/>
            <a:ext cx="1691640" cy="2697480"/>
          </a:xfrm>
          <a:prstGeom prst="roundRect">
            <a:avLst>
              <a:gd name="adj" fmla="val 6486"/>
            </a:avLst>
          </a:prstGeom>
          <a:solidFill>
            <a:schemeClr val="bg1"/>
          </a:solidFill>
          <a:ln w="12700">
            <a:solidFill>
              <a:srgbClr val="D5E6DC"/>
            </a:solidFill>
            <a:prstDash val="solid"/>
          </a:ln>
          <a:effectLst>
            <a:outerShdw sx="100000" sy="100000" kx="0" ky="0" algn="bl" rotWithShape="0" blurRad="127000" dist="38100" dir="5400000">
              <a:srgbClr val="0F4A32">
                <a:alpha val="8000"/>
              </a:srgbClr>
            </a:outerShdw>
          </a:effectLst>
        </p:spPr>
      </p:sp>
      <p:sp>
        <p:nvSpPr>
          <p:cNvPr id="15" name="Tag 1"/>
          <p:cNvSpPr/>
          <p:nvPr/>
        </p:nvSpPr>
        <p:spPr>
          <a:xfrm>
            <a:off x="822960" y="3538728"/>
            <a:ext cx="566928" cy="237744"/>
          </a:xfrm>
          <a:prstGeom prst="roundRect">
            <a:avLst>
              <a:gd name="adj" fmla="val 50000"/>
            </a:avLst>
          </a:prstGeom>
          <a:solidFill>
            <a:schemeClr val="accent2">
              <a:alpha val="15000"/>
            </a:schemeClr>
          </a:solidFill>
          <a:ln/>
        </p:spPr>
        <p:txBody>
          <a:bodyPr wrap="square" lIns="0" tIns="0" rIns="0" bIns="0" rtlCol="0" anchor="ctr"/>
          <a:lstStyle/>
          <a:p>
            <a:pPr algn="ctr" indent="0" marL="0">
              <a:buNone/>
            </a:pPr>
            <a:r>
              <a:rPr lang="en-US" sz="1100" b="1" spc="100" kern="0" dirty="0">
                <a:solidFill>
                  <a:schemeClr val="tx1"/>
                </a:solidFill>
              </a:rPr>
              <a:t>PLAN</a:t>
            </a:r>
            <a:endParaRPr lang="en-US" sz="1100" dirty="0"/>
          </a:p>
        </p:txBody>
      </p:sp>
      <p:sp>
        <p:nvSpPr>
          <p:cNvPr id="16" name="Title 1"/>
          <p:cNvSpPr txBox="1"/>
          <p:nvPr/>
        </p:nvSpPr>
        <p:spPr>
          <a:xfrm>
            <a:off x="822960" y="3931920"/>
            <a:ext cx="1417320" cy="1097280"/>
          </a:xfrm>
          <a:prstGeom prst="rect">
            <a:avLst/>
          </a:prstGeom>
          <a:noFill/>
          <a:ln/>
        </p:spPr>
        <p:txBody>
          <a:bodyPr wrap="square" lIns="0" tIns="0" rIns="0" bIns="0" rtlCol="0" anchor="t"/>
          <a:lstStyle/>
          <a:p>
            <a:pPr algn="l" indent="0" marL="0">
              <a:lnSpc>
                <a:spcPct val="98000"/>
              </a:lnSpc>
              <a:buNone/>
            </a:pPr>
            <a:r>
              <a:rPr lang="en-US" sz="1700" b="1" dirty="0">
                <a:solidFill>
                  <a:schemeClr val="tx1"/>
                </a:solidFill>
              </a:rPr>
              <a:t>Improve reliability and notifications</a:t>
            </a:r>
            <a:endParaRPr lang="en-US" sz="1700" dirty="0"/>
          </a:p>
        </p:txBody>
      </p:sp>
      <p:sp>
        <p:nvSpPr>
          <p:cNvPr id="17" name="Watch 1"/>
          <p:cNvSpPr txBox="1"/>
          <p:nvPr/>
        </p:nvSpPr>
        <p:spPr>
          <a:xfrm>
            <a:off x="822960" y="5074920"/>
            <a:ext cx="1417320" cy="201168"/>
          </a:xfrm>
          <a:prstGeom prst="rect">
            <a:avLst/>
          </a:prstGeom>
          <a:noFill/>
          <a:ln/>
        </p:spPr>
        <p:txBody>
          <a:bodyPr wrap="square" lIns="0" tIns="0" rIns="0" bIns="0" rtlCol="0" anchor="t"/>
          <a:lstStyle/>
          <a:p>
            <a:pPr algn="l" indent="0" marL="0">
              <a:buNone/>
            </a:pPr>
            <a:r>
              <a:rPr lang="en-US" sz="1100" b="1" spc="200" kern="0" dirty="0">
                <a:solidFill>
                  <a:srgbClr val="4A6B5A"/>
                </a:solidFill>
              </a:rPr>
              <a:t>SIGNAL</a:t>
            </a:r>
            <a:endParaRPr lang="en-US" sz="1100" dirty="0"/>
          </a:p>
        </p:txBody>
      </p:sp>
      <p:sp>
        <p:nvSpPr>
          <p:cNvPr id="18" name="Signal 1"/>
          <p:cNvSpPr txBox="1"/>
          <p:nvPr/>
        </p:nvSpPr>
        <p:spPr>
          <a:xfrm>
            <a:off x="822960" y="5303520"/>
            <a:ext cx="1417320" cy="685800"/>
          </a:xfrm>
          <a:prstGeom prst="rect">
            <a:avLst/>
          </a:prstGeom>
          <a:noFill/>
          <a:ln/>
        </p:spPr>
        <p:txBody>
          <a:bodyPr wrap="square" lIns="0" tIns="0" rIns="0" bIns="0" rtlCol="0" anchor="t"/>
          <a:lstStyle/>
          <a:p>
            <a:pPr algn="l" indent="0" marL="0">
              <a:lnSpc>
                <a:spcPct val="100000"/>
              </a:lnSpc>
              <a:buNone/>
            </a:pPr>
            <a:r>
              <a:rPr lang="en-US" sz="1400" dirty="0">
                <a:solidFill>
                  <a:srgbClr val="455E50"/>
                </a:solidFill>
              </a:rPr>
              <a:t>Alerts reach sellers and customers.</a:t>
            </a:r>
            <a:endParaRPr lang="en-US" sz="1400" dirty="0"/>
          </a:p>
        </p:txBody>
      </p:sp>
      <p:sp>
        <p:nvSpPr>
          <p:cNvPr id="19" name="Marker 2"/>
          <p:cNvSpPr/>
          <p:nvPr/>
        </p:nvSpPr>
        <p:spPr>
          <a:xfrm>
            <a:off x="2505456" y="2697480"/>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20" name="Card 2"/>
          <p:cNvSpPr/>
          <p:nvPr/>
        </p:nvSpPr>
        <p:spPr>
          <a:xfrm>
            <a:off x="2505456" y="3383280"/>
            <a:ext cx="1691640" cy="2697480"/>
          </a:xfrm>
          <a:prstGeom prst="roundRect">
            <a:avLst>
              <a:gd name="adj" fmla="val 6486"/>
            </a:avLst>
          </a:prstGeom>
          <a:solidFill>
            <a:schemeClr val="bg1"/>
          </a:solidFill>
          <a:ln w="12700">
            <a:solidFill>
              <a:srgbClr val="D5E6DC"/>
            </a:solidFill>
            <a:prstDash val="solid"/>
          </a:ln>
          <a:effectLst>
            <a:outerShdw sx="100000" sy="100000" kx="0" ky="0" algn="bl" rotWithShape="0" blurRad="127000" dist="38100" dir="5400000">
              <a:srgbClr val="0F4A32">
                <a:alpha val="8000"/>
              </a:srgbClr>
            </a:outerShdw>
          </a:effectLst>
        </p:spPr>
      </p:sp>
      <p:sp>
        <p:nvSpPr>
          <p:cNvPr id="21" name="Tag 2"/>
          <p:cNvSpPr/>
          <p:nvPr/>
        </p:nvSpPr>
        <p:spPr>
          <a:xfrm>
            <a:off x="2642616" y="3538728"/>
            <a:ext cx="566928" cy="237744"/>
          </a:xfrm>
          <a:prstGeom prst="roundRect">
            <a:avLst>
              <a:gd name="adj" fmla="val 50000"/>
            </a:avLst>
          </a:prstGeom>
          <a:solidFill>
            <a:schemeClr val="accent2">
              <a:alpha val="15000"/>
            </a:schemeClr>
          </a:solidFill>
          <a:ln/>
        </p:spPr>
        <p:txBody>
          <a:bodyPr wrap="square" lIns="0" tIns="0" rIns="0" bIns="0" rtlCol="0" anchor="ctr"/>
          <a:lstStyle/>
          <a:p>
            <a:pPr algn="ctr" indent="0" marL="0">
              <a:buNone/>
            </a:pPr>
            <a:r>
              <a:rPr lang="en-US" sz="1100" b="1" spc="100" kern="0" dirty="0">
                <a:solidFill>
                  <a:schemeClr val="tx1"/>
                </a:solidFill>
              </a:rPr>
              <a:t>PLAN</a:t>
            </a:r>
            <a:endParaRPr lang="en-US" sz="1100" dirty="0"/>
          </a:p>
        </p:txBody>
      </p:sp>
      <p:sp>
        <p:nvSpPr>
          <p:cNvPr id="22" name="Title 2"/>
          <p:cNvSpPr txBox="1"/>
          <p:nvPr/>
        </p:nvSpPr>
        <p:spPr>
          <a:xfrm>
            <a:off x="2642616" y="3931920"/>
            <a:ext cx="1417320" cy="1097280"/>
          </a:xfrm>
          <a:prstGeom prst="rect">
            <a:avLst/>
          </a:prstGeom>
          <a:noFill/>
          <a:ln/>
        </p:spPr>
        <p:txBody>
          <a:bodyPr wrap="square" lIns="0" tIns="0" rIns="0" bIns="0" rtlCol="0" anchor="t"/>
          <a:lstStyle/>
          <a:p>
            <a:pPr algn="l" indent="0" marL="0">
              <a:lnSpc>
                <a:spcPct val="98000"/>
              </a:lnSpc>
              <a:buNone/>
            </a:pPr>
            <a:r>
              <a:rPr lang="en-US" sz="1700" b="1" dirty="0">
                <a:solidFill>
                  <a:schemeClr val="tx1"/>
                </a:solidFill>
              </a:rPr>
              <a:t>Measure usage and repeat ordering</a:t>
            </a:r>
            <a:endParaRPr lang="en-US" sz="1700" dirty="0"/>
          </a:p>
        </p:txBody>
      </p:sp>
      <p:sp>
        <p:nvSpPr>
          <p:cNvPr id="23" name="Watch 2"/>
          <p:cNvSpPr txBox="1"/>
          <p:nvPr/>
        </p:nvSpPr>
        <p:spPr>
          <a:xfrm>
            <a:off x="2642616" y="5074920"/>
            <a:ext cx="1417320" cy="201168"/>
          </a:xfrm>
          <a:prstGeom prst="rect">
            <a:avLst/>
          </a:prstGeom>
          <a:noFill/>
          <a:ln/>
        </p:spPr>
        <p:txBody>
          <a:bodyPr wrap="square" lIns="0" tIns="0" rIns="0" bIns="0" rtlCol="0" anchor="t"/>
          <a:lstStyle/>
          <a:p>
            <a:pPr algn="l" indent="0" marL="0">
              <a:buNone/>
            </a:pPr>
            <a:r>
              <a:rPr lang="en-US" sz="1100" b="1" spc="200" kern="0" dirty="0">
                <a:solidFill>
                  <a:srgbClr val="4A6B5A"/>
                </a:solidFill>
              </a:rPr>
              <a:t>SIGNAL</a:t>
            </a:r>
            <a:endParaRPr lang="en-US" sz="1100" dirty="0"/>
          </a:p>
        </p:txBody>
      </p:sp>
      <p:sp>
        <p:nvSpPr>
          <p:cNvPr id="24" name="Signal 2"/>
          <p:cNvSpPr txBox="1"/>
          <p:nvPr/>
        </p:nvSpPr>
        <p:spPr>
          <a:xfrm>
            <a:off x="2642616" y="5303520"/>
            <a:ext cx="1417320" cy="685800"/>
          </a:xfrm>
          <a:prstGeom prst="rect">
            <a:avLst/>
          </a:prstGeom>
          <a:noFill/>
          <a:ln/>
        </p:spPr>
        <p:txBody>
          <a:bodyPr wrap="square" lIns="0" tIns="0" rIns="0" bIns="0" rtlCol="0" anchor="t"/>
          <a:lstStyle/>
          <a:p>
            <a:pPr algn="l" indent="0" marL="0">
              <a:lnSpc>
                <a:spcPct val="100000"/>
              </a:lnSpc>
              <a:buNone/>
            </a:pPr>
            <a:r>
              <a:rPr lang="en-US" sz="1400" dirty="0">
                <a:solidFill>
                  <a:srgbClr val="455E50"/>
                </a:solidFill>
              </a:rPr>
              <a:t>Orders and repeat rate, tracked weekly.</a:t>
            </a:r>
            <a:endParaRPr lang="en-US" sz="1400" dirty="0"/>
          </a:p>
        </p:txBody>
      </p:sp>
      <p:sp>
        <p:nvSpPr>
          <p:cNvPr id="25" name="Marker 3"/>
          <p:cNvSpPr/>
          <p:nvPr/>
        </p:nvSpPr>
        <p:spPr>
          <a:xfrm>
            <a:off x="4325112" y="2697480"/>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6" name="Card 3"/>
          <p:cNvSpPr/>
          <p:nvPr/>
        </p:nvSpPr>
        <p:spPr>
          <a:xfrm>
            <a:off x="4325112" y="3383280"/>
            <a:ext cx="1691640" cy="2697480"/>
          </a:xfrm>
          <a:prstGeom prst="roundRect">
            <a:avLst>
              <a:gd name="adj" fmla="val 6486"/>
            </a:avLst>
          </a:prstGeom>
          <a:solidFill>
            <a:schemeClr val="bg1"/>
          </a:solidFill>
          <a:ln w="12700">
            <a:solidFill>
              <a:srgbClr val="D5E6DC"/>
            </a:solidFill>
            <a:prstDash val="solid"/>
          </a:ln>
          <a:effectLst>
            <a:outerShdw sx="100000" sy="100000" kx="0" ky="0" algn="bl" rotWithShape="0" blurRad="127000" dist="38100" dir="5400000">
              <a:srgbClr val="0F4A32">
                <a:alpha val="8000"/>
              </a:srgbClr>
            </a:outerShdw>
          </a:effectLst>
        </p:spPr>
      </p:sp>
      <p:sp>
        <p:nvSpPr>
          <p:cNvPr id="27" name="Tag 3"/>
          <p:cNvSpPr/>
          <p:nvPr/>
        </p:nvSpPr>
        <p:spPr>
          <a:xfrm>
            <a:off x="4462272" y="3538728"/>
            <a:ext cx="566928" cy="237744"/>
          </a:xfrm>
          <a:prstGeom prst="roundRect">
            <a:avLst>
              <a:gd name="adj" fmla="val 50000"/>
            </a:avLst>
          </a:prstGeom>
          <a:solidFill>
            <a:schemeClr val="accent2">
              <a:alpha val="15000"/>
            </a:schemeClr>
          </a:solidFill>
          <a:ln/>
        </p:spPr>
        <p:txBody>
          <a:bodyPr wrap="square" lIns="0" tIns="0" rIns="0" bIns="0" rtlCol="0" anchor="ctr"/>
          <a:lstStyle/>
          <a:p>
            <a:pPr algn="ctr" indent="0" marL="0">
              <a:buNone/>
            </a:pPr>
            <a:r>
              <a:rPr lang="en-US" sz="1100" b="1" spc="100" kern="0" dirty="0">
                <a:solidFill>
                  <a:schemeClr val="tx1"/>
                </a:solidFill>
              </a:rPr>
              <a:t>PLAN</a:t>
            </a:r>
            <a:endParaRPr lang="en-US" sz="1100" dirty="0"/>
          </a:p>
        </p:txBody>
      </p:sp>
      <p:sp>
        <p:nvSpPr>
          <p:cNvPr id="28" name="Title 3"/>
          <p:cNvSpPr txBox="1"/>
          <p:nvPr/>
        </p:nvSpPr>
        <p:spPr>
          <a:xfrm>
            <a:off x="4462272" y="3931920"/>
            <a:ext cx="1417320" cy="1097280"/>
          </a:xfrm>
          <a:prstGeom prst="rect">
            <a:avLst/>
          </a:prstGeom>
          <a:noFill/>
          <a:ln/>
        </p:spPr>
        <p:txBody>
          <a:bodyPr wrap="square" lIns="0" tIns="0" rIns="0" bIns="0" rtlCol="0" anchor="t"/>
          <a:lstStyle/>
          <a:p>
            <a:pPr algn="l" indent="0" marL="0">
              <a:lnSpc>
                <a:spcPct val="98000"/>
              </a:lnSpc>
              <a:buNone/>
            </a:pPr>
            <a:r>
              <a:rPr lang="en-US" sz="1700" b="1" dirty="0">
                <a:solidFill>
                  <a:schemeClr val="tx1"/>
                </a:solidFill>
              </a:rPr>
              <a:t>Validate seller and customer economics</a:t>
            </a:r>
            <a:endParaRPr lang="en-US" sz="1700" dirty="0"/>
          </a:p>
        </p:txBody>
      </p:sp>
      <p:sp>
        <p:nvSpPr>
          <p:cNvPr id="29" name="Watch 3"/>
          <p:cNvSpPr txBox="1"/>
          <p:nvPr/>
        </p:nvSpPr>
        <p:spPr>
          <a:xfrm>
            <a:off x="4462272" y="5074920"/>
            <a:ext cx="1417320" cy="201168"/>
          </a:xfrm>
          <a:prstGeom prst="rect">
            <a:avLst/>
          </a:prstGeom>
          <a:noFill/>
          <a:ln/>
        </p:spPr>
        <p:txBody>
          <a:bodyPr wrap="square" lIns="0" tIns="0" rIns="0" bIns="0" rtlCol="0" anchor="t"/>
          <a:lstStyle/>
          <a:p>
            <a:pPr algn="l" indent="0" marL="0">
              <a:buNone/>
            </a:pPr>
            <a:r>
              <a:rPr lang="en-US" sz="1100" b="1" spc="200" kern="0" dirty="0">
                <a:solidFill>
                  <a:srgbClr val="4A6B5A"/>
                </a:solidFill>
              </a:rPr>
              <a:t>SIGNAL</a:t>
            </a:r>
            <a:endParaRPr lang="en-US" sz="1100" dirty="0"/>
          </a:p>
        </p:txBody>
      </p:sp>
      <p:sp>
        <p:nvSpPr>
          <p:cNvPr id="30" name="Signal 3"/>
          <p:cNvSpPr txBox="1"/>
          <p:nvPr/>
        </p:nvSpPr>
        <p:spPr>
          <a:xfrm>
            <a:off x="4462272" y="5303520"/>
            <a:ext cx="1417320" cy="685800"/>
          </a:xfrm>
          <a:prstGeom prst="rect">
            <a:avLst/>
          </a:prstGeom>
          <a:noFill/>
          <a:ln/>
        </p:spPr>
        <p:txBody>
          <a:bodyPr wrap="square" lIns="0" tIns="0" rIns="0" bIns="0" rtlCol="0" anchor="t"/>
          <a:lstStyle/>
          <a:p>
            <a:pPr algn="l" indent="0" marL="0">
              <a:lnSpc>
                <a:spcPct val="100000"/>
              </a:lnSpc>
              <a:buNone/>
            </a:pPr>
            <a:r>
              <a:rPr lang="en-US" sz="1400" dirty="0">
                <a:solidFill>
                  <a:srgbClr val="455E50"/>
                </a:solidFill>
              </a:rPr>
              <a:t>What an order is worth to each side.</a:t>
            </a:r>
            <a:endParaRPr lang="en-US" sz="1400" dirty="0"/>
          </a:p>
        </p:txBody>
      </p:sp>
      <p:sp>
        <p:nvSpPr>
          <p:cNvPr id="31" name="Marker 4"/>
          <p:cNvSpPr/>
          <p:nvPr/>
        </p:nvSpPr>
        <p:spPr>
          <a:xfrm>
            <a:off x="6144768" y="2697480"/>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2" name="Card 4"/>
          <p:cNvSpPr/>
          <p:nvPr/>
        </p:nvSpPr>
        <p:spPr>
          <a:xfrm>
            <a:off x="6144768" y="3383280"/>
            <a:ext cx="1691640" cy="2697480"/>
          </a:xfrm>
          <a:prstGeom prst="roundRect">
            <a:avLst>
              <a:gd name="adj" fmla="val 6486"/>
            </a:avLst>
          </a:prstGeom>
          <a:solidFill>
            <a:schemeClr val="bg1"/>
          </a:solidFill>
          <a:ln w="12700">
            <a:solidFill>
              <a:srgbClr val="D5E6DC"/>
            </a:solidFill>
            <a:prstDash val="solid"/>
          </a:ln>
          <a:effectLst>
            <a:outerShdw sx="100000" sy="100000" kx="0" ky="0" algn="bl" rotWithShape="0" blurRad="127000" dist="38100" dir="5400000">
              <a:srgbClr val="0F4A32">
                <a:alpha val="8000"/>
              </a:srgbClr>
            </a:outerShdw>
          </a:effectLst>
        </p:spPr>
      </p:sp>
      <p:sp>
        <p:nvSpPr>
          <p:cNvPr id="33" name="Tag 4"/>
          <p:cNvSpPr/>
          <p:nvPr/>
        </p:nvSpPr>
        <p:spPr>
          <a:xfrm>
            <a:off x="6281928" y="3538728"/>
            <a:ext cx="566928" cy="237744"/>
          </a:xfrm>
          <a:prstGeom prst="roundRect">
            <a:avLst>
              <a:gd name="adj" fmla="val 50000"/>
            </a:avLst>
          </a:prstGeom>
          <a:solidFill>
            <a:schemeClr val="accent2">
              <a:alpha val="15000"/>
            </a:schemeClr>
          </a:solidFill>
          <a:ln/>
        </p:spPr>
        <p:txBody>
          <a:bodyPr wrap="square" lIns="0" tIns="0" rIns="0" bIns="0" rtlCol="0" anchor="ctr"/>
          <a:lstStyle/>
          <a:p>
            <a:pPr algn="ctr" indent="0" marL="0">
              <a:buNone/>
            </a:pPr>
            <a:r>
              <a:rPr lang="en-US" sz="1100" b="1" spc="100" kern="0" dirty="0">
                <a:solidFill>
                  <a:schemeClr val="tx1"/>
                </a:solidFill>
              </a:rPr>
              <a:t>PLAN</a:t>
            </a:r>
            <a:endParaRPr lang="en-US" sz="1100" dirty="0"/>
          </a:p>
        </p:txBody>
      </p:sp>
      <p:sp>
        <p:nvSpPr>
          <p:cNvPr id="34" name="Title 4"/>
          <p:cNvSpPr txBox="1"/>
          <p:nvPr/>
        </p:nvSpPr>
        <p:spPr>
          <a:xfrm>
            <a:off x="6281928" y="3931920"/>
            <a:ext cx="1417320" cy="1097280"/>
          </a:xfrm>
          <a:prstGeom prst="rect">
            <a:avLst/>
          </a:prstGeom>
          <a:noFill/>
          <a:ln/>
        </p:spPr>
        <p:txBody>
          <a:bodyPr wrap="square" lIns="0" tIns="0" rIns="0" bIns="0" rtlCol="0" anchor="t"/>
          <a:lstStyle/>
          <a:p>
            <a:pPr algn="l" indent="0" marL="0">
              <a:lnSpc>
                <a:spcPct val="98000"/>
              </a:lnSpc>
              <a:buNone/>
            </a:pPr>
            <a:r>
              <a:rPr lang="en-US" sz="1700" b="1" dirty="0">
                <a:solidFill>
                  <a:schemeClr val="tx1"/>
                </a:solidFill>
              </a:rPr>
              <a:t>Improve acquisition and retention</a:t>
            </a:r>
            <a:endParaRPr lang="en-US" sz="1700" dirty="0"/>
          </a:p>
        </p:txBody>
      </p:sp>
      <p:sp>
        <p:nvSpPr>
          <p:cNvPr id="35" name="Watch 4"/>
          <p:cNvSpPr txBox="1"/>
          <p:nvPr/>
        </p:nvSpPr>
        <p:spPr>
          <a:xfrm>
            <a:off x="6281928" y="5074920"/>
            <a:ext cx="1417320" cy="201168"/>
          </a:xfrm>
          <a:prstGeom prst="rect">
            <a:avLst/>
          </a:prstGeom>
          <a:noFill/>
          <a:ln/>
        </p:spPr>
        <p:txBody>
          <a:bodyPr wrap="square" lIns="0" tIns="0" rIns="0" bIns="0" rtlCol="0" anchor="t"/>
          <a:lstStyle/>
          <a:p>
            <a:pPr algn="l" indent="0" marL="0">
              <a:buNone/>
            </a:pPr>
            <a:r>
              <a:rPr lang="en-US" sz="1100" b="1" spc="200" kern="0" dirty="0">
                <a:solidFill>
                  <a:srgbClr val="4A6B5A"/>
                </a:solidFill>
              </a:rPr>
              <a:t>SIGNAL</a:t>
            </a:r>
            <a:endParaRPr lang="en-US" sz="1100" dirty="0"/>
          </a:p>
        </p:txBody>
      </p:sp>
      <p:sp>
        <p:nvSpPr>
          <p:cNvPr id="36" name="Signal 4"/>
          <p:cNvSpPr txBox="1"/>
          <p:nvPr/>
        </p:nvSpPr>
        <p:spPr>
          <a:xfrm>
            <a:off x="6281928" y="5303520"/>
            <a:ext cx="1417320" cy="685800"/>
          </a:xfrm>
          <a:prstGeom prst="rect">
            <a:avLst/>
          </a:prstGeom>
          <a:noFill/>
          <a:ln/>
        </p:spPr>
        <p:txBody>
          <a:bodyPr wrap="square" lIns="0" tIns="0" rIns="0" bIns="0" rtlCol="0" anchor="t"/>
          <a:lstStyle/>
          <a:p>
            <a:pPr algn="l" indent="0" marL="0">
              <a:lnSpc>
                <a:spcPct val="100000"/>
              </a:lnSpc>
              <a:buNone/>
            </a:pPr>
            <a:r>
              <a:rPr lang="en-US" sz="1400" dirty="0">
                <a:solidFill>
                  <a:srgbClr val="455E50"/>
                </a:solidFill>
              </a:rPr>
              <a:t>More first orders, more second orders.</a:t>
            </a:r>
            <a:endParaRPr lang="en-US" sz="1400" dirty="0"/>
          </a:p>
        </p:txBody>
      </p:sp>
      <p:sp>
        <p:nvSpPr>
          <p:cNvPr id="37" name="Marker 5"/>
          <p:cNvSpPr/>
          <p:nvPr/>
        </p:nvSpPr>
        <p:spPr>
          <a:xfrm>
            <a:off x="7964424" y="2697480"/>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8" name="Card 5"/>
          <p:cNvSpPr/>
          <p:nvPr/>
        </p:nvSpPr>
        <p:spPr>
          <a:xfrm>
            <a:off x="7964424" y="3383280"/>
            <a:ext cx="1691640" cy="2697480"/>
          </a:xfrm>
          <a:prstGeom prst="roundRect">
            <a:avLst>
              <a:gd name="adj" fmla="val 6486"/>
            </a:avLst>
          </a:prstGeom>
          <a:solidFill>
            <a:schemeClr val="bg1"/>
          </a:solidFill>
          <a:ln w="12700">
            <a:solidFill>
              <a:srgbClr val="D5E6DC"/>
            </a:solidFill>
            <a:prstDash val="solid"/>
          </a:ln>
          <a:effectLst>
            <a:outerShdw sx="100000" sy="100000" kx="0" ky="0" algn="bl" rotWithShape="0" blurRad="127000" dist="38100" dir="5400000">
              <a:srgbClr val="0F4A32">
                <a:alpha val="8000"/>
              </a:srgbClr>
            </a:outerShdw>
          </a:effectLst>
        </p:spPr>
      </p:sp>
      <p:sp>
        <p:nvSpPr>
          <p:cNvPr id="39" name="Tag 5"/>
          <p:cNvSpPr/>
          <p:nvPr/>
        </p:nvSpPr>
        <p:spPr>
          <a:xfrm>
            <a:off x="8101584" y="3538728"/>
            <a:ext cx="566928" cy="237744"/>
          </a:xfrm>
          <a:prstGeom prst="roundRect">
            <a:avLst>
              <a:gd name="adj" fmla="val 50000"/>
            </a:avLst>
          </a:prstGeom>
          <a:solidFill>
            <a:schemeClr val="accent2">
              <a:alpha val="15000"/>
            </a:schemeClr>
          </a:solidFill>
          <a:ln/>
        </p:spPr>
        <p:txBody>
          <a:bodyPr wrap="square" lIns="0" tIns="0" rIns="0" bIns="0" rtlCol="0" anchor="ctr"/>
          <a:lstStyle/>
          <a:p>
            <a:pPr algn="ctr" indent="0" marL="0">
              <a:buNone/>
            </a:pPr>
            <a:r>
              <a:rPr lang="en-US" sz="1100" b="1" spc="100" kern="0" dirty="0">
                <a:solidFill>
                  <a:schemeClr val="tx1"/>
                </a:solidFill>
              </a:rPr>
              <a:t>PLAN</a:t>
            </a:r>
            <a:endParaRPr lang="en-US" sz="1100" dirty="0"/>
          </a:p>
        </p:txBody>
      </p:sp>
      <p:sp>
        <p:nvSpPr>
          <p:cNvPr id="40" name="Title 5"/>
          <p:cNvSpPr txBox="1"/>
          <p:nvPr/>
        </p:nvSpPr>
        <p:spPr>
          <a:xfrm>
            <a:off x="8101584" y="3931920"/>
            <a:ext cx="1417320" cy="1097280"/>
          </a:xfrm>
          <a:prstGeom prst="rect">
            <a:avLst/>
          </a:prstGeom>
          <a:noFill/>
          <a:ln/>
        </p:spPr>
        <p:txBody>
          <a:bodyPr wrap="square" lIns="0" tIns="0" rIns="0" bIns="0" rtlCol="0" anchor="t"/>
          <a:lstStyle/>
          <a:p>
            <a:pPr algn="l" indent="0" marL="0">
              <a:lnSpc>
                <a:spcPct val="98000"/>
              </a:lnSpc>
              <a:buNone/>
            </a:pPr>
            <a:r>
              <a:rPr lang="en-US" sz="1700" b="1" dirty="0">
                <a:solidFill>
                  <a:schemeClr val="tx1"/>
                </a:solidFill>
              </a:rPr>
              <a:t>Build a repeatable launch process</a:t>
            </a:r>
            <a:endParaRPr lang="en-US" sz="1700" dirty="0"/>
          </a:p>
        </p:txBody>
      </p:sp>
      <p:sp>
        <p:nvSpPr>
          <p:cNvPr id="41" name="Watch 5"/>
          <p:cNvSpPr txBox="1"/>
          <p:nvPr/>
        </p:nvSpPr>
        <p:spPr>
          <a:xfrm>
            <a:off x="8101584" y="5074920"/>
            <a:ext cx="1417320" cy="201168"/>
          </a:xfrm>
          <a:prstGeom prst="rect">
            <a:avLst/>
          </a:prstGeom>
          <a:noFill/>
          <a:ln/>
        </p:spPr>
        <p:txBody>
          <a:bodyPr wrap="square" lIns="0" tIns="0" rIns="0" bIns="0" rtlCol="0" anchor="t"/>
          <a:lstStyle/>
          <a:p>
            <a:pPr algn="l" indent="0" marL="0">
              <a:buNone/>
            </a:pPr>
            <a:r>
              <a:rPr lang="en-US" sz="1100" b="1" spc="200" kern="0" dirty="0">
                <a:solidFill>
                  <a:srgbClr val="4A6B5A"/>
                </a:solidFill>
              </a:rPr>
              <a:t>SIGNAL</a:t>
            </a:r>
            <a:endParaRPr lang="en-US" sz="1100" dirty="0"/>
          </a:p>
        </p:txBody>
      </p:sp>
      <p:sp>
        <p:nvSpPr>
          <p:cNvPr id="42" name="Signal 5"/>
          <p:cNvSpPr txBox="1"/>
          <p:nvPr/>
        </p:nvSpPr>
        <p:spPr>
          <a:xfrm>
            <a:off x="8101584" y="5303520"/>
            <a:ext cx="1417320" cy="685800"/>
          </a:xfrm>
          <a:prstGeom prst="rect">
            <a:avLst/>
          </a:prstGeom>
          <a:noFill/>
          <a:ln/>
        </p:spPr>
        <p:txBody>
          <a:bodyPr wrap="square" lIns="0" tIns="0" rIns="0" bIns="0" rtlCol="0" anchor="t"/>
          <a:lstStyle/>
          <a:p>
            <a:pPr algn="l" indent="0" marL="0">
              <a:lnSpc>
                <a:spcPct val="100000"/>
              </a:lnSpc>
              <a:buNone/>
            </a:pPr>
            <a:r>
              <a:rPr lang="en-US" sz="1400" dirty="0">
                <a:solidFill>
                  <a:srgbClr val="455E50"/>
                </a:solidFill>
              </a:rPr>
              <a:t>A written, tested launch checklist.</a:t>
            </a:r>
            <a:endParaRPr lang="en-US" sz="1400" dirty="0"/>
          </a:p>
        </p:txBody>
      </p:sp>
      <p:sp>
        <p:nvSpPr>
          <p:cNvPr id="43" name="Marker 6"/>
          <p:cNvSpPr/>
          <p:nvPr/>
        </p:nvSpPr>
        <p:spPr>
          <a:xfrm>
            <a:off x="9784080" y="2697480"/>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44" name="Card 6"/>
          <p:cNvSpPr/>
          <p:nvPr/>
        </p:nvSpPr>
        <p:spPr>
          <a:xfrm>
            <a:off x="9784080" y="3383280"/>
            <a:ext cx="1691640" cy="2697480"/>
          </a:xfrm>
          <a:prstGeom prst="roundRect">
            <a:avLst>
              <a:gd name="adj" fmla="val 6486"/>
            </a:avLst>
          </a:prstGeom>
          <a:solidFill>
            <a:schemeClr val="bg1"/>
          </a:solidFill>
          <a:ln w="12700">
            <a:solidFill>
              <a:srgbClr val="D5E6DC"/>
            </a:solidFill>
            <a:prstDash val="solid"/>
          </a:ln>
          <a:effectLst>
            <a:outerShdw sx="100000" sy="100000" kx="0" ky="0" algn="bl" rotWithShape="0" blurRad="127000" dist="38100" dir="5400000">
              <a:srgbClr val="0F4A32">
                <a:alpha val="8000"/>
              </a:srgbClr>
            </a:outerShdw>
          </a:effectLst>
        </p:spPr>
      </p:sp>
      <p:sp>
        <p:nvSpPr>
          <p:cNvPr id="45" name="Tag 6"/>
          <p:cNvSpPr/>
          <p:nvPr/>
        </p:nvSpPr>
        <p:spPr>
          <a:xfrm>
            <a:off x="9921240" y="3538728"/>
            <a:ext cx="1005840" cy="237744"/>
          </a:xfrm>
          <a:prstGeom prst="roundRect">
            <a:avLst>
              <a:gd name="adj" fmla="val 50000"/>
            </a:avLst>
          </a:prstGeom>
          <a:noFill/>
          <a:ln w="12700">
            <a:solidFill>
              <a:schemeClr val="accent5"/>
            </a:solidFill>
            <a:prstDash val="dash"/>
          </a:ln>
        </p:spPr>
        <p:txBody>
          <a:bodyPr wrap="square" lIns="0" tIns="0" rIns="0" bIns="0" rtlCol="0" anchor="ctr"/>
          <a:lstStyle/>
          <a:p>
            <a:pPr algn="ctr" indent="0" marL="0">
              <a:buNone/>
            </a:pPr>
            <a:r>
              <a:rPr lang="en-US" sz="1100" b="1" spc="100" kern="0" dirty="0">
                <a:solidFill>
                  <a:schemeClr val="tx1"/>
                </a:solidFill>
              </a:rPr>
              <a:t>GATED PLAN</a:t>
            </a:r>
            <a:endParaRPr lang="en-US" sz="1100" dirty="0"/>
          </a:p>
        </p:txBody>
      </p:sp>
      <p:sp>
        <p:nvSpPr>
          <p:cNvPr id="46" name="Title 6"/>
          <p:cNvSpPr txBox="1"/>
          <p:nvPr/>
        </p:nvSpPr>
        <p:spPr>
          <a:xfrm>
            <a:off x="9921240" y="3931920"/>
            <a:ext cx="1417320" cy="1097280"/>
          </a:xfrm>
          <a:prstGeom prst="rect">
            <a:avLst/>
          </a:prstGeom>
          <a:noFill/>
          <a:ln/>
        </p:spPr>
        <p:txBody>
          <a:bodyPr wrap="square" lIns="0" tIns="0" rIns="0" bIns="0" rtlCol="0" anchor="t"/>
          <a:lstStyle/>
          <a:p>
            <a:pPr algn="l" indent="0" marL="0">
              <a:lnSpc>
                <a:spcPct val="98000"/>
              </a:lnSpc>
              <a:buNone/>
            </a:pPr>
            <a:r>
              <a:rPr lang="en-US" sz="1700" b="1" dirty="0">
                <a:solidFill>
                  <a:schemeClr val="tx1"/>
                </a:solidFill>
              </a:rPr>
              <a:t>Expand when performance justifies it</a:t>
            </a:r>
            <a:endParaRPr lang="en-US" sz="1700" dirty="0"/>
          </a:p>
        </p:txBody>
      </p:sp>
      <p:sp>
        <p:nvSpPr>
          <p:cNvPr id="47" name="Watch 6"/>
          <p:cNvSpPr txBox="1"/>
          <p:nvPr/>
        </p:nvSpPr>
        <p:spPr>
          <a:xfrm>
            <a:off x="9921240" y="5074920"/>
            <a:ext cx="1417320" cy="201168"/>
          </a:xfrm>
          <a:prstGeom prst="rect">
            <a:avLst/>
          </a:prstGeom>
          <a:noFill/>
          <a:ln/>
        </p:spPr>
        <p:txBody>
          <a:bodyPr wrap="square" lIns="0" tIns="0" rIns="0" bIns="0" rtlCol="0" anchor="t"/>
          <a:lstStyle/>
          <a:p>
            <a:pPr algn="l" indent="0" marL="0">
              <a:buNone/>
            </a:pPr>
            <a:r>
              <a:rPr lang="en-US" sz="1100" b="1" spc="200" kern="0" dirty="0">
                <a:solidFill>
                  <a:srgbClr val="4A6B5A"/>
                </a:solidFill>
              </a:rPr>
              <a:t>SIGNAL</a:t>
            </a:r>
            <a:endParaRPr lang="en-US" sz="1100" dirty="0"/>
          </a:p>
        </p:txBody>
      </p:sp>
      <p:sp>
        <p:nvSpPr>
          <p:cNvPr id="48" name="Signal 6"/>
          <p:cNvSpPr txBox="1"/>
          <p:nvPr/>
        </p:nvSpPr>
        <p:spPr>
          <a:xfrm>
            <a:off x="9921240" y="5303520"/>
            <a:ext cx="1417320" cy="685800"/>
          </a:xfrm>
          <a:prstGeom prst="rect">
            <a:avLst/>
          </a:prstGeom>
          <a:noFill/>
          <a:ln/>
        </p:spPr>
        <p:txBody>
          <a:bodyPr wrap="square" lIns="0" tIns="0" rIns="0" bIns="0" rtlCol="0" anchor="t"/>
          <a:lstStyle/>
          <a:p>
            <a:pPr algn="l" indent="0" marL="0">
              <a:lnSpc>
                <a:spcPct val="100000"/>
              </a:lnSpc>
              <a:buNone/>
            </a:pPr>
            <a:r>
              <a:rPr lang="en-US" sz="1400" dirty="0">
                <a:solidFill>
                  <a:srgbClr val="455E50"/>
                </a:solidFill>
              </a:rPr>
              <a:t>A second community, only on evidence.</a:t>
            </a:r>
            <a:endParaRPr lang="en-US" sz="1400" dirty="0"/>
          </a:p>
        </p:txBody>
      </p:sp>
      <p:sp>
        <p:nvSpPr>
          <p:cNvPr id="49" name="Footnote"/>
          <p:cNvSpPr txBox="1"/>
          <p:nvPr/>
        </p:nvSpPr>
        <p:spPr>
          <a:xfrm>
            <a:off x="1115568" y="6382512"/>
            <a:ext cx="9692640" cy="274320"/>
          </a:xfrm>
          <a:prstGeom prst="rect">
            <a:avLst/>
          </a:prstGeom>
          <a:noFill/>
          <a:ln/>
        </p:spPr>
        <p:txBody>
          <a:bodyPr wrap="square" lIns="0" tIns="0" rIns="0" bIns="0" rtlCol="0" anchor="ctr"/>
          <a:lstStyle/>
          <a:p>
            <a:pPr algn="l" indent="0" marL="0">
              <a:buNone/>
            </a:pPr>
            <a:r>
              <a:rPr lang="en-US" sz="1200" dirty="0">
                <a:solidFill>
                  <a:srgbClr val="4A6B5A"/>
                </a:solidFill>
              </a:rPr>
              <a:t>Plans, not achievements. No dates or numeric targets are committed on this slide.</a:t>
            </a:r>
            <a:endParaRPr lang="en-US" sz="1200" dirty="0"/>
          </a:p>
        </p:txBody>
      </p:sp>
      <p:sp>
        <p:nvSpPr>
          <p:cNvPr id="50" name="Slide Number Placeholder 0"/>
          <p:cNvSpPr>
            <a:spLocks noGrp="1"/>
          </p:cNvSpPr>
          <p:nvPr>
            <p:ph type="sldNum" sz="quarter" idx="4294967295"/>
          </p:nvPr>
        </p:nvSpPr>
        <p:spPr>
          <a:xfrm>
            <a:off x="10957560" y="6373368"/>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accent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3"/>
                                        </p:tgtEl>
                                        <p:attrNameLst>
                                          <p:attrName>style.visibility</p:attrName>
                                        </p:attrNameLst>
                                      </p:cBhvr>
                                      <p:to>
                                        <p:strVal val="visible"/>
                                      </p:to>
                                    </p:set>
                                    <p:anim calcmode="lin" valueType="num">
                                      <p:cBhvr>
                                        <p:cTn id="10" dur="550" fill="hold"/>
                                        <p:tgtEl>
                                          <p:spTgt spid="3"/>
                                        </p:tgtEl>
                                        <p:attrNameLst>
                                          <p:attrName>ppt_y</p:attrName>
                                        </p:attrNameLst>
                                      </p:cBhvr>
                                      <p:tavLst>
                                        <p:tav tm="0">
                                          <p:val>
                                            <p:strVal val="#ppt_y+.05"/>
                                          </p:val>
                                        </p:tav>
                                        <p:tav tm="100000">
                                          <p:val>
                                            <p:strVal val="#ppt_y"/>
                                          </p:val>
                                        </p:tav>
                                      </p:tavLst>
                                    </p:anim>
                                    <p:animEffect transition="in" filter="fade">
                                      <p:cBhvr>
                                        <p:cTn id="11" dur="550"/>
                                        <p:tgtEl>
                                          <p:spTgt spid="3"/>
                                        </p:tgtEl>
                                      </p:cBhvr>
                                    </p:animEffect>
                                  </p:childTnLst>
                                </p:cTn>
                              </p:par>
                              <p:par>
                                <p:cTn id="12" presetID="10" presetClass="entr" presetSubtype="0" fill="hold" grpId="0" nodeType="withEffect">
                                  <p:stCondLst>
                                    <p:cond delay="4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15" presetID="22" presetClass="entr" presetSubtype="8" fill="hold" grpId="0" nodeType="withEffect">
                                  <p:stCondLst>
                                    <p:cond delay="45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par>
                                <p:cTn id="18" presetID="22" presetClass="entr" presetSubtype="8" fill="hold" grpId="0" nodeType="withEffect">
                                  <p:stCondLst>
                                    <p:cond delay="500"/>
                                  </p:stCondLst>
                                  <p:childTnLst>
                                    <p:set>
                                      <p:cBhvr>
                                        <p:cTn id="19" dur="1" fill="hold">
                                          <p:stCondLst>
                                            <p:cond delay="0"/>
                                          </p:stCondLst>
                                        </p:cTn>
                                        <p:tgtEl>
                                          <p:spTgt spid="12"/>
                                        </p:tgtEl>
                                        <p:attrNameLst>
                                          <p:attrName>style.visibility</p:attrName>
                                        </p:attrNameLst>
                                      </p:cBhvr>
                                      <p:to>
                                        <p:strVal val="visible"/>
                                      </p:to>
                                    </p:set>
                                    <p:animEffect transition="in" filter="wipe(left)">
                                      <p:cBhvr>
                                        <p:cTn id="20" dur="1500"/>
                                        <p:tgtEl>
                                          <p:spTgt spid="12"/>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10" presetClass="entr" presetSubtype="0" fill="hold" grpId="0" nodeType="withEffect">
                                  <p:stCondLst>
                                    <p:cond delay="75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par>
                                <p:cTn id="27" presetID="22" presetClass="entr" presetSubtype="8" fill="hold" grpId="0" nodeType="withEffect">
                                  <p:stCondLst>
                                    <p:cond delay="80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par>
                                <p:cTn id="30" presetID="42" presetClass="entr" presetSubtype="0" fill="hold" grpId="0" nodeType="withEffect">
                                  <p:stCondLst>
                                    <p:cond delay="900"/>
                                  </p:stCondLst>
                                  <p:childTnLst>
                                    <p:set>
                                      <p:cBhvr>
                                        <p:cTn id="31" dur="1" fill="hold">
                                          <p:stCondLst>
                                            <p:cond delay="0"/>
                                          </p:stCondLst>
                                        </p:cTn>
                                        <p:tgtEl>
                                          <p:spTgt spid="14"/>
                                        </p:tgtEl>
                                        <p:attrNameLst>
                                          <p:attrName>style.visibility</p:attrName>
                                        </p:attrNameLst>
                                      </p:cBhvr>
                                      <p:to>
                                        <p:strVal val="visible"/>
                                      </p:to>
                                    </p:set>
                                    <p:anim calcmode="lin" valueType="num">
                                      <p:cBhvr>
                                        <p:cTn id="32" dur="550" fill="hold"/>
                                        <p:tgtEl>
                                          <p:spTgt spid="14"/>
                                        </p:tgtEl>
                                        <p:attrNameLst>
                                          <p:attrName>ppt_y</p:attrName>
                                        </p:attrNameLst>
                                      </p:cBhvr>
                                      <p:tavLst>
                                        <p:tav tm="0">
                                          <p:val>
                                            <p:strVal val="#ppt_y+.05"/>
                                          </p:val>
                                        </p:tav>
                                        <p:tav tm="100000">
                                          <p:val>
                                            <p:strVal val="#ppt_y"/>
                                          </p:val>
                                        </p:tav>
                                      </p:tavLst>
                                    </p:anim>
                                    <p:animEffect transition="in" filter="fade">
                                      <p:cBhvr>
                                        <p:cTn id="33" dur="550"/>
                                        <p:tgtEl>
                                          <p:spTgt spid="14"/>
                                        </p:tgtEl>
                                      </p:cBhvr>
                                    </p:animEffect>
                                  </p:childTnLst>
                                </p:cTn>
                              </p:par>
                              <p:par>
                                <p:cTn id="34" presetID="42" presetClass="entr" presetSubtype="0" fill="hold" grpId="0" nodeType="withEffect">
                                  <p:stCondLst>
                                    <p:cond delay="900"/>
                                  </p:stCondLst>
                                  <p:childTnLst>
                                    <p:set>
                                      <p:cBhvr>
                                        <p:cTn id="35" dur="1" fill="hold">
                                          <p:stCondLst>
                                            <p:cond delay="0"/>
                                          </p:stCondLst>
                                        </p:cTn>
                                        <p:tgtEl>
                                          <p:spTgt spid="15"/>
                                        </p:tgtEl>
                                        <p:attrNameLst>
                                          <p:attrName>style.visibility</p:attrName>
                                        </p:attrNameLst>
                                      </p:cBhvr>
                                      <p:to>
                                        <p:strVal val="visible"/>
                                      </p:to>
                                    </p:set>
                                    <p:anim calcmode="lin" valueType="num">
                                      <p:cBhvr>
                                        <p:cTn id="36" dur="550" fill="hold"/>
                                        <p:tgtEl>
                                          <p:spTgt spid="15"/>
                                        </p:tgtEl>
                                        <p:attrNameLst>
                                          <p:attrName>ppt_y</p:attrName>
                                        </p:attrNameLst>
                                      </p:cBhvr>
                                      <p:tavLst>
                                        <p:tav tm="0">
                                          <p:val>
                                            <p:strVal val="#ppt_y+.05"/>
                                          </p:val>
                                        </p:tav>
                                        <p:tav tm="100000">
                                          <p:val>
                                            <p:strVal val="#ppt_y"/>
                                          </p:val>
                                        </p:tav>
                                      </p:tavLst>
                                    </p:anim>
                                    <p:animEffect transition="in" filter="fade">
                                      <p:cBhvr>
                                        <p:cTn id="37" dur="550"/>
                                        <p:tgtEl>
                                          <p:spTgt spid="15"/>
                                        </p:tgtEl>
                                      </p:cBhvr>
                                    </p:animEffect>
                                  </p:childTnLst>
                                </p:cTn>
                              </p:par>
                              <p:par>
                                <p:cTn id="38" presetID="42" presetClass="entr" presetSubtype="0" fill="hold" grpId="0" nodeType="withEffect">
                                  <p:stCondLst>
                                    <p:cond delay="900"/>
                                  </p:stCondLst>
                                  <p:childTnLst>
                                    <p:set>
                                      <p:cBhvr>
                                        <p:cTn id="39" dur="1" fill="hold">
                                          <p:stCondLst>
                                            <p:cond delay="0"/>
                                          </p:stCondLst>
                                        </p:cTn>
                                        <p:tgtEl>
                                          <p:spTgt spid="16"/>
                                        </p:tgtEl>
                                        <p:attrNameLst>
                                          <p:attrName>style.visibility</p:attrName>
                                        </p:attrNameLst>
                                      </p:cBhvr>
                                      <p:to>
                                        <p:strVal val="visible"/>
                                      </p:to>
                                    </p:set>
                                    <p:anim calcmode="lin" valueType="num">
                                      <p:cBhvr>
                                        <p:cTn id="40" dur="550" fill="hold"/>
                                        <p:tgtEl>
                                          <p:spTgt spid="16"/>
                                        </p:tgtEl>
                                        <p:attrNameLst>
                                          <p:attrName>ppt_y</p:attrName>
                                        </p:attrNameLst>
                                      </p:cBhvr>
                                      <p:tavLst>
                                        <p:tav tm="0">
                                          <p:val>
                                            <p:strVal val="#ppt_y+.05"/>
                                          </p:val>
                                        </p:tav>
                                        <p:tav tm="100000">
                                          <p:val>
                                            <p:strVal val="#ppt_y"/>
                                          </p:val>
                                        </p:tav>
                                      </p:tavLst>
                                    </p:anim>
                                    <p:animEffect transition="in" filter="fade">
                                      <p:cBhvr>
                                        <p:cTn id="41" dur="550"/>
                                        <p:tgtEl>
                                          <p:spTgt spid="16"/>
                                        </p:tgtEl>
                                      </p:cBhvr>
                                    </p:animEffect>
                                  </p:childTnLst>
                                </p:cTn>
                              </p:par>
                              <p:par>
                                <p:cTn id="42" presetID="42" presetClass="entr" presetSubtype="0" fill="hold" grpId="0" nodeType="withEffect">
                                  <p:stCondLst>
                                    <p:cond delay="900"/>
                                  </p:stCondLst>
                                  <p:childTnLst>
                                    <p:set>
                                      <p:cBhvr>
                                        <p:cTn id="43" dur="1" fill="hold">
                                          <p:stCondLst>
                                            <p:cond delay="0"/>
                                          </p:stCondLst>
                                        </p:cTn>
                                        <p:tgtEl>
                                          <p:spTgt spid="17"/>
                                        </p:tgtEl>
                                        <p:attrNameLst>
                                          <p:attrName>style.visibility</p:attrName>
                                        </p:attrNameLst>
                                      </p:cBhvr>
                                      <p:to>
                                        <p:strVal val="visible"/>
                                      </p:to>
                                    </p:set>
                                    <p:anim calcmode="lin" valueType="num">
                                      <p:cBhvr>
                                        <p:cTn id="44" dur="550" fill="hold"/>
                                        <p:tgtEl>
                                          <p:spTgt spid="17"/>
                                        </p:tgtEl>
                                        <p:attrNameLst>
                                          <p:attrName>ppt_y</p:attrName>
                                        </p:attrNameLst>
                                      </p:cBhvr>
                                      <p:tavLst>
                                        <p:tav tm="0">
                                          <p:val>
                                            <p:strVal val="#ppt_y+.05"/>
                                          </p:val>
                                        </p:tav>
                                        <p:tav tm="100000">
                                          <p:val>
                                            <p:strVal val="#ppt_y"/>
                                          </p:val>
                                        </p:tav>
                                      </p:tavLst>
                                    </p:anim>
                                    <p:animEffect transition="in" filter="fade">
                                      <p:cBhvr>
                                        <p:cTn id="45" dur="550"/>
                                        <p:tgtEl>
                                          <p:spTgt spid="17"/>
                                        </p:tgtEl>
                                      </p:cBhvr>
                                    </p:animEffect>
                                  </p:childTnLst>
                                </p:cTn>
                              </p:par>
                              <p:par>
                                <p:cTn id="46" presetID="42" presetClass="entr" presetSubtype="0" fill="hold" grpId="0" nodeType="withEffect">
                                  <p:stCondLst>
                                    <p:cond delay="900"/>
                                  </p:stCondLst>
                                  <p:childTnLst>
                                    <p:set>
                                      <p:cBhvr>
                                        <p:cTn id="47" dur="1" fill="hold">
                                          <p:stCondLst>
                                            <p:cond delay="0"/>
                                          </p:stCondLst>
                                        </p:cTn>
                                        <p:tgtEl>
                                          <p:spTgt spid="18"/>
                                        </p:tgtEl>
                                        <p:attrNameLst>
                                          <p:attrName>style.visibility</p:attrName>
                                        </p:attrNameLst>
                                      </p:cBhvr>
                                      <p:to>
                                        <p:strVal val="visible"/>
                                      </p:to>
                                    </p:set>
                                    <p:anim calcmode="lin" valueType="num">
                                      <p:cBhvr>
                                        <p:cTn id="48" dur="550" fill="hold"/>
                                        <p:tgtEl>
                                          <p:spTgt spid="18"/>
                                        </p:tgtEl>
                                        <p:attrNameLst>
                                          <p:attrName>ppt_y</p:attrName>
                                        </p:attrNameLst>
                                      </p:cBhvr>
                                      <p:tavLst>
                                        <p:tav tm="0">
                                          <p:val>
                                            <p:strVal val="#ppt_y+.05"/>
                                          </p:val>
                                        </p:tav>
                                        <p:tav tm="100000">
                                          <p:val>
                                            <p:strVal val="#ppt_y"/>
                                          </p:val>
                                        </p:tav>
                                      </p:tavLst>
                                    </p:anim>
                                    <p:animEffect transition="in" filter="fade">
                                      <p:cBhvr>
                                        <p:cTn id="49" dur="550"/>
                                        <p:tgtEl>
                                          <p:spTgt spid="18"/>
                                        </p:tgtEl>
                                      </p:cBhvr>
                                    </p:animEffect>
                                  </p:childTnLst>
                                </p:cTn>
                              </p:par>
                              <p:par>
                                <p:cTn id="50" presetID="10" presetClass="entr" presetSubtype="0" fill="hold" grpId="0" nodeType="withEffect">
                                  <p:stCondLst>
                                    <p:cond delay="95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10" presetClass="entr" presetSubtype="0" fill="hold" grpId="0" nodeType="withEffect">
                                  <p:stCondLst>
                                    <p:cond delay="1100"/>
                                  </p:stCondLst>
                                  <p:childTnLst>
                                    <p:set>
                                      <p:cBhvr>
                                        <p:cTn id="54" dur="1" fill="hold">
                                          <p:stCondLst>
                                            <p:cond delay="0"/>
                                          </p:stCondLst>
                                        </p:cTn>
                                        <p:tgtEl>
                                          <p:spTgt spid="8"/>
                                        </p:tgtEl>
                                        <p:attrNameLst>
                                          <p:attrName>style.visibility</p:attrName>
                                        </p:attrNameLst>
                                      </p:cBhvr>
                                      <p:to>
                                        <p:strVal val="visible"/>
                                      </p:to>
                                    </p:set>
                                    <p:animEffect transition="in" filter="fade">
                                      <p:cBhvr>
                                        <p:cTn id="55" dur="500"/>
                                        <p:tgtEl>
                                          <p:spTgt spid="8"/>
                                        </p:tgtEl>
                                      </p:cBhvr>
                                    </p:animEffect>
                                  </p:childTnLst>
                                </p:cTn>
                              </p:par>
                              <p:par>
                                <p:cTn id="56" presetID="22" presetClass="entr" presetSubtype="8" fill="hold" grpId="0" nodeType="withEffect">
                                  <p:stCondLst>
                                    <p:cond delay="1150"/>
                                  </p:stCondLst>
                                  <p:childTnLst>
                                    <p:set>
                                      <p:cBhvr>
                                        <p:cTn id="57" dur="1" fill="hold">
                                          <p:stCondLst>
                                            <p:cond delay="0"/>
                                          </p:stCondLst>
                                        </p:cTn>
                                        <p:tgtEl>
                                          <p:spTgt spid="9"/>
                                        </p:tgtEl>
                                        <p:attrNameLst>
                                          <p:attrName>style.visibility</p:attrName>
                                        </p:attrNameLst>
                                      </p:cBhvr>
                                      <p:to>
                                        <p:strVal val="visible"/>
                                      </p:to>
                                    </p:set>
                                    <p:animEffect transition="in" filter="wipe(left)">
                                      <p:cBhvr>
                                        <p:cTn id="58" dur="500"/>
                                        <p:tgtEl>
                                          <p:spTgt spid="9"/>
                                        </p:tgtEl>
                                      </p:cBhvr>
                                    </p:animEffect>
                                  </p:childTnLst>
                                </p:cTn>
                              </p:par>
                              <p:par>
                                <p:cTn id="59" presetID="42" presetClass="entr" presetSubtype="0" fill="hold" grpId="0" nodeType="withEffect">
                                  <p:stCondLst>
                                    <p:cond delay="1150"/>
                                  </p:stCondLst>
                                  <p:childTnLst>
                                    <p:set>
                                      <p:cBhvr>
                                        <p:cTn id="60" dur="1" fill="hold">
                                          <p:stCondLst>
                                            <p:cond delay="0"/>
                                          </p:stCondLst>
                                        </p:cTn>
                                        <p:tgtEl>
                                          <p:spTgt spid="20"/>
                                        </p:tgtEl>
                                        <p:attrNameLst>
                                          <p:attrName>style.visibility</p:attrName>
                                        </p:attrNameLst>
                                      </p:cBhvr>
                                      <p:to>
                                        <p:strVal val="visible"/>
                                      </p:to>
                                    </p:set>
                                    <p:anim calcmode="lin" valueType="num">
                                      <p:cBhvr>
                                        <p:cTn id="61" dur="550" fill="hold"/>
                                        <p:tgtEl>
                                          <p:spTgt spid="20"/>
                                        </p:tgtEl>
                                        <p:attrNameLst>
                                          <p:attrName>ppt_y</p:attrName>
                                        </p:attrNameLst>
                                      </p:cBhvr>
                                      <p:tavLst>
                                        <p:tav tm="0">
                                          <p:val>
                                            <p:strVal val="#ppt_y+.05"/>
                                          </p:val>
                                        </p:tav>
                                        <p:tav tm="100000">
                                          <p:val>
                                            <p:strVal val="#ppt_y"/>
                                          </p:val>
                                        </p:tav>
                                      </p:tavLst>
                                    </p:anim>
                                    <p:animEffect transition="in" filter="fade">
                                      <p:cBhvr>
                                        <p:cTn id="62" dur="550"/>
                                        <p:tgtEl>
                                          <p:spTgt spid="20"/>
                                        </p:tgtEl>
                                      </p:cBhvr>
                                    </p:animEffect>
                                  </p:childTnLst>
                                </p:cTn>
                              </p:par>
                              <p:par>
                                <p:cTn id="63" presetID="42" presetClass="entr" presetSubtype="0" fill="hold" grpId="0" nodeType="withEffect">
                                  <p:stCondLst>
                                    <p:cond delay="1150"/>
                                  </p:stCondLst>
                                  <p:childTnLst>
                                    <p:set>
                                      <p:cBhvr>
                                        <p:cTn id="64" dur="1" fill="hold">
                                          <p:stCondLst>
                                            <p:cond delay="0"/>
                                          </p:stCondLst>
                                        </p:cTn>
                                        <p:tgtEl>
                                          <p:spTgt spid="21"/>
                                        </p:tgtEl>
                                        <p:attrNameLst>
                                          <p:attrName>style.visibility</p:attrName>
                                        </p:attrNameLst>
                                      </p:cBhvr>
                                      <p:to>
                                        <p:strVal val="visible"/>
                                      </p:to>
                                    </p:set>
                                    <p:anim calcmode="lin" valueType="num">
                                      <p:cBhvr>
                                        <p:cTn id="65" dur="550" fill="hold"/>
                                        <p:tgtEl>
                                          <p:spTgt spid="21"/>
                                        </p:tgtEl>
                                        <p:attrNameLst>
                                          <p:attrName>ppt_y</p:attrName>
                                        </p:attrNameLst>
                                      </p:cBhvr>
                                      <p:tavLst>
                                        <p:tav tm="0">
                                          <p:val>
                                            <p:strVal val="#ppt_y+.05"/>
                                          </p:val>
                                        </p:tav>
                                        <p:tav tm="100000">
                                          <p:val>
                                            <p:strVal val="#ppt_y"/>
                                          </p:val>
                                        </p:tav>
                                      </p:tavLst>
                                    </p:anim>
                                    <p:animEffect transition="in" filter="fade">
                                      <p:cBhvr>
                                        <p:cTn id="66" dur="550"/>
                                        <p:tgtEl>
                                          <p:spTgt spid="21"/>
                                        </p:tgtEl>
                                      </p:cBhvr>
                                    </p:animEffect>
                                  </p:childTnLst>
                                </p:cTn>
                              </p:par>
                              <p:par>
                                <p:cTn id="67" presetID="42" presetClass="entr" presetSubtype="0" fill="hold" grpId="0" nodeType="withEffect">
                                  <p:stCondLst>
                                    <p:cond delay="1150"/>
                                  </p:stCondLst>
                                  <p:childTnLst>
                                    <p:set>
                                      <p:cBhvr>
                                        <p:cTn id="68" dur="1" fill="hold">
                                          <p:stCondLst>
                                            <p:cond delay="0"/>
                                          </p:stCondLst>
                                        </p:cTn>
                                        <p:tgtEl>
                                          <p:spTgt spid="22"/>
                                        </p:tgtEl>
                                        <p:attrNameLst>
                                          <p:attrName>style.visibility</p:attrName>
                                        </p:attrNameLst>
                                      </p:cBhvr>
                                      <p:to>
                                        <p:strVal val="visible"/>
                                      </p:to>
                                    </p:set>
                                    <p:anim calcmode="lin" valueType="num">
                                      <p:cBhvr>
                                        <p:cTn id="69" dur="550" fill="hold"/>
                                        <p:tgtEl>
                                          <p:spTgt spid="22"/>
                                        </p:tgtEl>
                                        <p:attrNameLst>
                                          <p:attrName>ppt_y</p:attrName>
                                        </p:attrNameLst>
                                      </p:cBhvr>
                                      <p:tavLst>
                                        <p:tav tm="0">
                                          <p:val>
                                            <p:strVal val="#ppt_y+.05"/>
                                          </p:val>
                                        </p:tav>
                                        <p:tav tm="100000">
                                          <p:val>
                                            <p:strVal val="#ppt_y"/>
                                          </p:val>
                                        </p:tav>
                                      </p:tavLst>
                                    </p:anim>
                                    <p:animEffect transition="in" filter="fade">
                                      <p:cBhvr>
                                        <p:cTn id="70" dur="550"/>
                                        <p:tgtEl>
                                          <p:spTgt spid="22"/>
                                        </p:tgtEl>
                                      </p:cBhvr>
                                    </p:animEffect>
                                  </p:childTnLst>
                                </p:cTn>
                              </p:par>
                              <p:par>
                                <p:cTn id="71" presetID="42" presetClass="entr" presetSubtype="0" fill="hold" grpId="0" nodeType="withEffect">
                                  <p:stCondLst>
                                    <p:cond delay="1150"/>
                                  </p:stCondLst>
                                  <p:childTnLst>
                                    <p:set>
                                      <p:cBhvr>
                                        <p:cTn id="72" dur="1" fill="hold">
                                          <p:stCondLst>
                                            <p:cond delay="0"/>
                                          </p:stCondLst>
                                        </p:cTn>
                                        <p:tgtEl>
                                          <p:spTgt spid="23"/>
                                        </p:tgtEl>
                                        <p:attrNameLst>
                                          <p:attrName>style.visibility</p:attrName>
                                        </p:attrNameLst>
                                      </p:cBhvr>
                                      <p:to>
                                        <p:strVal val="visible"/>
                                      </p:to>
                                    </p:set>
                                    <p:anim calcmode="lin" valueType="num">
                                      <p:cBhvr>
                                        <p:cTn id="73" dur="550" fill="hold"/>
                                        <p:tgtEl>
                                          <p:spTgt spid="23"/>
                                        </p:tgtEl>
                                        <p:attrNameLst>
                                          <p:attrName>ppt_y</p:attrName>
                                        </p:attrNameLst>
                                      </p:cBhvr>
                                      <p:tavLst>
                                        <p:tav tm="0">
                                          <p:val>
                                            <p:strVal val="#ppt_y+.05"/>
                                          </p:val>
                                        </p:tav>
                                        <p:tav tm="100000">
                                          <p:val>
                                            <p:strVal val="#ppt_y"/>
                                          </p:val>
                                        </p:tav>
                                      </p:tavLst>
                                    </p:anim>
                                    <p:animEffect transition="in" filter="fade">
                                      <p:cBhvr>
                                        <p:cTn id="74" dur="550"/>
                                        <p:tgtEl>
                                          <p:spTgt spid="23"/>
                                        </p:tgtEl>
                                      </p:cBhvr>
                                    </p:animEffect>
                                  </p:childTnLst>
                                </p:cTn>
                              </p:par>
                              <p:par>
                                <p:cTn id="75" presetID="42" presetClass="entr" presetSubtype="0" fill="hold" grpId="0" nodeType="withEffect">
                                  <p:stCondLst>
                                    <p:cond delay="1150"/>
                                  </p:stCondLst>
                                  <p:childTnLst>
                                    <p:set>
                                      <p:cBhvr>
                                        <p:cTn id="76" dur="1" fill="hold">
                                          <p:stCondLst>
                                            <p:cond delay="0"/>
                                          </p:stCondLst>
                                        </p:cTn>
                                        <p:tgtEl>
                                          <p:spTgt spid="24"/>
                                        </p:tgtEl>
                                        <p:attrNameLst>
                                          <p:attrName>style.visibility</p:attrName>
                                        </p:attrNameLst>
                                      </p:cBhvr>
                                      <p:to>
                                        <p:strVal val="visible"/>
                                      </p:to>
                                    </p:set>
                                    <p:anim calcmode="lin" valueType="num">
                                      <p:cBhvr>
                                        <p:cTn id="77" dur="550" fill="hold"/>
                                        <p:tgtEl>
                                          <p:spTgt spid="24"/>
                                        </p:tgtEl>
                                        <p:attrNameLst>
                                          <p:attrName>ppt_y</p:attrName>
                                        </p:attrNameLst>
                                      </p:cBhvr>
                                      <p:tavLst>
                                        <p:tav tm="0">
                                          <p:val>
                                            <p:strVal val="#ppt_y+.05"/>
                                          </p:val>
                                        </p:tav>
                                        <p:tav tm="100000">
                                          <p:val>
                                            <p:strVal val="#ppt_y"/>
                                          </p:val>
                                        </p:tav>
                                      </p:tavLst>
                                    </p:anim>
                                    <p:animEffect transition="in" filter="fade">
                                      <p:cBhvr>
                                        <p:cTn id="78" dur="550"/>
                                        <p:tgtEl>
                                          <p:spTgt spid="24"/>
                                        </p:tgtEl>
                                      </p:cBhvr>
                                    </p:animEffect>
                                  </p:childTnLst>
                                </p:cTn>
                              </p:par>
                              <p:par>
                                <p:cTn id="79" presetID="10" presetClass="entr" presetSubtype="0" fill="hold" grpId="0" nodeType="withEffect">
                                  <p:stCondLst>
                                    <p:cond delay="1200"/>
                                  </p:stCondLst>
                                  <p:childTnLst>
                                    <p:set>
                                      <p:cBhvr>
                                        <p:cTn id="80" dur="1" fill="hold">
                                          <p:stCondLst>
                                            <p:cond delay="0"/>
                                          </p:stCondLst>
                                        </p:cTn>
                                        <p:tgtEl>
                                          <p:spTgt spid="25"/>
                                        </p:tgtEl>
                                        <p:attrNameLst>
                                          <p:attrName>style.visibility</p:attrName>
                                        </p:attrNameLst>
                                      </p:cBhvr>
                                      <p:to>
                                        <p:strVal val="visible"/>
                                      </p:to>
                                    </p:set>
                                    <p:animEffect transition="in" filter="fade">
                                      <p:cBhvr>
                                        <p:cTn id="81" dur="500"/>
                                        <p:tgtEl>
                                          <p:spTgt spid="25"/>
                                        </p:tgtEl>
                                      </p:cBhvr>
                                    </p:animEffect>
                                  </p:childTnLst>
                                </p:cTn>
                              </p:par>
                              <p:par>
                                <p:cTn id="82" presetID="42" presetClass="entr" presetSubtype="0" fill="hold" grpId="0" nodeType="withEffect">
                                  <p:stCondLst>
                                    <p:cond delay="1400"/>
                                  </p:stCondLst>
                                  <p:childTnLst>
                                    <p:set>
                                      <p:cBhvr>
                                        <p:cTn id="83" dur="1" fill="hold">
                                          <p:stCondLst>
                                            <p:cond delay="0"/>
                                          </p:stCondLst>
                                        </p:cTn>
                                        <p:tgtEl>
                                          <p:spTgt spid="26"/>
                                        </p:tgtEl>
                                        <p:attrNameLst>
                                          <p:attrName>style.visibility</p:attrName>
                                        </p:attrNameLst>
                                      </p:cBhvr>
                                      <p:to>
                                        <p:strVal val="visible"/>
                                      </p:to>
                                    </p:set>
                                    <p:anim calcmode="lin" valueType="num">
                                      <p:cBhvr>
                                        <p:cTn id="84" dur="550" fill="hold"/>
                                        <p:tgtEl>
                                          <p:spTgt spid="26"/>
                                        </p:tgtEl>
                                        <p:attrNameLst>
                                          <p:attrName>ppt_y</p:attrName>
                                        </p:attrNameLst>
                                      </p:cBhvr>
                                      <p:tavLst>
                                        <p:tav tm="0">
                                          <p:val>
                                            <p:strVal val="#ppt_y+.05"/>
                                          </p:val>
                                        </p:tav>
                                        <p:tav tm="100000">
                                          <p:val>
                                            <p:strVal val="#ppt_y"/>
                                          </p:val>
                                        </p:tav>
                                      </p:tavLst>
                                    </p:anim>
                                    <p:animEffect transition="in" filter="fade">
                                      <p:cBhvr>
                                        <p:cTn id="85" dur="550"/>
                                        <p:tgtEl>
                                          <p:spTgt spid="26"/>
                                        </p:tgtEl>
                                      </p:cBhvr>
                                    </p:animEffect>
                                  </p:childTnLst>
                                </p:cTn>
                              </p:par>
                              <p:par>
                                <p:cTn id="86" presetID="42" presetClass="entr" presetSubtype="0" fill="hold" grpId="0" nodeType="withEffect">
                                  <p:stCondLst>
                                    <p:cond delay="1400"/>
                                  </p:stCondLst>
                                  <p:childTnLst>
                                    <p:set>
                                      <p:cBhvr>
                                        <p:cTn id="87" dur="1" fill="hold">
                                          <p:stCondLst>
                                            <p:cond delay="0"/>
                                          </p:stCondLst>
                                        </p:cTn>
                                        <p:tgtEl>
                                          <p:spTgt spid="27"/>
                                        </p:tgtEl>
                                        <p:attrNameLst>
                                          <p:attrName>style.visibility</p:attrName>
                                        </p:attrNameLst>
                                      </p:cBhvr>
                                      <p:to>
                                        <p:strVal val="visible"/>
                                      </p:to>
                                    </p:set>
                                    <p:anim calcmode="lin" valueType="num">
                                      <p:cBhvr>
                                        <p:cTn id="88" dur="550" fill="hold"/>
                                        <p:tgtEl>
                                          <p:spTgt spid="27"/>
                                        </p:tgtEl>
                                        <p:attrNameLst>
                                          <p:attrName>ppt_y</p:attrName>
                                        </p:attrNameLst>
                                      </p:cBhvr>
                                      <p:tavLst>
                                        <p:tav tm="0">
                                          <p:val>
                                            <p:strVal val="#ppt_y+.05"/>
                                          </p:val>
                                        </p:tav>
                                        <p:tav tm="100000">
                                          <p:val>
                                            <p:strVal val="#ppt_y"/>
                                          </p:val>
                                        </p:tav>
                                      </p:tavLst>
                                    </p:anim>
                                    <p:animEffect transition="in" filter="fade">
                                      <p:cBhvr>
                                        <p:cTn id="89" dur="550"/>
                                        <p:tgtEl>
                                          <p:spTgt spid="27"/>
                                        </p:tgtEl>
                                      </p:cBhvr>
                                    </p:animEffect>
                                  </p:childTnLst>
                                </p:cTn>
                              </p:par>
                              <p:par>
                                <p:cTn id="90" presetID="42" presetClass="entr" presetSubtype="0" fill="hold" grpId="0" nodeType="withEffect">
                                  <p:stCondLst>
                                    <p:cond delay="1400"/>
                                  </p:stCondLst>
                                  <p:childTnLst>
                                    <p:set>
                                      <p:cBhvr>
                                        <p:cTn id="91" dur="1" fill="hold">
                                          <p:stCondLst>
                                            <p:cond delay="0"/>
                                          </p:stCondLst>
                                        </p:cTn>
                                        <p:tgtEl>
                                          <p:spTgt spid="28"/>
                                        </p:tgtEl>
                                        <p:attrNameLst>
                                          <p:attrName>style.visibility</p:attrName>
                                        </p:attrNameLst>
                                      </p:cBhvr>
                                      <p:to>
                                        <p:strVal val="visible"/>
                                      </p:to>
                                    </p:set>
                                    <p:anim calcmode="lin" valueType="num">
                                      <p:cBhvr>
                                        <p:cTn id="92" dur="550" fill="hold"/>
                                        <p:tgtEl>
                                          <p:spTgt spid="28"/>
                                        </p:tgtEl>
                                        <p:attrNameLst>
                                          <p:attrName>ppt_y</p:attrName>
                                        </p:attrNameLst>
                                      </p:cBhvr>
                                      <p:tavLst>
                                        <p:tav tm="0">
                                          <p:val>
                                            <p:strVal val="#ppt_y+.05"/>
                                          </p:val>
                                        </p:tav>
                                        <p:tav tm="100000">
                                          <p:val>
                                            <p:strVal val="#ppt_y"/>
                                          </p:val>
                                        </p:tav>
                                      </p:tavLst>
                                    </p:anim>
                                    <p:animEffect transition="in" filter="fade">
                                      <p:cBhvr>
                                        <p:cTn id="93" dur="550"/>
                                        <p:tgtEl>
                                          <p:spTgt spid="28"/>
                                        </p:tgtEl>
                                      </p:cBhvr>
                                    </p:animEffect>
                                  </p:childTnLst>
                                </p:cTn>
                              </p:par>
                              <p:par>
                                <p:cTn id="94" presetID="42" presetClass="entr" presetSubtype="0" fill="hold" grpId="0" nodeType="withEffect">
                                  <p:stCondLst>
                                    <p:cond delay="1400"/>
                                  </p:stCondLst>
                                  <p:childTnLst>
                                    <p:set>
                                      <p:cBhvr>
                                        <p:cTn id="95" dur="1" fill="hold">
                                          <p:stCondLst>
                                            <p:cond delay="0"/>
                                          </p:stCondLst>
                                        </p:cTn>
                                        <p:tgtEl>
                                          <p:spTgt spid="29"/>
                                        </p:tgtEl>
                                        <p:attrNameLst>
                                          <p:attrName>style.visibility</p:attrName>
                                        </p:attrNameLst>
                                      </p:cBhvr>
                                      <p:to>
                                        <p:strVal val="visible"/>
                                      </p:to>
                                    </p:set>
                                    <p:anim calcmode="lin" valueType="num">
                                      <p:cBhvr>
                                        <p:cTn id="96" dur="550" fill="hold"/>
                                        <p:tgtEl>
                                          <p:spTgt spid="29"/>
                                        </p:tgtEl>
                                        <p:attrNameLst>
                                          <p:attrName>ppt_y</p:attrName>
                                        </p:attrNameLst>
                                      </p:cBhvr>
                                      <p:tavLst>
                                        <p:tav tm="0">
                                          <p:val>
                                            <p:strVal val="#ppt_y+.05"/>
                                          </p:val>
                                        </p:tav>
                                        <p:tav tm="100000">
                                          <p:val>
                                            <p:strVal val="#ppt_y"/>
                                          </p:val>
                                        </p:tav>
                                      </p:tavLst>
                                    </p:anim>
                                    <p:animEffect transition="in" filter="fade">
                                      <p:cBhvr>
                                        <p:cTn id="97" dur="550"/>
                                        <p:tgtEl>
                                          <p:spTgt spid="29"/>
                                        </p:tgtEl>
                                      </p:cBhvr>
                                    </p:animEffect>
                                  </p:childTnLst>
                                </p:cTn>
                              </p:par>
                              <p:par>
                                <p:cTn id="98" presetID="42" presetClass="entr" presetSubtype="0" fill="hold" grpId="0" nodeType="withEffect">
                                  <p:stCondLst>
                                    <p:cond delay="1400"/>
                                  </p:stCondLst>
                                  <p:childTnLst>
                                    <p:set>
                                      <p:cBhvr>
                                        <p:cTn id="99" dur="1" fill="hold">
                                          <p:stCondLst>
                                            <p:cond delay="0"/>
                                          </p:stCondLst>
                                        </p:cTn>
                                        <p:tgtEl>
                                          <p:spTgt spid="30"/>
                                        </p:tgtEl>
                                        <p:attrNameLst>
                                          <p:attrName>style.visibility</p:attrName>
                                        </p:attrNameLst>
                                      </p:cBhvr>
                                      <p:to>
                                        <p:strVal val="visible"/>
                                      </p:to>
                                    </p:set>
                                    <p:anim calcmode="lin" valueType="num">
                                      <p:cBhvr>
                                        <p:cTn id="100" dur="550" fill="hold"/>
                                        <p:tgtEl>
                                          <p:spTgt spid="30"/>
                                        </p:tgtEl>
                                        <p:attrNameLst>
                                          <p:attrName>ppt_y</p:attrName>
                                        </p:attrNameLst>
                                      </p:cBhvr>
                                      <p:tavLst>
                                        <p:tav tm="0">
                                          <p:val>
                                            <p:strVal val="#ppt_y+.05"/>
                                          </p:val>
                                        </p:tav>
                                        <p:tav tm="100000">
                                          <p:val>
                                            <p:strVal val="#ppt_y"/>
                                          </p:val>
                                        </p:tav>
                                      </p:tavLst>
                                    </p:anim>
                                    <p:animEffect transition="in" filter="fade">
                                      <p:cBhvr>
                                        <p:cTn id="101" dur="550"/>
                                        <p:tgtEl>
                                          <p:spTgt spid="30"/>
                                        </p:tgtEl>
                                      </p:cBhvr>
                                    </p:animEffect>
                                  </p:childTnLst>
                                </p:cTn>
                              </p:par>
                              <p:par>
                                <p:cTn id="102" presetID="10" presetClass="entr" presetSubtype="0" fill="hold" grpId="0" nodeType="withEffect">
                                  <p:stCondLst>
                                    <p:cond delay="1450"/>
                                  </p:stCondLst>
                                  <p:childTnLst>
                                    <p:set>
                                      <p:cBhvr>
                                        <p:cTn id="103" dur="1" fill="hold">
                                          <p:stCondLst>
                                            <p:cond delay="0"/>
                                          </p:stCondLst>
                                        </p:cTn>
                                        <p:tgtEl>
                                          <p:spTgt spid="10"/>
                                        </p:tgtEl>
                                        <p:attrNameLst>
                                          <p:attrName>style.visibility</p:attrName>
                                        </p:attrNameLst>
                                      </p:cBhvr>
                                      <p:to>
                                        <p:strVal val="visible"/>
                                      </p:to>
                                    </p:set>
                                    <p:animEffect transition="in" filter="fade">
                                      <p:cBhvr>
                                        <p:cTn id="104" dur="500"/>
                                        <p:tgtEl>
                                          <p:spTgt spid="10"/>
                                        </p:tgtEl>
                                      </p:cBhvr>
                                    </p:animEffect>
                                  </p:childTnLst>
                                </p:cTn>
                              </p:par>
                              <p:par>
                                <p:cTn id="105" presetID="10" presetClass="entr" presetSubtype="0" fill="hold" grpId="0" nodeType="withEffect">
                                  <p:stCondLst>
                                    <p:cond delay="1450"/>
                                  </p:stCondLst>
                                  <p:childTnLst>
                                    <p:set>
                                      <p:cBhvr>
                                        <p:cTn id="106" dur="1" fill="hold">
                                          <p:stCondLst>
                                            <p:cond delay="0"/>
                                          </p:stCondLst>
                                        </p:cTn>
                                        <p:tgtEl>
                                          <p:spTgt spid="31"/>
                                        </p:tgtEl>
                                        <p:attrNameLst>
                                          <p:attrName>style.visibility</p:attrName>
                                        </p:attrNameLst>
                                      </p:cBhvr>
                                      <p:to>
                                        <p:strVal val="visible"/>
                                      </p:to>
                                    </p:set>
                                    <p:animEffect transition="in" filter="fade">
                                      <p:cBhvr>
                                        <p:cTn id="107" dur="500"/>
                                        <p:tgtEl>
                                          <p:spTgt spid="31"/>
                                        </p:tgtEl>
                                      </p:cBhvr>
                                    </p:animEffect>
                                  </p:childTnLst>
                                </p:cTn>
                              </p:par>
                              <p:par>
                                <p:cTn id="108" presetID="22" presetClass="entr" presetSubtype="8" fill="hold" grpId="0" nodeType="withEffect">
                                  <p:stCondLst>
                                    <p:cond delay="1500"/>
                                  </p:stCondLst>
                                  <p:childTnLst>
                                    <p:set>
                                      <p:cBhvr>
                                        <p:cTn id="109" dur="1" fill="hold">
                                          <p:stCondLst>
                                            <p:cond delay="0"/>
                                          </p:stCondLst>
                                        </p:cTn>
                                        <p:tgtEl>
                                          <p:spTgt spid="11"/>
                                        </p:tgtEl>
                                        <p:attrNameLst>
                                          <p:attrName>style.visibility</p:attrName>
                                        </p:attrNameLst>
                                      </p:cBhvr>
                                      <p:to>
                                        <p:strVal val="visible"/>
                                      </p:to>
                                    </p:set>
                                    <p:animEffect transition="in" filter="wipe(left)">
                                      <p:cBhvr>
                                        <p:cTn id="110" dur="500"/>
                                        <p:tgtEl>
                                          <p:spTgt spid="11"/>
                                        </p:tgtEl>
                                      </p:cBhvr>
                                    </p:animEffect>
                                  </p:childTnLst>
                                </p:cTn>
                              </p:par>
                              <p:par>
                                <p:cTn id="111" presetID="42" presetClass="entr" presetSubtype="0" fill="hold" grpId="0" nodeType="withEffect">
                                  <p:stCondLst>
                                    <p:cond delay="1650"/>
                                  </p:stCondLst>
                                  <p:childTnLst>
                                    <p:set>
                                      <p:cBhvr>
                                        <p:cTn id="112" dur="1" fill="hold">
                                          <p:stCondLst>
                                            <p:cond delay="0"/>
                                          </p:stCondLst>
                                        </p:cTn>
                                        <p:tgtEl>
                                          <p:spTgt spid="32"/>
                                        </p:tgtEl>
                                        <p:attrNameLst>
                                          <p:attrName>style.visibility</p:attrName>
                                        </p:attrNameLst>
                                      </p:cBhvr>
                                      <p:to>
                                        <p:strVal val="visible"/>
                                      </p:to>
                                    </p:set>
                                    <p:anim calcmode="lin" valueType="num">
                                      <p:cBhvr>
                                        <p:cTn id="113" dur="550" fill="hold"/>
                                        <p:tgtEl>
                                          <p:spTgt spid="32"/>
                                        </p:tgtEl>
                                        <p:attrNameLst>
                                          <p:attrName>ppt_y</p:attrName>
                                        </p:attrNameLst>
                                      </p:cBhvr>
                                      <p:tavLst>
                                        <p:tav tm="0">
                                          <p:val>
                                            <p:strVal val="#ppt_y+.05"/>
                                          </p:val>
                                        </p:tav>
                                        <p:tav tm="100000">
                                          <p:val>
                                            <p:strVal val="#ppt_y"/>
                                          </p:val>
                                        </p:tav>
                                      </p:tavLst>
                                    </p:anim>
                                    <p:animEffect transition="in" filter="fade">
                                      <p:cBhvr>
                                        <p:cTn id="114" dur="550"/>
                                        <p:tgtEl>
                                          <p:spTgt spid="32"/>
                                        </p:tgtEl>
                                      </p:cBhvr>
                                    </p:animEffect>
                                  </p:childTnLst>
                                </p:cTn>
                              </p:par>
                              <p:par>
                                <p:cTn id="115" presetID="42" presetClass="entr" presetSubtype="0" fill="hold" grpId="0" nodeType="withEffect">
                                  <p:stCondLst>
                                    <p:cond delay="1650"/>
                                  </p:stCondLst>
                                  <p:childTnLst>
                                    <p:set>
                                      <p:cBhvr>
                                        <p:cTn id="116" dur="1" fill="hold">
                                          <p:stCondLst>
                                            <p:cond delay="0"/>
                                          </p:stCondLst>
                                        </p:cTn>
                                        <p:tgtEl>
                                          <p:spTgt spid="33"/>
                                        </p:tgtEl>
                                        <p:attrNameLst>
                                          <p:attrName>style.visibility</p:attrName>
                                        </p:attrNameLst>
                                      </p:cBhvr>
                                      <p:to>
                                        <p:strVal val="visible"/>
                                      </p:to>
                                    </p:set>
                                    <p:anim calcmode="lin" valueType="num">
                                      <p:cBhvr>
                                        <p:cTn id="117" dur="550" fill="hold"/>
                                        <p:tgtEl>
                                          <p:spTgt spid="33"/>
                                        </p:tgtEl>
                                        <p:attrNameLst>
                                          <p:attrName>ppt_y</p:attrName>
                                        </p:attrNameLst>
                                      </p:cBhvr>
                                      <p:tavLst>
                                        <p:tav tm="0">
                                          <p:val>
                                            <p:strVal val="#ppt_y+.05"/>
                                          </p:val>
                                        </p:tav>
                                        <p:tav tm="100000">
                                          <p:val>
                                            <p:strVal val="#ppt_y"/>
                                          </p:val>
                                        </p:tav>
                                      </p:tavLst>
                                    </p:anim>
                                    <p:animEffect transition="in" filter="fade">
                                      <p:cBhvr>
                                        <p:cTn id="118" dur="550"/>
                                        <p:tgtEl>
                                          <p:spTgt spid="33"/>
                                        </p:tgtEl>
                                      </p:cBhvr>
                                    </p:animEffect>
                                  </p:childTnLst>
                                </p:cTn>
                              </p:par>
                              <p:par>
                                <p:cTn id="119" presetID="42" presetClass="entr" presetSubtype="0" fill="hold" grpId="0" nodeType="withEffect">
                                  <p:stCondLst>
                                    <p:cond delay="1650"/>
                                  </p:stCondLst>
                                  <p:childTnLst>
                                    <p:set>
                                      <p:cBhvr>
                                        <p:cTn id="120" dur="1" fill="hold">
                                          <p:stCondLst>
                                            <p:cond delay="0"/>
                                          </p:stCondLst>
                                        </p:cTn>
                                        <p:tgtEl>
                                          <p:spTgt spid="34"/>
                                        </p:tgtEl>
                                        <p:attrNameLst>
                                          <p:attrName>style.visibility</p:attrName>
                                        </p:attrNameLst>
                                      </p:cBhvr>
                                      <p:to>
                                        <p:strVal val="visible"/>
                                      </p:to>
                                    </p:set>
                                    <p:anim calcmode="lin" valueType="num">
                                      <p:cBhvr>
                                        <p:cTn id="121" dur="550" fill="hold"/>
                                        <p:tgtEl>
                                          <p:spTgt spid="34"/>
                                        </p:tgtEl>
                                        <p:attrNameLst>
                                          <p:attrName>ppt_y</p:attrName>
                                        </p:attrNameLst>
                                      </p:cBhvr>
                                      <p:tavLst>
                                        <p:tav tm="0">
                                          <p:val>
                                            <p:strVal val="#ppt_y+.05"/>
                                          </p:val>
                                        </p:tav>
                                        <p:tav tm="100000">
                                          <p:val>
                                            <p:strVal val="#ppt_y"/>
                                          </p:val>
                                        </p:tav>
                                      </p:tavLst>
                                    </p:anim>
                                    <p:animEffect transition="in" filter="fade">
                                      <p:cBhvr>
                                        <p:cTn id="122" dur="550"/>
                                        <p:tgtEl>
                                          <p:spTgt spid="34"/>
                                        </p:tgtEl>
                                      </p:cBhvr>
                                    </p:animEffect>
                                  </p:childTnLst>
                                </p:cTn>
                              </p:par>
                              <p:par>
                                <p:cTn id="123" presetID="42" presetClass="entr" presetSubtype="0" fill="hold" grpId="0" nodeType="withEffect">
                                  <p:stCondLst>
                                    <p:cond delay="1650"/>
                                  </p:stCondLst>
                                  <p:childTnLst>
                                    <p:set>
                                      <p:cBhvr>
                                        <p:cTn id="124" dur="1" fill="hold">
                                          <p:stCondLst>
                                            <p:cond delay="0"/>
                                          </p:stCondLst>
                                        </p:cTn>
                                        <p:tgtEl>
                                          <p:spTgt spid="35"/>
                                        </p:tgtEl>
                                        <p:attrNameLst>
                                          <p:attrName>style.visibility</p:attrName>
                                        </p:attrNameLst>
                                      </p:cBhvr>
                                      <p:to>
                                        <p:strVal val="visible"/>
                                      </p:to>
                                    </p:set>
                                    <p:anim calcmode="lin" valueType="num">
                                      <p:cBhvr>
                                        <p:cTn id="125" dur="550" fill="hold"/>
                                        <p:tgtEl>
                                          <p:spTgt spid="35"/>
                                        </p:tgtEl>
                                        <p:attrNameLst>
                                          <p:attrName>ppt_y</p:attrName>
                                        </p:attrNameLst>
                                      </p:cBhvr>
                                      <p:tavLst>
                                        <p:tav tm="0">
                                          <p:val>
                                            <p:strVal val="#ppt_y+.05"/>
                                          </p:val>
                                        </p:tav>
                                        <p:tav tm="100000">
                                          <p:val>
                                            <p:strVal val="#ppt_y"/>
                                          </p:val>
                                        </p:tav>
                                      </p:tavLst>
                                    </p:anim>
                                    <p:animEffect transition="in" filter="fade">
                                      <p:cBhvr>
                                        <p:cTn id="126" dur="550"/>
                                        <p:tgtEl>
                                          <p:spTgt spid="35"/>
                                        </p:tgtEl>
                                      </p:cBhvr>
                                    </p:animEffect>
                                  </p:childTnLst>
                                </p:cTn>
                              </p:par>
                              <p:par>
                                <p:cTn id="127" presetID="42" presetClass="entr" presetSubtype="0" fill="hold" grpId="0" nodeType="withEffect">
                                  <p:stCondLst>
                                    <p:cond delay="1650"/>
                                  </p:stCondLst>
                                  <p:childTnLst>
                                    <p:set>
                                      <p:cBhvr>
                                        <p:cTn id="128" dur="1" fill="hold">
                                          <p:stCondLst>
                                            <p:cond delay="0"/>
                                          </p:stCondLst>
                                        </p:cTn>
                                        <p:tgtEl>
                                          <p:spTgt spid="36"/>
                                        </p:tgtEl>
                                        <p:attrNameLst>
                                          <p:attrName>style.visibility</p:attrName>
                                        </p:attrNameLst>
                                      </p:cBhvr>
                                      <p:to>
                                        <p:strVal val="visible"/>
                                      </p:to>
                                    </p:set>
                                    <p:anim calcmode="lin" valueType="num">
                                      <p:cBhvr>
                                        <p:cTn id="129" dur="550" fill="hold"/>
                                        <p:tgtEl>
                                          <p:spTgt spid="36"/>
                                        </p:tgtEl>
                                        <p:attrNameLst>
                                          <p:attrName>ppt_y</p:attrName>
                                        </p:attrNameLst>
                                      </p:cBhvr>
                                      <p:tavLst>
                                        <p:tav tm="0">
                                          <p:val>
                                            <p:strVal val="#ppt_y+.05"/>
                                          </p:val>
                                        </p:tav>
                                        <p:tav tm="100000">
                                          <p:val>
                                            <p:strVal val="#ppt_y"/>
                                          </p:val>
                                        </p:tav>
                                      </p:tavLst>
                                    </p:anim>
                                    <p:animEffect transition="in" filter="fade">
                                      <p:cBhvr>
                                        <p:cTn id="130" dur="550"/>
                                        <p:tgtEl>
                                          <p:spTgt spid="36"/>
                                        </p:tgtEl>
                                      </p:cBhvr>
                                    </p:animEffect>
                                  </p:childTnLst>
                                </p:cTn>
                              </p:par>
                              <p:par>
                                <p:cTn id="131" presetID="10" presetClass="entr" presetSubtype="0" fill="hold" grpId="0" nodeType="withEffect">
                                  <p:stCondLst>
                                    <p:cond delay="1700"/>
                                  </p:stCondLst>
                                  <p:childTnLst>
                                    <p:set>
                                      <p:cBhvr>
                                        <p:cTn id="132" dur="1" fill="hold">
                                          <p:stCondLst>
                                            <p:cond delay="0"/>
                                          </p:stCondLst>
                                        </p:cTn>
                                        <p:tgtEl>
                                          <p:spTgt spid="37"/>
                                        </p:tgtEl>
                                        <p:attrNameLst>
                                          <p:attrName>style.visibility</p:attrName>
                                        </p:attrNameLst>
                                      </p:cBhvr>
                                      <p:to>
                                        <p:strVal val="visible"/>
                                      </p:to>
                                    </p:set>
                                    <p:animEffect transition="in" filter="fade">
                                      <p:cBhvr>
                                        <p:cTn id="133" dur="500"/>
                                        <p:tgtEl>
                                          <p:spTgt spid="37"/>
                                        </p:tgtEl>
                                      </p:cBhvr>
                                    </p:animEffect>
                                  </p:childTnLst>
                                </p:cTn>
                              </p:par>
                              <p:par>
                                <p:cTn id="134" presetID="42" presetClass="entr" presetSubtype="0" fill="hold" grpId="0" nodeType="withEffect">
                                  <p:stCondLst>
                                    <p:cond delay="1900"/>
                                  </p:stCondLst>
                                  <p:childTnLst>
                                    <p:set>
                                      <p:cBhvr>
                                        <p:cTn id="135" dur="1" fill="hold">
                                          <p:stCondLst>
                                            <p:cond delay="0"/>
                                          </p:stCondLst>
                                        </p:cTn>
                                        <p:tgtEl>
                                          <p:spTgt spid="38"/>
                                        </p:tgtEl>
                                        <p:attrNameLst>
                                          <p:attrName>style.visibility</p:attrName>
                                        </p:attrNameLst>
                                      </p:cBhvr>
                                      <p:to>
                                        <p:strVal val="visible"/>
                                      </p:to>
                                    </p:set>
                                    <p:anim calcmode="lin" valueType="num">
                                      <p:cBhvr>
                                        <p:cTn id="136" dur="550" fill="hold"/>
                                        <p:tgtEl>
                                          <p:spTgt spid="38"/>
                                        </p:tgtEl>
                                        <p:attrNameLst>
                                          <p:attrName>ppt_y</p:attrName>
                                        </p:attrNameLst>
                                      </p:cBhvr>
                                      <p:tavLst>
                                        <p:tav tm="0">
                                          <p:val>
                                            <p:strVal val="#ppt_y+.05"/>
                                          </p:val>
                                        </p:tav>
                                        <p:tav tm="100000">
                                          <p:val>
                                            <p:strVal val="#ppt_y"/>
                                          </p:val>
                                        </p:tav>
                                      </p:tavLst>
                                    </p:anim>
                                    <p:animEffect transition="in" filter="fade">
                                      <p:cBhvr>
                                        <p:cTn id="137" dur="550"/>
                                        <p:tgtEl>
                                          <p:spTgt spid="38"/>
                                        </p:tgtEl>
                                      </p:cBhvr>
                                    </p:animEffect>
                                  </p:childTnLst>
                                </p:cTn>
                              </p:par>
                              <p:par>
                                <p:cTn id="138" presetID="42" presetClass="entr" presetSubtype="0" fill="hold" grpId="0" nodeType="withEffect">
                                  <p:stCondLst>
                                    <p:cond delay="1900"/>
                                  </p:stCondLst>
                                  <p:childTnLst>
                                    <p:set>
                                      <p:cBhvr>
                                        <p:cTn id="139" dur="1" fill="hold">
                                          <p:stCondLst>
                                            <p:cond delay="0"/>
                                          </p:stCondLst>
                                        </p:cTn>
                                        <p:tgtEl>
                                          <p:spTgt spid="39"/>
                                        </p:tgtEl>
                                        <p:attrNameLst>
                                          <p:attrName>style.visibility</p:attrName>
                                        </p:attrNameLst>
                                      </p:cBhvr>
                                      <p:to>
                                        <p:strVal val="visible"/>
                                      </p:to>
                                    </p:set>
                                    <p:anim calcmode="lin" valueType="num">
                                      <p:cBhvr>
                                        <p:cTn id="140" dur="550" fill="hold"/>
                                        <p:tgtEl>
                                          <p:spTgt spid="39"/>
                                        </p:tgtEl>
                                        <p:attrNameLst>
                                          <p:attrName>ppt_y</p:attrName>
                                        </p:attrNameLst>
                                      </p:cBhvr>
                                      <p:tavLst>
                                        <p:tav tm="0">
                                          <p:val>
                                            <p:strVal val="#ppt_y+.05"/>
                                          </p:val>
                                        </p:tav>
                                        <p:tav tm="100000">
                                          <p:val>
                                            <p:strVal val="#ppt_y"/>
                                          </p:val>
                                        </p:tav>
                                      </p:tavLst>
                                    </p:anim>
                                    <p:animEffect transition="in" filter="fade">
                                      <p:cBhvr>
                                        <p:cTn id="141" dur="550"/>
                                        <p:tgtEl>
                                          <p:spTgt spid="39"/>
                                        </p:tgtEl>
                                      </p:cBhvr>
                                    </p:animEffect>
                                  </p:childTnLst>
                                </p:cTn>
                              </p:par>
                              <p:par>
                                <p:cTn id="142" presetID="42" presetClass="entr" presetSubtype="0" fill="hold" grpId="0" nodeType="withEffect">
                                  <p:stCondLst>
                                    <p:cond delay="1900"/>
                                  </p:stCondLst>
                                  <p:childTnLst>
                                    <p:set>
                                      <p:cBhvr>
                                        <p:cTn id="143" dur="1" fill="hold">
                                          <p:stCondLst>
                                            <p:cond delay="0"/>
                                          </p:stCondLst>
                                        </p:cTn>
                                        <p:tgtEl>
                                          <p:spTgt spid="40"/>
                                        </p:tgtEl>
                                        <p:attrNameLst>
                                          <p:attrName>style.visibility</p:attrName>
                                        </p:attrNameLst>
                                      </p:cBhvr>
                                      <p:to>
                                        <p:strVal val="visible"/>
                                      </p:to>
                                    </p:set>
                                    <p:anim calcmode="lin" valueType="num">
                                      <p:cBhvr>
                                        <p:cTn id="144" dur="550" fill="hold"/>
                                        <p:tgtEl>
                                          <p:spTgt spid="40"/>
                                        </p:tgtEl>
                                        <p:attrNameLst>
                                          <p:attrName>ppt_y</p:attrName>
                                        </p:attrNameLst>
                                      </p:cBhvr>
                                      <p:tavLst>
                                        <p:tav tm="0">
                                          <p:val>
                                            <p:strVal val="#ppt_y+.05"/>
                                          </p:val>
                                        </p:tav>
                                        <p:tav tm="100000">
                                          <p:val>
                                            <p:strVal val="#ppt_y"/>
                                          </p:val>
                                        </p:tav>
                                      </p:tavLst>
                                    </p:anim>
                                    <p:animEffect transition="in" filter="fade">
                                      <p:cBhvr>
                                        <p:cTn id="145" dur="550"/>
                                        <p:tgtEl>
                                          <p:spTgt spid="40"/>
                                        </p:tgtEl>
                                      </p:cBhvr>
                                    </p:animEffect>
                                  </p:childTnLst>
                                </p:cTn>
                              </p:par>
                              <p:par>
                                <p:cTn id="146" presetID="42" presetClass="entr" presetSubtype="0" fill="hold" grpId="0" nodeType="withEffect">
                                  <p:stCondLst>
                                    <p:cond delay="1900"/>
                                  </p:stCondLst>
                                  <p:childTnLst>
                                    <p:set>
                                      <p:cBhvr>
                                        <p:cTn id="147" dur="1" fill="hold">
                                          <p:stCondLst>
                                            <p:cond delay="0"/>
                                          </p:stCondLst>
                                        </p:cTn>
                                        <p:tgtEl>
                                          <p:spTgt spid="41"/>
                                        </p:tgtEl>
                                        <p:attrNameLst>
                                          <p:attrName>style.visibility</p:attrName>
                                        </p:attrNameLst>
                                      </p:cBhvr>
                                      <p:to>
                                        <p:strVal val="visible"/>
                                      </p:to>
                                    </p:set>
                                    <p:anim calcmode="lin" valueType="num">
                                      <p:cBhvr>
                                        <p:cTn id="148" dur="550" fill="hold"/>
                                        <p:tgtEl>
                                          <p:spTgt spid="41"/>
                                        </p:tgtEl>
                                        <p:attrNameLst>
                                          <p:attrName>ppt_y</p:attrName>
                                        </p:attrNameLst>
                                      </p:cBhvr>
                                      <p:tavLst>
                                        <p:tav tm="0">
                                          <p:val>
                                            <p:strVal val="#ppt_y+.05"/>
                                          </p:val>
                                        </p:tav>
                                        <p:tav tm="100000">
                                          <p:val>
                                            <p:strVal val="#ppt_y"/>
                                          </p:val>
                                        </p:tav>
                                      </p:tavLst>
                                    </p:anim>
                                    <p:animEffect transition="in" filter="fade">
                                      <p:cBhvr>
                                        <p:cTn id="149" dur="550"/>
                                        <p:tgtEl>
                                          <p:spTgt spid="41"/>
                                        </p:tgtEl>
                                      </p:cBhvr>
                                    </p:animEffect>
                                  </p:childTnLst>
                                </p:cTn>
                              </p:par>
                              <p:par>
                                <p:cTn id="150" presetID="42" presetClass="entr" presetSubtype="0" fill="hold" grpId="0" nodeType="withEffect">
                                  <p:stCondLst>
                                    <p:cond delay="1900"/>
                                  </p:stCondLst>
                                  <p:childTnLst>
                                    <p:set>
                                      <p:cBhvr>
                                        <p:cTn id="151" dur="1" fill="hold">
                                          <p:stCondLst>
                                            <p:cond delay="0"/>
                                          </p:stCondLst>
                                        </p:cTn>
                                        <p:tgtEl>
                                          <p:spTgt spid="42"/>
                                        </p:tgtEl>
                                        <p:attrNameLst>
                                          <p:attrName>style.visibility</p:attrName>
                                        </p:attrNameLst>
                                      </p:cBhvr>
                                      <p:to>
                                        <p:strVal val="visible"/>
                                      </p:to>
                                    </p:set>
                                    <p:anim calcmode="lin" valueType="num">
                                      <p:cBhvr>
                                        <p:cTn id="152" dur="550" fill="hold"/>
                                        <p:tgtEl>
                                          <p:spTgt spid="42"/>
                                        </p:tgtEl>
                                        <p:attrNameLst>
                                          <p:attrName>ppt_y</p:attrName>
                                        </p:attrNameLst>
                                      </p:cBhvr>
                                      <p:tavLst>
                                        <p:tav tm="0">
                                          <p:val>
                                            <p:strVal val="#ppt_y+.05"/>
                                          </p:val>
                                        </p:tav>
                                        <p:tav tm="100000">
                                          <p:val>
                                            <p:strVal val="#ppt_y"/>
                                          </p:val>
                                        </p:tav>
                                      </p:tavLst>
                                    </p:anim>
                                    <p:animEffect transition="in" filter="fade">
                                      <p:cBhvr>
                                        <p:cTn id="153" dur="550"/>
                                        <p:tgtEl>
                                          <p:spTgt spid="42"/>
                                        </p:tgtEl>
                                      </p:cBhvr>
                                    </p:animEffect>
                                  </p:childTnLst>
                                </p:cTn>
                              </p:par>
                              <p:par>
                                <p:cTn id="154" presetID="10" presetClass="entr" presetSubtype="0" fill="hold" grpId="0" nodeType="withEffect">
                                  <p:stCondLst>
                                    <p:cond delay="1950"/>
                                  </p:stCondLst>
                                  <p:childTnLst>
                                    <p:set>
                                      <p:cBhvr>
                                        <p:cTn id="155" dur="1" fill="hold">
                                          <p:stCondLst>
                                            <p:cond delay="0"/>
                                          </p:stCondLst>
                                        </p:cTn>
                                        <p:tgtEl>
                                          <p:spTgt spid="43"/>
                                        </p:tgtEl>
                                        <p:attrNameLst>
                                          <p:attrName>style.visibility</p:attrName>
                                        </p:attrNameLst>
                                      </p:cBhvr>
                                      <p:to>
                                        <p:strVal val="visible"/>
                                      </p:to>
                                    </p:set>
                                    <p:animEffect transition="in" filter="fade">
                                      <p:cBhvr>
                                        <p:cTn id="156" dur="500"/>
                                        <p:tgtEl>
                                          <p:spTgt spid="43"/>
                                        </p:tgtEl>
                                      </p:cBhvr>
                                    </p:animEffect>
                                  </p:childTnLst>
                                </p:cTn>
                              </p:par>
                              <p:par>
                                <p:cTn id="157" presetID="42" presetClass="entr" presetSubtype="0" fill="hold" grpId="0" nodeType="withEffect">
                                  <p:stCondLst>
                                    <p:cond delay="2150"/>
                                  </p:stCondLst>
                                  <p:childTnLst>
                                    <p:set>
                                      <p:cBhvr>
                                        <p:cTn id="158" dur="1" fill="hold">
                                          <p:stCondLst>
                                            <p:cond delay="0"/>
                                          </p:stCondLst>
                                        </p:cTn>
                                        <p:tgtEl>
                                          <p:spTgt spid="44"/>
                                        </p:tgtEl>
                                        <p:attrNameLst>
                                          <p:attrName>style.visibility</p:attrName>
                                        </p:attrNameLst>
                                      </p:cBhvr>
                                      <p:to>
                                        <p:strVal val="visible"/>
                                      </p:to>
                                    </p:set>
                                    <p:anim calcmode="lin" valueType="num">
                                      <p:cBhvr>
                                        <p:cTn id="159" dur="550" fill="hold"/>
                                        <p:tgtEl>
                                          <p:spTgt spid="44"/>
                                        </p:tgtEl>
                                        <p:attrNameLst>
                                          <p:attrName>ppt_y</p:attrName>
                                        </p:attrNameLst>
                                      </p:cBhvr>
                                      <p:tavLst>
                                        <p:tav tm="0">
                                          <p:val>
                                            <p:strVal val="#ppt_y+.05"/>
                                          </p:val>
                                        </p:tav>
                                        <p:tav tm="100000">
                                          <p:val>
                                            <p:strVal val="#ppt_y"/>
                                          </p:val>
                                        </p:tav>
                                      </p:tavLst>
                                    </p:anim>
                                    <p:animEffect transition="in" filter="fade">
                                      <p:cBhvr>
                                        <p:cTn id="160" dur="550"/>
                                        <p:tgtEl>
                                          <p:spTgt spid="44"/>
                                        </p:tgtEl>
                                      </p:cBhvr>
                                    </p:animEffect>
                                  </p:childTnLst>
                                </p:cTn>
                              </p:par>
                              <p:par>
                                <p:cTn id="161" presetID="42" presetClass="entr" presetSubtype="0" fill="hold" grpId="0" nodeType="withEffect">
                                  <p:stCondLst>
                                    <p:cond delay="2150"/>
                                  </p:stCondLst>
                                  <p:childTnLst>
                                    <p:set>
                                      <p:cBhvr>
                                        <p:cTn id="162" dur="1" fill="hold">
                                          <p:stCondLst>
                                            <p:cond delay="0"/>
                                          </p:stCondLst>
                                        </p:cTn>
                                        <p:tgtEl>
                                          <p:spTgt spid="45"/>
                                        </p:tgtEl>
                                        <p:attrNameLst>
                                          <p:attrName>style.visibility</p:attrName>
                                        </p:attrNameLst>
                                      </p:cBhvr>
                                      <p:to>
                                        <p:strVal val="visible"/>
                                      </p:to>
                                    </p:set>
                                    <p:anim calcmode="lin" valueType="num">
                                      <p:cBhvr>
                                        <p:cTn id="163" dur="550" fill="hold"/>
                                        <p:tgtEl>
                                          <p:spTgt spid="45"/>
                                        </p:tgtEl>
                                        <p:attrNameLst>
                                          <p:attrName>ppt_y</p:attrName>
                                        </p:attrNameLst>
                                      </p:cBhvr>
                                      <p:tavLst>
                                        <p:tav tm="0">
                                          <p:val>
                                            <p:strVal val="#ppt_y+.05"/>
                                          </p:val>
                                        </p:tav>
                                        <p:tav tm="100000">
                                          <p:val>
                                            <p:strVal val="#ppt_y"/>
                                          </p:val>
                                        </p:tav>
                                      </p:tavLst>
                                    </p:anim>
                                    <p:animEffect transition="in" filter="fade">
                                      <p:cBhvr>
                                        <p:cTn id="164" dur="550"/>
                                        <p:tgtEl>
                                          <p:spTgt spid="45"/>
                                        </p:tgtEl>
                                      </p:cBhvr>
                                    </p:animEffect>
                                  </p:childTnLst>
                                </p:cTn>
                              </p:par>
                              <p:par>
                                <p:cTn id="165" presetID="42" presetClass="entr" presetSubtype="0" fill="hold" grpId="0" nodeType="withEffect">
                                  <p:stCondLst>
                                    <p:cond delay="2150"/>
                                  </p:stCondLst>
                                  <p:childTnLst>
                                    <p:set>
                                      <p:cBhvr>
                                        <p:cTn id="166" dur="1" fill="hold">
                                          <p:stCondLst>
                                            <p:cond delay="0"/>
                                          </p:stCondLst>
                                        </p:cTn>
                                        <p:tgtEl>
                                          <p:spTgt spid="46"/>
                                        </p:tgtEl>
                                        <p:attrNameLst>
                                          <p:attrName>style.visibility</p:attrName>
                                        </p:attrNameLst>
                                      </p:cBhvr>
                                      <p:to>
                                        <p:strVal val="visible"/>
                                      </p:to>
                                    </p:set>
                                    <p:anim calcmode="lin" valueType="num">
                                      <p:cBhvr>
                                        <p:cTn id="167" dur="550" fill="hold"/>
                                        <p:tgtEl>
                                          <p:spTgt spid="46"/>
                                        </p:tgtEl>
                                        <p:attrNameLst>
                                          <p:attrName>ppt_y</p:attrName>
                                        </p:attrNameLst>
                                      </p:cBhvr>
                                      <p:tavLst>
                                        <p:tav tm="0">
                                          <p:val>
                                            <p:strVal val="#ppt_y+.05"/>
                                          </p:val>
                                        </p:tav>
                                        <p:tav tm="100000">
                                          <p:val>
                                            <p:strVal val="#ppt_y"/>
                                          </p:val>
                                        </p:tav>
                                      </p:tavLst>
                                    </p:anim>
                                    <p:animEffect transition="in" filter="fade">
                                      <p:cBhvr>
                                        <p:cTn id="168" dur="550"/>
                                        <p:tgtEl>
                                          <p:spTgt spid="46"/>
                                        </p:tgtEl>
                                      </p:cBhvr>
                                    </p:animEffect>
                                  </p:childTnLst>
                                </p:cTn>
                              </p:par>
                              <p:par>
                                <p:cTn id="169" presetID="42" presetClass="entr" presetSubtype="0" fill="hold" grpId="0" nodeType="withEffect">
                                  <p:stCondLst>
                                    <p:cond delay="2150"/>
                                  </p:stCondLst>
                                  <p:childTnLst>
                                    <p:set>
                                      <p:cBhvr>
                                        <p:cTn id="170" dur="1" fill="hold">
                                          <p:stCondLst>
                                            <p:cond delay="0"/>
                                          </p:stCondLst>
                                        </p:cTn>
                                        <p:tgtEl>
                                          <p:spTgt spid="47"/>
                                        </p:tgtEl>
                                        <p:attrNameLst>
                                          <p:attrName>style.visibility</p:attrName>
                                        </p:attrNameLst>
                                      </p:cBhvr>
                                      <p:to>
                                        <p:strVal val="visible"/>
                                      </p:to>
                                    </p:set>
                                    <p:anim calcmode="lin" valueType="num">
                                      <p:cBhvr>
                                        <p:cTn id="171" dur="550" fill="hold"/>
                                        <p:tgtEl>
                                          <p:spTgt spid="47"/>
                                        </p:tgtEl>
                                        <p:attrNameLst>
                                          <p:attrName>ppt_y</p:attrName>
                                        </p:attrNameLst>
                                      </p:cBhvr>
                                      <p:tavLst>
                                        <p:tav tm="0">
                                          <p:val>
                                            <p:strVal val="#ppt_y+.05"/>
                                          </p:val>
                                        </p:tav>
                                        <p:tav tm="100000">
                                          <p:val>
                                            <p:strVal val="#ppt_y"/>
                                          </p:val>
                                        </p:tav>
                                      </p:tavLst>
                                    </p:anim>
                                    <p:animEffect transition="in" filter="fade">
                                      <p:cBhvr>
                                        <p:cTn id="172" dur="550"/>
                                        <p:tgtEl>
                                          <p:spTgt spid="47"/>
                                        </p:tgtEl>
                                      </p:cBhvr>
                                    </p:animEffect>
                                  </p:childTnLst>
                                </p:cTn>
                              </p:par>
                              <p:par>
                                <p:cTn id="173" presetID="42" presetClass="entr" presetSubtype="0" fill="hold" grpId="0" nodeType="withEffect">
                                  <p:stCondLst>
                                    <p:cond delay="2150"/>
                                  </p:stCondLst>
                                  <p:childTnLst>
                                    <p:set>
                                      <p:cBhvr>
                                        <p:cTn id="174" dur="1" fill="hold">
                                          <p:stCondLst>
                                            <p:cond delay="0"/>
                                          </p:stCondLst>
                                        </p:cTn>
                                        <p:tgtEl>
                                          <p:spTgt spid="48"/>
                                        </p:tgtEl>
                                        <p:attrNameLst>
                                          <p:attrName>style.visibility</p:attrName>
                                        </p:attrNameLst>
                                      </p:cBhvr>
                                      <p:to>
                                        <p:strVal val="visible"/>
                                      </p:to>
                                    </p:set>
                                    <p:anim calcmode="lin" valueType="num">
                                      <p:cBhvr>
                                        <p:cTn id="175" dur="550" fill="hold"/>
                                        <p:tgtEl>
                                          <p:spTgt spid="48"/>
                                        </p:tgtEl>
                                        <p:attrNameLst>
                                          <p:attrName>ppt_y</p:attrName>
                                        </p:attrNameLst>
                                      </p:cBhvr>
                                      <p:tavLst>
                                        <p:tav tm="0">
                                          <p:val>
                                            <p:strVal val="#ppt_y+.05"/>
                                          </p:val>
                                        </p:tav>
                                        <p:tav tm="100000">
                                          <p:val>
                                            <p:strVal val="#ppt_y"/>
                                          </p:val>
                                        </p:tav>
                                      </p:tavLst>
                                    </p:anim>
                                    <p:animEffect transition="in" filter="fade">
                                      <p:cBhvr>
                                        <p:cTn id="176" dur="550"/>
                                        <p:tgtEl>
                                          <p:spTgt spid="48"/>
                                        </p:tgtEl>
                                      </p:cBhvr>
                                    </p:animEffect>
                                  </p:childTnLst>
                                </p:cTn>
                              </p:par>
                              <p:par>
                                <p:cTn id="177" presetID="10" presetClass="entr" presetSubtype="0" fill="hold" grpId="0" nodeType="withEffect">
                                  <p:stCondLst>
                                    <p:cond delay="2600"/>
                                  </p:stCondLst>
                                  <p:childTnLst>
                                    <p:set>
                                      <p:cBhvr>
                                        <p:cTn id="178" dur="1" fill="hold">
                                          <p:stCondLst>
                                            <p:cond delay="0"/>
                                          </p:stCondLst>
                                        </p:cTn>
                                        <p:tgtEl>
                                          <p:spTgt spid="49"/>
                                        </p:tgtEl>
                                        <p:attrNameLst>
                                          <p:attrName>style.visibility</p:attrName>
                                        </p:attrNameLst>
                                      </p:cBhvr>
                                      <p:to>
                                        <p:strVal val="visible"/>
                                      </p:to>
                                    </p:set>
                                    <p:animEffect transition="in" filter="fade">
                                      <p:cBhvr>
                                        <p:cTn id="17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animBg="1"/>
      <p:bldP spid="12" grpId="0" animBg="1"/>
      <p:bldP spid="13" grpId="0" animBg="1"/>
      <p:bldP spid="6" grpId="0"/>
      <p:bldP spid="7" grpId="0" animBg="1"/>
      <p:bldP spid="14" grpId="0" animBg="1"/>
      <p:bldP spid="15" grpId="0" animBg="1"/>
      <p:bldP spid="16" grpId="0"/>
      <p:bldP spid="17" grpId="0"/>
      <p:bldP spid="18" grpId="0"/>
      <p:bldP spid="19" grpId="0" animBg="1"/>
      <p:bldP spid="8" grpId="0"/>
      <p:bldP spid="9" grpId="0" animBg="1"/>
      <p:bldP spid="20" grpId="0" animBg="1"/>
      <p:bldP spid="21" grpId="0" animBg="1"/>
      <p:bldP spid="22" grpId="0"/>
      <p:bldP spid="23" grpId="0"/>
      <p:bldP spid="24" grpId="0"/>
      <p:bldP spid="25" grpId="0" animBg="1"/>
      <p:bldP spid="26" grpId="0" animBg="1"/>
      <p:bldP spid="27" grpId="0" animBg="1"/>
      <p:bldP spid="28" grpId="0"/>
      <p:bldP spid="29" grpId="0"/>
      <p:bldP spid="30" grpId="0"/>
      <p:bldP spid="10" grpId="0"/>
      <p:bldP spid="31" grpId="0" animBg="1"/>
      <p:bldP spid="11" grpId="0" animBg="1"/>
      <p:bldP spid="32" grpId="0" animBg="1"/>
      <p:bldP spid="33" grpId="0" animBg="1"/>
      <p:bldP spid="34" grpId="0"/>
      <p:bldP spid="35" grpId="0"/>
      <p:bldP spid="36" grpId="0"/>
      <p:bldP spid="37" grpId="0" animBg="1"/>
      <p:bldP spid="38" grpId="0" animBg="1"/>
      <p:bldP spid="39" grpId="0" animBg="1"/>
      <p:bldP spid="40" grpId="0"/>
      <p:bldP spid="41" grpId="0"/>
      <p:bldP spid="42" grpId="0"/>
      <p:bldP spid="43" grpId="0" animBg="1"/>
      <p:bldP spid="44" grpId="0" animBg="1"/>
      <p:bldP spid="45" grpId="0" animBg="1"/>
      <p:bldP spid="46" grpId="0"/>
      <p:bldP spid="47" grpId="0"/>
      <p:bldP spid="48" grpId="0"/>
      <p:bldP spid="49" grpId="0"/>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Artwork" descr="Illustration (not a photograph): towers at dawn, green sky warming to gold at the horizon.">    </p:cNvPr>
          <p:cNvPicPr>
            <a:picLocks noChangeAspect="1"/>
          </p:cNvPicPr>
          <p:nvPr/>
        </p:nvPicPr>
        <p:blipFill>
          <a:blip r:embed="rId1"/>
          <a:stretch>
            <a:fillRect/>
          </a:stretch>
        </p:blipFill>
        <p:spPr>
          <a:xfrm>
            <a:off x="0" y="0"/>
            <a:ext cx="12192000" cy="6858000"/>
          </a:xfrm>
          <a:prstGeom prst="rect">
            <a:avLst/>
          </a:prstGeom>
        </p:spPr>
      </p:pic>
      <p:sp>
        <p:nvSpPr>
          <p:cNvPr id="3" name="Eyebrow"/>
          <p:cNvSpPr txBox="1"/>
          <p:nvPr/>
        </p:nvSpPr>
        <p:spPr>
          <a:xfrm>
            <a:off x="685800" y="502920"/>
            <a:ext cx="7315200" cy="274320"/>
          </a:xfrm>
          <a:prstGeom prst="rect">
            <a:avLst/>
          </a:prstGeom>
          <a:noFill/>
          <a:ln/>
        </p:spPr>
        <p:txBody>
          <a:bodyPr wrap="square" lIns="0" tIns="0" rIns="0" bIns="0" rtlCol="0" anchor="t"/>
          <a:lstStyle/>
          <a:p>
            <a:pPr algn="l" indent="0" marL="0">
              <a:buNone/>
            </a:pPr>
            <a:r>
              <a:rPr lang="en-US" sz="1300" b="1" spc="300" kern="0" dirty="0">
                <a:solidFill>
                  <a:srgbClr val="3FD39B"/>
                </a:solidFill>
              </a:rPr>
              <a:t>THE VISION</a:t>
            </a:r>
            <a:endParaRPr lang="en-US" sz="1300" dirty="0"/>
          </a:p>
        </p:txBody>
      </p:sp>
      <p:sp>
        <p:nvSpPr>
          <p:cNvPr id="4" name="Text 0"/>
          <p:cNvSpPr/>
          <p:nvPr>
            <p:ph idx="101" type="title" hasCustomPrompt="1"/>
          </p:nvPr>
        </p:nvSpPr>
        <p:spPr>
          <a:xfrm>
            <a:off x="685800" y="868680"/>
            <a:ext cx="6766560" cy="1828800"/>
          </a:xfrm>
          <a:prstGeom prst="rect">
            <a:avLst/>
          </a:prstGeom>
          <a:noFill/>
          <a:ln/>
        </p:spPr>
        <p:txBody>
          <a:bodyPr wrap="square" lIns="0" tIns="0" rIns="0" bIns="0" rtlCol="0" anchor="t"/>
          <a:lstStyle/>
          <a:p>
            <a:pPr algn="l" indent="0" marL="0">
              <a:lnSpc>
                <a:spcPct val="90000"/>
              </a:lnSpc>
              <a:buNone/>
            </a:pPr>
            <a:r>
              <a:rPr lang="en-US" sz="5600" b="1" dirty="0">
                <a:solidFill>
                  <a:schemeClr val="bg1"/>
                </a:solidFill>
                <a:latin typeface="+mj-lt" pitchFamily="34" charset="0"/>
                <a:ea typeface="+mj-lt" pitchFamily="34" charset="-122"/>
                <a:cs typeface="+mj-lt" pitchFamily="34" charset="-120"/>
              </a:rPr>
              <a:t>Everything you need, </a:t>
            </a:r>
            <a:endParaRPr lang="en-US" sz="5600" dirty="0"/>
          </a:p>
          <a:p>
            <a:pPr algn="l" indent="0" marL="0">
              <a:lnSpc>
                <a:spcPct val="90000"/>
              </a:lnSpc>
              <a:buNone/>
            </a:pPr>
            <a:r>
              <a:rPr lang="en-US" sz="5600" b="1" i="1" dirty="0">
                <a:solidFill>
                  <a:srgbClr val="3FD39B"/>
                </a:solidFill>
                <a:latin typeface="+mj-lt" pitchFamily="34" charset="0"/>
                <a:ea typeface="+mj-lt" pitchFamily="34" charset="-122"/>
                <a:cs typeface="+mj-lt" pitchFamily="34" charset="-120"/>
              </a:rPr>
              <a:t>around you.</a:t>
            </a:r>
            <a:endParaRPr lang="en-US" sz="5600" dirty="0"/>
          </a:p>
        </p:txBody>
      </p:sp>
      <p:sp>
        <p:nvSpPr>
          <p:cNvPr id="5" name="Ambition"/>
          <p:cNvSpPr txBox="1"/>
          <p:nvPr/>
        </p:nvSpPr>
        <p:spPr>
          <a:xfrm>
            <a:off x="713232" y="2926080"/>
            <a:ext cx="5760720" cy="1737360"/>
          </a:xfrm>
          <a:prstGeom prst="rect">
            <a:avLst/>
          </a:prstGeom>
          <a:noFill/>
          <a:ln/>
        </p:spPr>
        <p:txBody>
          <a:bodyPr wrap="square" lIns="0" tIns="0" rIns="0" bIns="0" rtlCol="0" anchor="t"/>
          <a:lstStyle/>
          <a:p>
            <a:pPr algn="l" indent="0" marL="0">
              <a:lnSpc>
                <a:spcPct val="110000"/>
              </a:lnSpc>
              <a:buNone/>
            </a:pPr>
            <a:r>
              <a:rPr lang="en-US" sz="2200" dirty="0">
                <a:solidFill>
                  <a:schemeClr val="bg1"/>
                </a:solidFill>
              </a:rPr>
              <a:t>Our ambition is to make it easier for residents to discover and buy from nearby sellers, and to help local businesses reach the customers already in their community.</a:t>
            </a:r>
            <a:endParaRPr lang="en-US" sz="2200" dirty="0"/>
          </a:p>
        </p:txBody>
      </p:sp>
      <p:sp>
        <p:nvSpPr>
          <p:cNvPr id="6" name="Principle"/>
          <p:cNvSpPr txBox="1"/>
          <p:nvPr/>
        </p:nvSpPr>
        <p:spPr>
          <a:xfrm>
            <a:off x="713232" y="4937760"/>
            <a:ext cx="5577840" cy="685800"/>
          </a:xfrm>
          <a:prstGeom prst="rect">
            <a:avLst/>
          </a:prstGeom>
          <a:noFill/>
          <a:ln/>
        </p:spPr>
        <p:txBody>
          <a:bodyPr wrap="square" lIns="0" tIns="0" rIns="0" bIns="0" rtlCol="0" anchor="t"/>
          <a:lstStyle/>
          <a:p>
            <a:pPr algn="l" indent="0" marL="0">
              <a:lnSpc>
                <a:spcPct val="105000"/>
              </a:lnSpc>
              <a:buNone/>
            </a:pPr>
            <a:r>
              <a:rPr lang="en-US" sz="2100" i="1" dirty="0">
                <a:solidFill>
                  <a:srgbClr val="3FD39B"/>
                </a:solidFill>
                <a:latin typeface="+mj-lt" pitchFamily="34" charset="0"/>
                <a:ea typeface="+mj-lt" pitchFamily="34" charset="-122"/>
                <a:cs typeface="+mj-lt" pitchFamily="34" charset="-120"/>
              </a:rPr>
              <a:t>Food first. The rest only when it earns its place.</a:t>
            </a:r>
            <a:endParaRPr lang="en-US" sz="2100" dirty="0"/>
          </a:p>
        </p:txBody>
      </p:sp>
      <p:sp>
        <p:nvSpPr>
          <p:cNvPr id="7" name="Orbit 1"/>
          <p:cNvSpPr/>
          <p:nvPr/>
        </p:nvSpPr>
        <p:spPr>
          <a:xfrm>
            <a:off x="7909560" y="2788920"/>
            <a:ext cx="1920240" cy="1920240"/>
          </a:xfrm>
          <a:prstGeom prst="ellipse">
            <a:avLst/>
          </a:prstGeom>
          <a:noFill/>
          <a:ln w="15875">
            <a:solidFill>
              <a:schemeClr val="bg1">
                <a:alpha val="45000"/>
              </a:schemeClr>
            </a:solidFill>
            <a:prstDash val="solid"/>
          </a:ln>
        </p:spPr>
      </p:sp>
      <p:sp>
        <p:nvSpPr>
          <p:cNvPr id="8" name="Orbit 2"/>
          <p:cNvSpPr/>
          <p:nvPr/>
        </p:nvSpPr>
        <p:spPr>
          <a:xfrm>
            <a:off x="7086600" y="1965960"/>
            <a:ext cx="3566160" cy="3566160"/>
          </a:xfrm>
          <a:prstGeom prst="ellipse">
            <a:avLst/>
          </a:prstGeom>
          <a:noFill/>
          <a:ln w="15875">
            <a:solidFill>
              <a:schemeClr val="bg1">
                <a:alpha val="30000"/>
              </a:schemeClr>
            </a:solidFill>
            <a:prstDash val="dash"/>
          </a:ln>
        </p:spPr>
      </p:sp>
      <p:sp>
        <p:nvSpPr>
          <p:cNvPr id="9" name="Center disc"/>
          <p:cNvSpPr/>
          <p:nvPr/>
        </p:nvSpPr>
        <p:spPr>
          <a:xfrm>
            <a:off x="8412480" y="3291840"/>
            <a:ext cx="914400" cy="914400"/>
          </a:xfrm>
          <a:prstGeom prst="ellipse">
            <a:avLst/>
          </a:prstGeom>
          <a:solidFill>
            <a:schemeClr val="bg1"/>
          </a:solidFill>
          <a:ln/>
        </p:spPr>
      </p:sp>
      <p:pic>
        <p:nvPicPr>
          <p:cNvPr id="10" name="Center mark" descr="Lokal Finder logo mark">    </p:cNvPr>
          <p:cNvPicPr>
            <a:picLocks noChangeAspect="1"/>
          </p:cNvPicPr>
          <p:nvPr/>
        </p:nvPicPr>
        <p:blipFill>
          <a:blip r:embed="rId2"/>
          <a:stretch>
            <a:fillRect/>
          </a:stretch>
        </p:blipFill>
        <p:spPr>
          <a:xfrm>
            <a:off x="8641080" y="3483864"/>
            <a:ext cx="457200" cy="530352"/>
          </a:xfrm>
          <a:prstGeom prst="rect">
            <a:avLst/>
          </a:prstGeom>
        </p:spPr>
      </p:pic>
      <p:sp>
        <p:nvSpPr>
          <p:cNvPr id="11" name="Cat 1 disc"/>
          <p:cNvSpPr/>
          <p:nvPr/>
        </p:nvSpPr>
        <p:spPr>
          <a:xfrm>
            <a:off x="8494776" y="1591056"/>
            <a:ext cx="749808" cy="749808"/>
          </a:xfrm>
          <a:prstGeom prst="ellipse">
            <a:avLst/>
          </a:prstGeom>
          <a:solidFill>
            <a:schemeClr val="accent3"/>
          </a:solidFill>
          <a:ln/>
        </p:spPr>
      </p:sp>
      <p:pic>
        <p:nvPicPr>
          <p:cNvPr id="12" name="Cat 1 icon" descr="utensils icon">    </p:cNvPr>
          <p:cNvPicPr>
            <a:picLocks noChangeAspect="1"/>
          </p:cNvPicPr>
          <p:nvPr/>
        </p:nvPicPr>
        <p:blipFill>
          <a:blip r:embed="rId3"/>
          <a:stretch>
            <a:fillRect/>
          </a:stretch>
        </p:blipFill>
        <p:spPr>
          <a:xfrm>
            <a:off x="8689726" y="1786006"/>
            <a:ext cx="359908" cy="359908"/>
          </a:xfrm>
          <a:prstGeom prst="rect">
            <a:avLst/>
          </a:prstGeom>
        </p:spPr>
      </p:pic>
      <p:sp>
        <p:nvSpPr>
          <p:cNvPr id="13" name="Cat 1 label"/>
          <p:cNvSpPr/>
          <p:nvPr/>
        </p:nvSpPr>
        <p:spPr>
          <a:xfrm>
            <a:off x="8069580" y="932688"/>
            <a:ext cx="1600200" cy="566928"/>
          </a:xfrm>
          <a:prstGeom prst="roundRect">
            <a:avLst>
              <a:gd name="adj" fmla="val 22581"/>
            </a:avLst>
          </a:prstGeom>
          <a:solidFill>
            <a:srgbClr val="06120C">
              <a:alpha val="65000"/>
            </a:srgbClr>
          </a:solidFill>
          <a:ln/>
        </p:spPr>
        <p:txBody>
          <a:bodyPr wrap="square" lIns="45720" tIns="45720" rIns="45720" bIns="45720" rtlCol="0" anchor="ctr"/>
          <a:lstStyle/>
          <a:p>
            <a:pPr algn="ctr" indent="0" marL="0">
              <a:lnSpc>
                <a:spcPct val="98000"/>
              </a:lnSpc>
              <a:buNone/>
            </a:pPr>
            <a:r>
              <a:rPr lang="en-US" sz="1600" b="1" dirty="0">
                <a:solidFill>
                  <a:schemeClr val="bg1"/>
                </a:solidFill>
              </a:rPr>
              <a:t>Food</a:t>
            </a:r>
            <a:endParaRPr lang="en-US" sz="1600" dirty="0"/>
          </a:p>
          <a:p>
            <a:pPr algn="ctr" indent="0" marL="0">
              <a:lnSpc>
                <a:spcPct val="98000"/>
              </a:lnSpc>
              <a:buNone/>
            </a:pPr>
            <a:r>
              <a:rPr lang="en-US" sz="1200" dirty="0">
                <a:solidFill>
                  <a:srgbClr val="D3D9D6"/>
                </a:solidFill>
              </a:rPr>
              <a:t>Live in the pilot</a:t>
            </a:r>
            <a:endParaRPr lang="en-US" sz="1600" dirty="0"/>
          </a:p>
        </p:txBody>
      </p:sp>
      <p:sp>
        <p:nvSpPr>
          <p:cNvPr id="14" name="Cat 2 disc"/>
          <p:cNvSpPr/>
          <p:nvPr/>
        </p:nvSpPr>
        <p:spPr>
          <a:xfrm>
            <a:off x="10245450" y="2877998"/>
            <a:ext cx="640080" cy="640080"/>
          </a:xfrm>
          <a:prstGeom prst="ellipse">
            <a:avLst/>
          </a:prstGeom>
          <a:solidFill>
            <a:schemeClr val="tx2">
              <a:alpha val="92000"/>
            </a:schemeClr>
          </a:solidFill>
          <a:ln w="15875">
            <a:solidFill>
              <a:schemeClr val="bg1">
                <a:alpha val="80000"/>
              </a:schemeClr>
            </a:solidFill>
            <a:prstDash val="solid"/>
          </a:ln>
        </p:spPr>
      </p:sp>
      <p:pic>
        <p:nvPicPr>
          <p:cNvPr id="15" name="Cat 2 icon" descr="sparkles icon">    </p:cNvPr>
          <p:cNvPicPr>
            <a:picLocks noChangeAspect="1"/>
          </p:cNvPicPr>
          <p:nvPr/>
        </p:nvPicPr>
        <p:blipFill>
          <a:blip r:embed="rId4"/>
          <a:stretch>
            <a:fillRect/>
          </a:stretch>
        </p:blipFill>
        <p:spPr>
          <a:xfrm>
            <a:off x="10411871" y="3044419"/>
            <a:ext cx="307238" cy="307238"/>
          </a:xfrm>
          <a:prstGeom prst="rect">
            <a:avLst/>
          </a:prstGeom>
        </p:spPr>
      </p:pic>
      <p:sp>
        <p:nvSpPr>
          <p:cNvPr id="16" name="Cat 2 label"/>
          <p:cNvSpPr/>
          <p:nvPr/>
        </p:nvSpPr>
        <p:spPr>
          <a:xfrm>
            <a:off x="10976970" y="2914574"/>
            <a:ext cx="950976" cy="566928"/>
          </a:xfrm>
          <a:prstGeom prst="roundRect">
            <a:avLst>
              <a:gd name="adj" fmla="val 22581"/>
            </a:avLst>
          </a:prstGeom>
          <a:solidFill>
            <a:srgbClr val="06120C">
              <a:alpha val="65000"/>
            </a:srgbClr>
          </a:solidFill>
          <a:ln/>
        </p:spPr>
        <p:txBody>
          <a:bodyPr wrap="square" lIns="45720" tIns="45720" rIns="45720" bIns="45720" rtlCol="0" anchor="ctr"/>
          <a:lstStyle/>
          <a:p>
            <a:pPr algn="ctr" indent="0" marL="0">
              <a:lnSpc>
                <a:spcPct val="98000"/>
              </a:lnSpc>
              <a:buNone/>
            </a:pPr>
            <a:r>
              <a:rPr lang="en-US" sz="1600" b="1" dirty="0">
                <a:solidFill>
                  <a:schemeClr val="bg1"/>
                </a:solidFill>
              </a:rPr>
              <a:t>Cleaning</a:t>
            </a:r>
            <a:endParaRPr lang="en-US" sz="1600" dirty="0"/>
          </a:p>
          <a:p>
            <a:pPr algn="ctr" indent="0" marL="0">
              <a:lnSpc>
                <a:spcPct val="98000"/>
              </a:lnSpc>
              <a:buNone/>
            </a:pPr>
            <a:r>
              <a:rPr lang="en-US" sz="1200" dirty="0">
                <a:solidFill>
                  <a:srgbClr val="D3D9D6"/>
                </a:solidFill>
              </a:rPr>
              <a:t>Built</a:t>
            </a:r>
            <a:endParaRPr lang="en-US" sz="1600" dirty="0"/>
          </a:p>
        </p:txBody>
      </p:sp>
      <p:sp>
        <p:nvSpPr>
          <p:cNvPr id="17" name="Cat 3 disc"/>
          <p:cNvSpPr/>
          <p:nvPr/>
        </p:nvSpPr>
        <p:spPr>
          <a:xfrm>
            <a:off x="9597708" y="4871542"/>
            <a:ext cx="640080" cy="640080"/>
          </a:xfrm>
          <a:prstGeom prst="ellipse">
            <a:avLst/>
          </a:prstGeom>
          <a:solidFill>
            <a:schemeClr val="tx2">
              <a:alpha val="92000"/>
            </a:schemeClr>
          </a:solidFill>
          <a:ln w="15875">
            <a:solidFill>
              <a:schemeClr val="bg1">
                <a:alpha val="80000"/>
              </a:schemeClr>
            </a:solidFill>
            <a:prstDash val="solid"/>
          </a:ln>
        </p:spPr>
      </p:sp>
      <p:pic>
        <p:nvPicPr>
          <p:cNvPr id="18" name="Cat 3 icon" descr="wind icon">    </p:cNvPr>
          <p:cNvPicPr>
            <a:picLocks noChangeAspect="1"/>
          </p:cNvPicPr>
          <p:nvPr/>
        </p:nvPicPr>
        <p:blipFill>
          <a:blip r:embed="rId5"/>
          <a:stretch>
            <a:fillRect/>
          </a:stretch>
        </p:blipFill>
        <p:spPr>
          <a:xfrm>
            <a:off x="9764129" y="5037963"/>
            <a:ext cx="307238" cy="307238"/>
          </a:xfrm>
          <a:prstGeom prst="rect">
            <a:avLst/>
          </a:prstGeom>
        </p:spPr>
      </p:pic>
      <p:sp>
        <p:nvSpPr>
          <p:cNvPr id="19" name="Cat 3 label"/>
          <p:cNvSpPr/>
          <p:nvPr/>
        </p:nvSpPr>
        <p:spPr>
          <a:xfrm>
            <a:off x="10329228" y="4908118"/>
            <a:ext cx="950976" cy="566928"/>
          </a:xfrm>
          <a:prstGeom prst="roundRect">
            <a:avLst>
              <a:gd name="adj" fmla="val 22581"/>
            </a:avLst>
          </a:prstGeom>
          <a:solidFill>
            <a:srgbClr val="06120C">
              <a:alpha val="65000"/>
            </a:srgbClr>
          </a:solidFill>
          <a:ln/>
        </p:spPr>
        <p:txBody>
          <a:bodyPr wrap="square" lIns="45720" tIns="45720" rIns="45720" bIns="45720" rtlCol="0" anchor="ctr"/>
          <a:lstStyle/>
          <a:p>
            <a:pPr algn="ctr" indent="0" marL="0">
              <a:lnSpc>
                <a:spcPct val="98000"/>
              </a:lnSpc>
              <a:buNone/>
            </a:pPr>
            <a:r>
              <a:rPr lang="en-US" sz="1600" b="1" dirty="0">
                <a:solidFill>
                  <a:schemeClr val="bg1"/>
                </a:solidFill>
              </a:rPr>
              <a:t>Aircon</a:t>
            </a:r>
            <a:endParaRPr lang="en-US" sz="1600" dirty="0"/>
          </a:p>
          <a:p>
            <a:pPr algn="ctr" indent="0" marL="0">
              <a:lnSpc>
                <a:spcPct val="98000"/>
              </a:lnSpc>
              <a:buNone/>
            </a:pPr>
            <a:r>
              <a:rPr lang="en-US" sz="1200" dirty="0">
                <a:solidFill>
                  <a:srgbClr val="D3D9D6"/>
                </a:solidFill>
              </a:rPr>
              <a:t>Built</a:t>
            </a:r>
            <a:endParaRPr lang="en-US" sz="1600" dirty="0"/>
          </a:p>
        </p:txBody>
      </p:sp>
      <p:sp>
        <p:nvSpPr>
          <p:cNvPr id="20" name="Cat 4 disc"/>
          <p:cNvSpPr/>
          <p:nvPr/>
        </p:nvSpPr>
        <p:spPr>
          <a:xfrm>
            <a:off x="7501572" y="4871542"/>
            <a:ext cx="640080" cy="640080"/>
          </a:xfrm>
          <a:prstGeom prst="ellipse">
            <a:avLst/>
          </a:prstGeom>
          <a:solidFill>
            <a:schemeClr val="tx2">
              <a:alpha val="92000"/>
            </a:schemeClr>
          </a:solidFill>
          <a:ln w="15875">
            <a:solidFill>
              <a:schemeClr val="bg1">
                <a:alpha val="80000"/>
              </a:schemeClr>
            </a:solidFill>
            <a:prstDash val="solid"/>
          </a:ln>
        </p:spPr>
      </p:sp>
      <p:pic>
        <p:nvPicPr>
          <p:cNvPr id="21" name="Cat 4 icon" descr="shirt icon">    </p:cNvPr>
          <p:cNvPicPr>
            <a:picLocks noChangeAspect="1"/>
          </p:cNvPicPr>
          <p:nvPr/>
        </p:nvPicPr>
        <p:blipFill>
          <a:blip r:embed="rId6"/>
          <a:stretch>
            <a:fillRect/>
          </a:stretch>
        </p:blipFill>
        <p:spPr>
          <a:xfrm>
            <a:off x="7667993" y="5037963"/>
            <a:ext cx="307238" cy="307238"/>
          </a:xfrm>
          <a:prstGeom prst="rect">
            <a:avLst/>
          </a:prstGeom>
        </p:spPr>
      </p:pic>
      <p:sp>
        <p:nvSpPr>
          <p:cNvPr id="22" name="Cat 4 label"/>
          <p:cNvSpPr/>
          <p:nvPr/>
        </p:nvSpPr>
        <p:spPr>
          <a:xfrm>
            <a:off x="6459156" y="4908118"/>
            <a:ext cx="950976" cy="566928"/>
          </a:xfrm>
          <a:prstGeom prst="roundRect">
            <a:avLst>
              <a:gd name="adj" fmla="val 22581"/>
            </a:avLst>
          </a:prstGeom>
          <a:solidFill>
            <a:srgbClr val="06120C">
              <a:alpha val="65000"/>
            </a:srgbClr>
          </a:solidFill>
          <a:ln/>
        </p:spPr>
        <p:txBody>
          <a:bodyPr wrap="square" lIns="45720" tIns="45720" rIns="45720" bIns="45720" rtlCol="0" anchor="ctr"/>
          <a:lstStyle/>
          <a:p>
            <a:pPr algn="ctr" indent="0" marL="0">
              <a:lnSpc>
                <a:spcPct val="98000"/>
              </a:lnSpc>
              <a:buNone/>
            </a:pPr>
            <a:r>
              <a:rPr lang="en-US" sz="1600" b="1" dirty="0">
                <a:solidFill>
                  <a:schemeClr val="bg1"/>
                </a:solidFill>
              </a:rPr>
              <a:t>Laundry</a:t>
            </a:r>
            <a:endParaRPr lang="en-US" sz="1600" dirty="0"/>
          </a:p>
          <a:p>
            <a:pPr algn="ctr" indent="0" marL="0">
              <a:lnSpc>
                <a:spcPct val="98000"/>
              </a:lnSpc>
              <a:buNone/>
            </a:pPr>
            <a:r>
              <a:rPr lang="en-US" sz="1200" dirty="0">
                <a:solidFill>
                  <a:srgbClr val="D3D9D6"/>
                </a:solidFill>
              </a:rPr>
              <a:t>Built</a:t>
            </a:r>
            <a:endParaRPr lang="en-US" sz="1600" dirty="0"/>
          </a:p>
        </p:txBody>
      </p:sp>
      <p:sp>
        <p:nvSpPr>
          <p:cNvPr id="23" name="Orbit caption"/>
          <p:cNvSpPr/>
          <p:nvPr/>
        </p:nvSpPr>
        <p:spPr>
          <a:xfrm>
            <a:off x="7223760" y="5742432"/>
            <a:ext cx="3291840" cy="329184"/>
          </a:xfrm>
          <a:prstGeom prst="roundRect">
            <a:avLst>
              <a:gd name="adj" fmla="val 50000"/>
            </a:avLst>
          </a:prstGeom>
          <a:solidFill>
            <a:srgbClr val="06120C">
              <a:alpha val="65000"/>
            </a:srgbClr>
          </a:solidFill>
          <a:ln/>
        </p:spPr>
        <p:txBody>
          <a:bodyPr wrap="square" lIns="45720" tIns="45720" rIns="45720" bIns="45720" rtlCol="0" anchor="ctr"/>
          <a:lstStyle/>
          <a:p>
            <a:pPr algn="ctr" indent="0" marL="0">
              <a:buNone/>
            </a:pPr>
            <a:r>
              <a:rPr lang="en-US" sz="1200" dirty="0">
                <a:solidFill>
                  <a:schemeClr val="bg1"/>
                </a:solidFill>
              </a:rPr>
              <a:t>Built in the product; real sellers still to come.</a:t>
            </a:r>
            <a:endParaRPr lang="en-US" sz="1200" dirty="0"/>
          </a:p>
        </p:txBody>
      </p:sp>
      <p:sp>
        <p:nvSpPr>
          <p:cNvPr id="25" name="Slide Number Placeholder 0"/>
          <p:cNvSpPr>
            <a:spLocks noGrp="1"/>
          </p:cNvSpPr>
          <p:nvPr>
            <p:ph type="sldNum" sz="quarter" idx="4294967295"/>
          </p:nvPr>
        </p:nvSpPr>
        <p:spPr>
          <a:xfrm>
            <a:off x="10957560" y="6373368"/>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FFFFF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mc:AlternateContent xmlns:mc="http://schemas.openxmlformats.org/markup-compatibility/2006">
    <mc:Choice xmlns:p14="http://schemas.microsoft.com/office/powerpoint/2010/main" Requires="p14">
      <p:transition spd="med" p14:dur="8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entr" presetSubtype="0" fill="hold" grpId="0" nodeType="withEffect">
                                  <p:stCondLst>
                                    <p:cond delay="200"/>
                                  </p:stCondLst>
                                  <p:childTnLst>
                                    <p:set>
                                      <p:cBhvr>
                                        <p:cTn id="9" dur="1" fill="hold">
                                          <p:stCondLst>
                                            <p:cond delay="0"/>
                                          </p:stCondLst>
                                        </p:cTn>
                                        <p:tgtEl>
                                          <p:spTgt spid="4"/>
                                        </p:tgtEl>
                                        <p:attrNameLst>
                                          <p:attrName>style.visibility</p:attrName>
                                        </p:attrNameLst>
                                      </p:cBhvr>
                                      <p:to>
                                        <p:strVal val="visible"/>
                                      </p:to>
                                    </p:set>
                                    <p:anim calcmode="lin" valueType="num">
                                      <p:cBhvr>
                                        <p:cTn id="10" dur="800" fill="hold"/>
                                        <p:tgtEl>
                                          <p:spTgt spid="4"/>
                                        </p:tgtEl>
                                        <p:attrNameLst>
                                          <p:attrName>ppt_y</p:attrName>
                                        </p:attrNameLst>
                                      </p:cBhvr>
                                      <p:tavLst>
                                        <p:tav tm="0">
                                          <p:val>
                                            <p:strVal val="#ppt_y+.05"/>
                                          </p:val>
                                        </p:tav>
                                        <p:tav tm="100000">
                                          <p:val>
                                            <p:strVal val="#ppt_y"/>
                                          </p:val>
                                        </p:tav>
                                      </p:tavLst>
                                    </p:anim>
                                    <p:animEffect transition="in" filter="fade">
                                      <p:cBhvr>
                                        <p:cTn id="11" dur="800"/>
                                        <p:tgtEl>
                                          <p:spTgt spid="4"/>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par>
                                <p:cTn id="15" presetID="10" presetClass="entr" presetSubtype="0" fill="hold" nodeType="withEffect">
                                  <p:stCondLst>
                                    <p:cond delay="50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par>
                                <p:cTn id="18" presetID="10" presetClass="entr" presetSubtype="0" fill="hold" grpId="0" nodeType="withEffect">
                                  <p:stCondLst>
                                    <p:cond delay="60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600"/>
                                        <p:tgtEl>
                                          <p:spTgt spid="7"/>
                                        </p:tgtEl>
                                      </p:cBhvr>
                                    </p:animEffect>
                                  </p:childTnLst>
                                </p:cTn>
                              </p:par>
                              <p:par>
                                <p:cTn id="21" presetID="10" presetClass="entr" presetSubtype="0" fill="hold" grpId="0" nodeType="withEffect">
                                  <p:stCondLst>
                                    <p:cond delay="80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childTnLst>
                                </p:cTn>
                              </p:par>
                              <p:par>
                                <p:cTn id="24" presetID="10" presetClass="entr" presetSubtype="0" fill="hold" grpId="0" nodeType="withEffect">
                                  <p:stCondLst>
                                    <p:cond delay="90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700"/>
                                        <p:tgtEl>
                                          <p:spTgt spid="5"/>
                                        </p:tgtEl>
                                      </p:cBhvr>
                                    </p:animEffect>
                                  </p:childTnLst>
                                </p:cTn>
                              </p:par>
                              <p:par>
                                <p:cTn id="27" presetID="42" presetClass="entr" presetSubtype="0" fill="hold" grpId="0" nodeType="withEffect">
                                  <p:stCondLst>
                                    <p:cond delay="100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50" fill="hold"/>
                                        <p:tgtEl>
                                          <p:spTgt spid="11"/>
                                        </p:tgtEl>
                                        <p:attrNameLst>
                                          <p:attrName>ppt_y</p:attrName>
                                        </p:attrNameLst>
                                      </p:cBhvr>
                                      <p:tavLst>
                                        <p:tav tm="0">
                                          <p:val>
                                            <p:strVal val="#ppt_y+.05"/>
                                          </p:val>
                                        </p:tav>
                                        <p:tav tm="100000">
                                          <p:val>
                                            <p:strVal val="#ppt_y"/>
                                          </p:val>
                                        </p:tav>
                                      </p:tavLst>
                                    </p:anim>
                                    <p:animEffect transition="in" filter="fade">
                                      <p:cBhvr>
                                        <p:cTn id="30" dur="550"/>
                                        <p:tgtEl>
                                          <p:spTgt spid="11"/>
                                        </p:tgtEl>
                                      </p:cBhvr>
                                    </p:animEffect>
                                  </p:childTnLst>
                                </p:cTn>
                              </p:par>
                              <p:par>
                                <p:cTn id="31" presetID="42" presetClass="entr" presetSubtype="0" fill="hold" nodeType="withEffect">
                                  <p:stCondLst>
                                    <p:cond delay="1000"/>
                                  </p:stCondLst>
                                  <p:childTnLst>
                                    <p:set>
                                      <p:cBhvr>
                                        <p:cTn id="32" dur="1" fill="hold">
                                          <p:stCondLst>
                                            <p:cond delay="0"/>
                                          </p:stCondLst>
                                        </p:cTn>
                                        <p:tgtEl>
                                          <p:spTgt spid="12"/>
                                        </p:tgtEl>
                                        <p:attrNameLst>
                                          <p:attrName>style.visibility</p:attrName>
                                        </p:attrNameLst>
                                      </p:cBhvr>
                                      <p:to>
                                        <p:strVal val="visible"/>
                                      </p:to>
                                    </p:set>
                                    <p:anim calcmode="lin" valueType="num">
                                      <p:cBhvr>
                                        <p:cTn id="33" dur="550" fill="hold"/>
                                        <p:tgtEl>
                                          <p:spTgt spid="12"/>
                                        </p:tgtEl>
                                        <p:attrNameLst>
                                          <p:attrName>ppt_y</p:attrName>
                                        </p:attrNameLst>
                                      </p:cBhvr>
                                      <p:tavLst>
                                        <p:tav tm="0">
                                          <p:val>
                                            <p:strVal val="#ppt_y+.05"/>
                                          </p:val>
                                        </p:tav>
                                        <p:tav tm="100000">
                                          <p:val>
                                            <p:strVal val="#ppt_y"/>
                                          </p:val>
                                        </p:tav>
                                      </p:tavLst>
                                    </p:anim>
                                    <p:animEffect transition="in" filter="fade">
                                      <p:cBhvr>
                                        <p:cTn id="34" dur="550"/>
                                        <p:tgtEl>
                                          <p:spTgt spid="12"/>
                                        </p:tgtEl>
                                      </p:cBhvr>
                                    </p:animEffect>
                                  </p:childTnLst>
                                </p:cTn>
                              </p:par>
                              <p:par>
                                <p:cTn id="35" presetID="42" presetClass="entr" presetSubtype="0" fill="hold" grpId="0" nodeType="withEffect">
                                  <p:stCondLst>
                                    <p:cond delay="1000"/>
                                  </p:stCondLst>
                                  <p:childTnLst>
                                    <p:set>
                                      <p:cBhvr>
                                        <p:cTn id="36" dur="1" fill="hold">
                                          <p:stCondLst>
                                            <p:cond delay="0"/>
                                          </p:stCondLst>
                                        </p:cTn>
                                        <p:tgtEl>
                                          <p:spTgt spid="13"/>
                                        </p:tgtEl>
                                        <p:attrNameLst>
                                          <p:attrName>style.visibility</p:attrName>
                                        </p:attrNameLst>
                                      </p:cBhvr>
                                      <p:to>
                                        <p:strVal val="visible"/>
                                      </p:to>
                                    </p:set>
                                    <p:anim calcmode="lin" valueType="num">
                                      <p:cBhvr>
                                        <p:cTn id="37" dur="550" fill="hold"/>
                                        <p:tgtEl>
                                          <p:spTgt spid="13"/>
                                        </p:tgtEl>
                                        <p:attrNameLst>
                                          <p:attrName>ppt_y</p:attrName>
                                        </p:attrNameLst>
                                      </p:cBhvr>
                                      <p:tavLst>
                                        <p:tav tm="0">
                                          <p:val>
                                            <p:strVal val="#ppt_y+.05"/>
                                          </p:val>
                                        </p:tav>
                                        <p:tav tm="100000">
                                          <p:val>
                                            <p:strVal val="#ppt_y"/>
                                          </p:val>
                                        </p:tav>
                                      </p:tavLst>
                                    </p:anim>
                                    <p:animEffect transition="in" filter="fade">
                                      <p:cBhvr>
                                        <p:cTn id="38" dur="550"/>
                                        <p:tgtEl>
                                          <p:spTgt spid="13"/>
                                        </p:tgtEl>
                                      </p:cBhvr>
                                    </p:animEffect>
                                  </p:childTnLst>
                                </p:cTn>
                              </p:par>
                              <p:par>
                                <p:cTn id="39" presetID="42" presetClass="entr" presetSubtype="0" fill="hold" grpId="0" nodeType="withEffect">
                                  <p:stCondLst>
                                    <p:cond delay="1250"/>
                                  </p:stCondLst>
                                  <p:childTnLst>
                                    <p:set>
                                      <p:cBhvr>
                                        <p:cTn id="40" dur="1" fill="hold">
                                          <p:stCondLst>
                                            <p:cond delay="0"/>
                                          </p:stCondLst>
                                        </p:cTn>
                                        <p:tgtEl>
                                          <p:spTgt spid="14"/>
                                        </p:tgtEl>
                                        <p:attrNameLst>
                                          <p:attrName>style.visibility</p:attrName>
                                        </p:attrNameLst>
                                      </p:cBhvr>
                                      <p:to>
                                        <p:strVal val="visible"/>
                                      </p:to>
                                    </p:set>
                                    <p:anim calcmode="lin" valueType="num">
                                      <p:cBhvr>
                                        <p:cTn id="41" dur="550" fill="hold"/>
                                        <p:tgtEl>
                                          <p:spTgt spid="14"/>
                                        </p:tgtEl>
                                        <p:attrNameLst>
                                          <p:attrName>ppt_y</p:attrName>
                                        </p:attrNameLst>
                                      </p:cBhvr>
                                      <p:tavLst>
                                        <p:tav tm="0">
                                          <p:val>
                                            <p:strVal val="#ppt_y+.05"/>
                                          </p:val>
                                        </p:tav>
                                        <p:tav tm="100000">
                                          <p:val>
                                            <p:strVal val="#ppt_y"/>
                                          </p:val>
                                        </p:tav>
                                      </p:tavLst>
                                    </p:anim>
                                    <p:animEffect transition="in" filter="fade">
                                      <p:cBhvr>
                                        <p:cTn id="42" dur="550"/>
                                        <p:tgtEl>
                                          <p:spTgt spid="14"/>
                                        </p:tgtEl>
                                      </p:cBhvr>
                                    </p:animEffect>
                                  </p:childTnLst>
                                </p:cTn>
                              </p:par>
                              <p:par>
                                <p:cTn id="43" presetID="42" presetClass="entr" presetSubtype="0" fill="hold" nodeType="withEffect">
                                  <p:stCondLst>
                                    <p:cond delay="1250"/>
                                  </p:stCondLst>
                                  <p:childTnLst>
                                    <p:set>
                                      <p:cBhvr>
                                        <p:cTn id="44" dur="1" fill="hold">
                                          <p:stCondLst>
                                            <p:cond delay="0"/>
                                          </p:stCondLst>
                                        </p:cTn>
                                        <p:tgtEl>
                                          <p:spTgt spid="15"/>
                                        </p:tgtEl>
                                        <p:attrNameLst>
                                          <p:attrName>style.visibility</p:attrName>
                                        </p:attrNameLst>
                                      </p:cBhvr>
                                      <p:to>
                                        <p:strVal val="visible"/>
                                      </p:to>
                                    </p:set>
                                    <p:anim calcmode="lin" valueType="num">
                                      <p:cBhvr>
                                        <p:cTn id="45" dur="550" fill="hold"/>
                                        <p:tgtEl>
                                          <p:spTgt spid="15"/>
                                        </p:tgtEl>
                                        <p:attrNameLst>
                                          <p:attrName>ppt_y</p:attrName>
                                        </p:attrNameLst>
                                      </p:cBhvr>
                                      <p:tavLst>
                                        <p:tav tm="0">
                                          <p:val>
                                            <p:strVal val="#ppt_y+.05"/>
                                          </p:val>
                                        </p:tav>
                                        <p:tav tm="100000">
                                          <p:val>
                                            <p:strVal val="#ppt_y"/>
                                          </p:val>
                                        </p:tav>
                                      </p:tavLst>
                                    </p:anim>
                                    <p:animEffect transition="in" filter="fade">
                                      <p:cBhvr>
                                        <p:cTn id="46" dur="550"/>
                                        <p:tgtEl>
                                          <p:spTgt spid="15"/>
                                        </p:tgtEl>
                                      </p:cBhvr>
                                    </p:animEffect>
                                  </p:childTnLst>
                                </p:cTn>
                              </p:par>
                              <p:par>
                                <p:cTn id="47" presetID="42" presetClass="entr" presetSubtype="0" fill="hold" grpId="0" nodeType="withEffect">
                                  <p:stCondLst>
                                    <p:cond delay="1250"/>
                                  </p:stCondLst>
                                  <p:childTnLst>
                                    <p:set>
                                      <p:cBhvr>
                                        <p:cTn id="48" dur="1" fill="hold">
                                          <p:stCondLst>
                                            <p:cond delay="0"/>
                                          </p:stCondLst>
                                        </p:cTn>
                                        <p:tgtEl>
                                          <p:spTgt spid="16"/>
                                        </p:tgtEl>
                                        <p:attrNameLst>
                                          <p:attrName>style.visibility</p:attrName>
                                        </p:attrNameLst>
                                      </p:cBhvr>
                                      <p:to>
                                        <p:strVal val="visible"/>
                                      </p:to>
                                    </p:set>
                                    <p:anim calcmode="lin" valueType="num">
                                      <p:cBhvr>
                                        <p:cTn id="49" dur="550" fill="hold"/>
                                        <p:tgtEl>
                                          <p:spTgt spid="16"/>
                                        </p:tgtEl>
                                        <p:attrNameLst>
                                          <p:attrName>ppt_y</p:attrName>
                                        </p:attrNameLst>
                                      </p:cBhvr>
                                      <p:tavLst>
                                        <p:tav tm="0">
                                          <p:val>
                                            <p:strVal val="#ppt_y+.05"/>
                                          </p:val>
                                        </p:tav>
                                        <p:tav tm="100000">
                                          <p:val>
                                            <p:strVal val="#ppt_y"/>
                                          </p:val>
                                        </p:tav>
                                      </p:tavLst>
                                    </p:anim>
                                    <p:animEffect transition="in" filter="fade">
                                      <p:cBhvr>
                                        <p:cTn id="50" dur="550"/>
                                        <p:tgtEl>
                                          <p:spTgt spid="16"/>
                                        </p:tgtEl>
                                      </p:cBhvr>
                                    </p:animEffect>
                                  </p:childTnLst>
                                </p:cTn>
                              </p:par>
                              <p:par>
                                <p:cTn id="51" presetID="42" presetClass="entr" presetSubtype="0" fill="hold" grpId="0" nodeType="withEffect">
                                  <p:stCondLst>
                                    <p:cond delay="1500"/>
                                  </p:stCondLst>
                                  <p:childTnLst>
                                    <p:set>
                                      <p:cBhvr>
                                        <p:cTn id="52" dur="1" fill="hold">
                                          <p:stCondLst>
                                            <p:cond delay="0"/>
                                          </p:stCondLst>
                                        </p:cTn>
                                        <p:tgtEl>
                                          <p:spTgt spid="17"/>
                                        </p:tgtEl>
                                        <p:attrNameLst>
                                          <p:attrName>style.visibility</p:attrName>
                                        </p:attrNameLst>
                                      </p:cBhvr>
                                      <p:to>
                                        <p:strVal val="visible"/>
                                      </p:to>
                                    </p:set>
                                    <p:anim calcmode="lin" valueType="num">
                                      <p:cBhvr>
                                        <p:cTn id="53" dur="550" fill="hold"/>
                                        <p:tgtEl>
                                          <p:spTgt spid="17"/>
                                        </p:tgtEl>
                                        <p:attrNameLst>
                                          <p:attrName>ppt_y</p:attrName>
                                        </p:attrNameLst>
                                      </p:cBhvr>
                                      <p:tavLst>
                                        <p:tav tm="0">
                                          <p:val>
                                            <p:strVal val="#ppt_y+.05"/>
                                          </p:val>
                                        </p:tav>
                                        <p:tav tm="100000">
                                          <p:val>
                                            <p:strVal val="#ppt_y"/>
                                          </p:val>
                                        </p:tav>
                                      </p:tavLst>
                                    </p:anim>
                                    <p:animEffect transition="in" filter="fade">
                                      <p:cBhvr>
                                        <p:cTn id="54" dur="550"/>
                                        <p:tgtEl>
                                          <p:spTgt spid="17"/>
                                        </p:tgtEl>
                                      </p:cBhvr>
                                    </p:animEffect>
                                  </p:childTnLst>
                                </p:cTn>
                              </p:par>
                              <p:par>
                                <p:cTn id="55" presetID="42" presetClass="entr" presetSubtype="0" fill="hold" nodeType="withEffect">
                                  <p:stCondLst>
                                    <p:cond delay="1500"/>
                                  </p:stCondLst>
                                  <p:childTnLst>
                                    <p:set>
                                      <p:cBhvr>
                                        <p:cTn id="56" dur="1" fill="hold">
                                          <p:stCondLst>
                                            <p:cond delay="0"/>
                                          </p:stCondLst>
                                        </p:cTn>
                                        <p:tgtEl>
                                          <p:spTgt spid="18"/>
                                        </p:tgtEl>
                                        <p:attrNameLst>
                                          <p:attrName>style.visibility</p:attrName>
                                        </p:attrNameLst>
                                      </p:cBhvr>
                                      <p:to>
                                        <p:strVal val="visible"/>
                                      </p:to>
                                    </p:set>
                                    <p:anim calcmode="lin" valueType="num">
                                      <p:cBhvr>
                                        <p:cTn id="57" dur="550" fill="hold"/>
                                        <p:tgtEl>
                                          <p:spTgt spid="18"/>
                                        </p:tgtEl>
                                        <p:attrNameLst>
                                          <p:attrName>ppt_y</p:attrName>
                                        </p:attrNameLst>
                                      </p:cBhvr>
                                      <p:tavLst>
                                        <p:tav tm="0">
                                          <p:val>
                                            <p:strVal val="#ppt_y+.05"/>
                                          </p:val>
                                        </p:tav>
                                        <p:tav tm="100000">
                                          <p:val>
                                            <p:strVal val="#ppt_y"/>
                                          </p:val>
                                        </p:tav>
                                      </p:tavLst>
                                    </p:anim>
                                    <p:animEffect transition="in" filter="fade">
                                      <p:cBhvr>
                                        <p:cTn id="58" dur="550"/>
                                        <p:tgtEl>
                                          <p:spTgt spid="18"/>
                                        </p:tgtEl>
                                      </p:cBhvr>
                                    </p:animEffect>
                                  </p:childTnLst>
                                </p:cTn>
                              </p:par>
                              <p:par>
                                <p:cTn id="59" presetID="42" presetClass="entr" presetSubtype="0" fill="hold" grpId="0" nodeType="withEffect">
                                  <p:stCondLst>
                                    <p:cond delay="1500"/>
                                  </p:stCondLst>
                                  <p:childTnLst>
                                    <p:set>
                                      <p:cBhvr>
                                        <p:cTn id="60" dur="1" fill="hold">
                                          <p:stCondLst>
                                            <p:cond delay="0"/>
                                          </p:stCondLst>
                                        </p:cTn>
                                        <p:tgtEl>
                                          <p:spTgt spid="19"/>
                                        </p:tgtEl>
                                        <p:attrNameLst>
                                          <p:attrName>style.visibility</p:attrName>
                                        </p:attrNameLst>
                                      </p:cBhvr>
                                      <p:to>
                                        <p:strVal val="visible"/>
                                      </p:to>
                                    </p:set>
                                    <p:anim calcmode="lin" valueType="num">
                                      <p:cBhvr>
                                        <p:cTn id="61" dur="550" fill="hold"/>
                                        <p:tgtEl>
                                          <p:spTgt spid="19"/>
                                        </p:tgtEl>
                                        <p:attrNameLst>
                                          <p:attrName>ppt_y</p:attrName>
                                        </p:attrNameLst>
                                      </p:cBhvr>
                                      <p:tavLst>
                                        <p:tav tm="0">
                                          <p:val>
                                            <p:strVal val="#ppt_y+.05"/>
                                          </p:val>
                                        </p:tav>
                                        <p:tav tm="100000">
                                          <p:val>
                                            <p:strVal val="#ppt_y"/>
                                          </p:val>
                                        </p:tav>
                                      </p:tavLst>
                                    </p:anim>
                                    <p:animEffect transition="in" filter="fade">
                                      <p:cBhvr>
                                        <p:cTn id="62" dur="550"/>
                                        <p:tgtEl>
                                          <p:spTgt spid="19"/>
                                        </p:tgtEl>
                                      </p:cBhvr>
                                    </p:animEffect>
                                  </p:childTnLst>
                                </p:cTn>
                              </p:par>
                              <p:par>
                                <p:cTn id="63" presetID="42" presetClass="entr" presetSubtype="0" fill="hold" grpId="0" nodeType="withEffect">
                                  <p:stCondLst>
                                    <p:cond delay="1600"/>
                                  </p:stCondLst>
                                  <p:childTnLst>
                                    <p:set>
                                      <p:cBhvr>
                                        <p:cTn id="64" dur="1" fill="hold">
                                          <p:stCondLst>
                                            <p:cond delay="0"/>
                                          </p:stCondLst>
                                        </p:cTn>
                                        <p:tgtEl>
                                          <p:spTgt spid="6"/>
                                        </p:tgtEl>
                                        <p:attrNameLst>
                                          <p:attrName>style.visibility</p:attrName>
                                        </p:attrNameLst>
                                      </p:cBhvr>
                                      <p:to>
                                        <p:strVal val="visible"/>
                                      </p:to>
                                    </p:set>
                                    <p:anim calcmode="lin" valueType="num">
                                      <p:cBhvr>
                                        <p:cTn id="65" dur="550" fill="hold"/>
                                        <p:tgtEl>
                                          <p:spTgt spid="6"/>
                                        </p:tgtEl>
                                        <p:attrNameLst>
                                          <p:attrName>ppt_y</p:attrName>
                                        </p:attrNameLst>
                                      </p:cBhvr>
                                      <p:tavLst>
                                        <p:tav tm="0">
                                          <p:val>
                                            <p:strVal val="#ppt_y+.05"/>
                                          </p:val>
                                        </p:tav>
                                        <p:tav tm="100000">
                                          <p:val>
                                            <p:strVal val="#ppt_y"/>
                                          </p:val>
                                        </p:tav>
                                      </p:tavLst>
                                    </p:anim>
                                    <p:animEffect transition="in" filter="fade">
                                      <p:cBhvr>
                                        <p:cTn id="66" dur="550"/>
                                        <p:tgtEl>
                                          <p:spTgt spid="6"/>
                                        </p:tgtEl>
                                      </p:cBhvr>
                                    </p:animEffect>
                                  </p:childTnLst>
                                </p:cTn>
                              </p:par>
                              <p:par>
                                <p:cTn id="67" presetID="42" presetClass="entr" presetSubtype="0" fill="hold" grpId="0" nodeType="withEffect">
                                  <p:stCondLst>
                                    <p:cond delay="1750"/>
                                  </p:stCondLst>
                                  <p:childTnLst>
                                    <p:set>
                                      <p:cBhvr>
                                        <p:cTn id="68" dur="1" fill="hold">
                                          <p:stCondLst>
                                            <p:cond delay="0"/>
                                          </p:stCondLst>
                                        </p:cTn>
                                        <p:tgtEl>
                                          <p:spTgt spid="20"/>
                                        </p:tgtEl>
                                        <p:attrNameLst>
                                          <p:attrName>style.visibility</p:attrName>
                                        </p:attrNameLst>
                                      </p:cBhvr>
                                      <p:to>
                                        <p:strVal val="visible"/>
                                      </p:to>
                                    </p:set>
                                    <p:anim calcmode="lin" valueType="num">
                                      <p:cBhvr>
                                        <p:cTn id="69" dur="550" fill="hold"/>
                                        <p:tgtEl>
                                          <p:spTgt spid="20"/>
                                        </p:tgtEl>
                                        <p:attrNameLst>
                                          <p:attrName>ppt_y</p:attrName>
                                        </p:attrNameLst>
                                      </p:cBhvr>
                                      <p:tavLst>
                                        <p:tav tm="0">
                                          <p:val>
                                            <p:strVal val="#ppt_y+.05"/>
                                          </p:val>
                                        </p:tav>
                                        <p:tav tm="100000">
                                          <p:val>
                                            <p:strVal val="#ppt_y"/>
                                          </p:val>
                                        </p:tav>
                                      </p:tavLst>
                                    </p:anim>
                                    <p:animEffect transition="in" filter="fade">
                                      <p:cBhvr>
                                        <p:cTn id="70" dur="550"/>
                                        <p:tgtEl>
                                          <p:spTgt spid="20"/>
                                        </p:tgtEl>
                                      </p:cBhvr>
                                    </p:animEffect>
                                  </p:childTnLst>
                                </p:cTn>
                              </p:par>
                              <p:par>
                                <p:cTn id="71" presetID="42" presetClass="entr" presetSubtype="0" fill="hold" nodeType="withEffect">
                                  <p:stCondLst>
                                    <p:cond delay="1750"/>
                                  </p:stCondLst>
                                  <p:childTnLst>
                                    <p:set>
                                      <p:cBhvr>
                                        <p:cTn id="72" dur="1" fill="hold">
                                          <p:stCondLst>
                                            <p:cond delay="0"/>
                                          </p:stCondLst>
                                        </p:cTn>
                                        <p:tgtEl>
                                          <p:spTgt spid="21"/>
                                        </p:tgtEl>
                                        <p:attrNameLst>
                                          <p:attrName>style.visibility</p:attrName>
                                        </p:attrNameLst>
                                      </p:cBhvr>
                                      <p:to>
                                        <p:strVal val="visible"/>
                                      </p:to>
                                    </p:set>
                                    <p:anim calcmode="lin" valueType="num">
                                      <p:cBhvr>
                                        <p:cTn id="73" dur="550" fill="hold"/>
                                        <p:tgtEl>
                                          <p:spTgt spid="21"/>
                                        </p:tgtEl>
                                        <p:attrNameLst>
                                          <p:attrName>ppt_y</p:attrName>
                                        </p:attrNameLst>
                                      </p:cBhvr>
                                      <p:tavLst>
                                        <p:tav tm="0">
                                          <p:val>
                                            <p:strVal val="#ppt_y+.05"/>
                                          </p:val>
                                        </p:tav>
                                        <p:tav tm="100000">
                                          <p:val>
                                            <p:strVal val="#ppt_y"/>
                                          </p:val>
                                        </p:tav>
                                      </p:tavLst>
                                    </p:anim>
                                    <p:animEffect transition="in" filter="fade">
                                      <p:cBhvr>
                                        <p:cTn id="74" dur="550"/>
                                        <p:tgtEl>
                                          <p:spTgt spid="21"/>
                                        </p:tgtEl>
                                      </p:cBhvr>
                                    </p:animEffect>
                                  </p:childTnLst>
                                </p:cTn>
                              </p:par>
                              <p:par>
                                <p:cTn id="75" presetID="42" presetClass="entr" presetSubtype="0" fill="hold" grpId="0" nodeType="withEffect">
                                  <p:stCondLst>
                                    <p:cond delay="1750"/>
                                  </p:stCondLst>
                                  <p:childTnLst>
                                    <p:set>
                                      <p:cBhvr>
                                        <p:cTn id="76" dur="1" fill="hold">
                                          <p:stCondLst>
                                            <p:cond delay="0"/>
                                          </p:stCondLst>
                                        </p:cTn>
                                        <p:tgtEl>
                                          <p:spTgt spid="22"/>
                                        </p:tgtEl>
                                        <p:attrNameLst>
                                          <p:attrName>style.visibility</p:attrName>
                                        </p:attrNameLst>
                                      </p:cBhvr>
                                      <p:to>
                                        <p:strVal val="visible"/>
                                      </p:to>
                                    </p:set>
                                    <p:anim calcmode="lin" valueType="num">
                                      <p:cBhvr>
                                        <p:cTn id="77" dur="550" fill="hold"/>
                                        <p:tgtEl>
                                          <p:spTgt spid="22"/>
                                        </p:tgtEl>
                                        <p:attrNameLst>
                                          <p:attrName>ppt_y</p:attrName>
                                        </p:attrNameLst>
                                      </p:cBhvr>
                                      <p:tavLst>
                                        <p:tav tm="0">
                                          <p:val>
                                            <p:strVal val="#ppt_y+.05"/>
                                          </p:val>
                                        </p:tav>
                                        <p:tav tm="100000">
                                          <p:val>
                                            <p:strVal val="#ppt_y"/>
                                          </p:val>
                                        </p:tav>
                                      </p:tavLst>
                                    </p:anim>
                                    <p:animEffect transition="in" filter="fade">
                                      <p:cBhvr>
                                        <p:cTn id="78" dur="550"/>
                                        <p:tgtEl>
                                          <p:spTgt spid="22"/>
                                        </p:tgtEl>
                                      </p:cBhvr>
                                    </p:animEffect>
                                  </p:childTnLst>
                                </p:cTn>
                              </p:par>
                              <p:par>
                                <p:cTn id="79" presetID="10" presetClass="entr" presetSubtype="0" fill="hold" grpId="0" nodeType="withEffect">
                                  <p:stCondLst>
                                    <p:cond delay="2200"/>
                                  </p:stCondLst>
                                  <p:childTnLst>
                                    <p:set>
                                      <p:cBhvr>
                                        <p:cTn id="80" dur="1" fill="hold">
                                          <p:stCondLst>
                                            <p:cond delay="0"/>
                                          </p:stCondLst>
                                        </p:cTn>
                                        <p:tgtEl>
                                          <p:spTgt spid="23"/>
                                        </p:tgtEl>
                                        <p:attrNameLst>
                                          <p:attrName>style.visibility</p:attrName>
                                        </p:attrNameLst>
                                      </p:cBhvr>
                                      <p:to>
                                        <p:strVal val="visible"/>
                                      </p:to>
                                    </p:set>
                                    <p:animEffect transition="in" filter="fade">
                                      <p:cBhvr>
                                        <p:cTn id="8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9" grpId="0" animBg="1"/>
      <p:bldP spid="7" grpId="0" animBg="1"/>
      <p:bldP spid="8" grpId="0" animBg="1"/>
      <p:bldP spid="5" grpId="0"/>
      <p:bldP spid="11" grpId="0" animBg="1"/>
      <p:bldP spid="13" grpId="0" animBg="1"/>
      <p:bldP spid="14" grpId="0" animBg="1"/>
      <p:bldP spid="16" grpId="0" animBg="1"/>
      <p:bldP spid="17" grpId="0" animBg="1"/>
      <p:bldP spid="19" grpId="0" animBg="1"/>
      <p:bldP spid="6" grpId="0"/>
      <p:bldP spid="20" grpId="0" animBg="1"/>
      <p:bldP spid="22" grpId="0" animBg="1"/>
      <p:bldP spid="2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Artwork" descr="Illustration (not a photograph): a night skyline of residential towers with lit windows; ripple rings and a dotted line join two windows.">    </p:cNvPr>
          <p:cNvPicPr>
            <a:picLocks noChangeAspect="1"/>
          </p:cNvPicPr>
          <p:nvPr/>
        </p:nvPicPr>
        <p:blipFill>
          <a:blip r:embed="rId1"/>
          <a:stretch>
            <a:fillRect/>
          </a:stretch>
        </p:blipFill>
        <p:spPr>
          <a:xfrm>
            <a:off x="0" y="0"/>
            <a:ext cx="12192000" cy="6858000"/>
          </a:xfrm>
          <a:prstGeom prst="rect">
            <a:avLst/>
          </a:prstGeom>
        </p:spPr>
      </p:pic>
      <p:pic>
        <p:nvPicPr>
          <p:cNvPr id="3" name="Logo" descr="Lokal Finder logo">    </p:cNvPr>
          <p:cNvPicPr>
            <a:picLocks noChangeAspect="1"/>
          </p:cNvPicPr>
          <p:nvPr/>
        </p:nvPicPr>
        <p:blipFill>
          <a:blip r:embed="rId2"/>
          <a:stretch>
            <a:fillRect/>
          </a:stretch>
        </p:blipFill>
        <p:spPr>
          <a:xfrm>
            <a:off x="4724400" y="731520"/>
            <a:ext cx="2743200" cy="755504"/>
          </a:xfrm>
          <a:prstGeom prst="rect">
            <a:avLst/>
          </a:prstGeom>
        </p:spPr>
      </p:pic>
      <p:sp>
        <p:nvSpPr>
          <p:cNvPr id="4" name="Title"/>
          <p:cNvSpPr/>
          <p:nvPr>
            <p:ph idx="100" type="title" hasCustomPrompt="1"/>
          </p:nvPr>
        </p:nvSpPr>
        <p:spPr>
          <a:xfrm>
            <a:off x="1280160" y="2011680"/>
            <a:ext cx="9631680" cy="1737360"/>
          </a:xfrm>
          <a:prstGeom prst="rect">
            <a:avLst/>
          </a:prstGeom>
          <a:noFill/>
          <a:ln/>
        </p:spPr>
        <p:txBody>
          <a:bodyPr wrap="square" lIns="0" tIns="0" rIns="0" bIns="0" rtlCol="0" anchor="t"/>
          <a:lstStyle/>
          <a:p>
            <a:pPr algn="ctr" indent="0" marL="0">
              <a:lnSpc>
                <a:spcPct val="92000"/>
              </a:lnSpc>
              <a:buNone/>
            </a:pPr>
            <a:r>
              <a:rPr lang="en-US" sz="6600" b="1" dirty="0">
                <a:solidFill>
                  <a:schemeClr val="bg1"/>
                </a:solidFill>
                <a:latin typeface="+mj-lt" pitchFamily="34" charset="0"/>
                <a:ea typeface="+mj-lt" pitchFamily="34" charset="-122"/>
                <a:cs typeface="+mj-lt" pitchFamily="34" charset="-120"/>
              </a:rPr>
              <a:t>Your community.</a:t>
            </a:r>
            <a:endParaRPr lang="en-US" sz="6600" dirty="0"/>
          </a:p>
          <a:p>
            <a:pPr algn="ctr" indent="0" marL="0">
              <a:lnSpc>
                <a:spcPct val="92000"/>
              </a:lnSpc>
              <a:buNone/>
            </a:pPr>
            <a:r>
              <a:rPr lang="en-US" sz="6600" b="1" i="1" dirty="0">
                <a:solidFill>
                  <a:srgbClr val="3FD39B"/>
                </a:solidFill>
                <a:latin typeface="+mj-lt" pitchFamily="34" charset="0"/>
                <a:ea typeface="+mj-lt" pitchFamily="34" charset="-122"/>
                <a:cs typeface="+mj-lt" pitchFamily="34" charset="-120"/>
              </a:rPr>
              <a:t>Connected.</a:t>
            </a:r>
            <a:endParaRPr lang="en-US" sz="6600" dirty="0"/>
          </a:p>
        </p:txBody>
      </p:sp>
      <p:sp>
        <p:nvSpPr>
          <p:cNvPr id="5" name="Message"/>
          <p:cNvSpPr txBox="1"/>
          <p:nvPr/>
        </p:nvSpPr>
        <p:spPr>
          <a:xfrm>
            <a:off x="1463040" y="4023360"/>
            <a:ext cx="9265920" cy="914400"/>
          </a:xfrm>
          <a:prstGeom prst="rect">
            <a:avLst/>
          </a:prstGeom>
          <a:noFill/>
          <a:ln/>
        </p:spPr>
        <p:txBody>
          <a:bodyPr wrap="square" lIns="0" tIns="0" rIns="0" bIns="0" rtlCol="0" anchor="t"/>
          <a:lstStyle/>
          <a:p>
            <a:pPr algn="ctr" indent="0" marL="0">
              <a:lnSpc>
                <a:spcPct val="108000"/>
              </a:lnSpc>
              <a:buNone/>
            </a:pPr>
            <a:r>
              <a:rPr lang="en-US" sz="2600" dirty="0">
                <a:solidFill>
                  <a:schemeClr val="bg1"/>
                </a:solidFill>
              </a:rPr>
              <a:t>Lokal Finder is building the easiest way to buy from,</a:t>
            </a:r>
            <a:endParaRPr lang="en-US" sz="2600" dirty="0"/>
          </a:p>
          <a:p>
            <a:pPr algn="ctr" indent="0" marL="0">
              <a:lnSpc>
                <a:spcPct val="108000"/>
              </a:lnSpc>
              <a:buNone/>
            </a:pPr>
            <a:r>
              <a:rPr lang="en-US" sz="2600" dirty="0">
                <a:solidFill>
                  <a:schemeClr val="bg1"/>
                </a:solidFill>
              </a:rPr>
              <a:t>and sell to, the people nearby.</a:t>
            </a:r>
            <a:endParaRPr lang="en-US" sz="2600" dirty="0"/>
          </a:p>
        </p:txBody>
      </p:sp>
      <p:sp>
        <p:nvSpPr>
          <p:cNvPr id="6" name="Path"/>
          <p:cNvSpPr/>
          <p:nvPr/>
        </p:nvSpPr>
        <p:spPr>
          <a:xfrm>
            <a:off x="1798320" y="5120640"/>
            <a:ext cx="8595360" cy="420624"/>
          </a:xfrm>
          <a:prstGeom prst="roundRect">
            <a:avLst>
              <a:gd name="adj" fmla="val 50000"/>
            </a:avLst>
          </a:prstGeom>
          <a:solidFill>
            <a:srgbClr val="06120C">
              <a:alpha val="65000"/>
            </a:srgbClr>
          </a:solidFill>
          <a:ln/>
        </p:spPr>
        <p:txBody>
          <a:bodyPr wrap="square" lIns="91440" tIns="91440" rIns="91440" bIns="91440" rtlCol="0" anchor="ctr"/>
          <a:lstStyle/>
          <a:p>
            <a:pPr algn="ctr" indent="0" marL="0">
              <a:buNone/>
            </a:pPr>
            <a:r>
              <a:rPr lang="en-US" sz="1400" b="1" spc="300" kern="0" dirty="0">
                <a:solidFill>
                  <a:srgbClr val="3FD39B"/>
                </a:solidFill>
              </a:rPr>
              <a:t>ONE COMMUNITY FIRST  ·  PROVE REPEAT ORDERING  ·  THEN REPEAT IT</a:t>
            </a:r>
            <a:endParaRPr lang="en-US" sz="1400" dirty="0"/>
          </a:p>
        </p:txBody>
      </p:sp>
      <p:sp>
        <p:nvSpPr>
          <p:cNvPr id="7" name="Date"/>
          <p:cNvSpPr txBox="1"/>
          <p:nvPr/>
        </p:nvSpPr>
        <p:spPr>
          <a:xfrm>
            <a:off x="1097280" y="6309360"/>
            <a:ext cx="9997440" cy="274320"/>
          </a:xfrm>
          <a:prstGeom prst="rect">
            <a:avLst/>
          </a:prstGeom>
          <a:noFill/>
          <a:ln/>
        </p:spPr>
        <p:txBody>
          <a:bodyPr wrap="square" lIns="0" tIns="0" rIns="0" bIns="0" rtlCol="0" anchor="t"/>
          <a:lstStyle/>
          <a:p>
            <a:pPr algn="ctr" indent="0" marL="0">
              <a:buNone/>
            </a:pPr>
            <a:r>
              <a:rPr lang="en-US" sz="1200" dirty="0">
                <a:solidFill>
                  <a:srgbClr val="9DAAA5"/>
                </a:solidFill>
              </a:rPr>
              <a:t>Business and product overview  ·  October 2026</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9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p:tgtEl>
                                          <p:spTgt spid="3"/>
                                        </p:tgtEl>
                                      </p:cBhvr>
                                    </p:animEffect>
                                  </p:childTnLst>
                                </p:cTn>
                              </p:par>
                              <p:par>
                                <p:cTn id="8" presetID="42" presetClass="entr" presetSubtype="0" fill="hold" grpId="0" nodeType="withEffect">
                                  <p:stCondLst>
                                    <p:cond delay="700"/>
                                  </p:stCondLst>
                                  <p:childTnLst>
                                    <p:set>
                                      <p:cBhvr>
                                        <p:cTn id="9" dur="1" fill="hold">
                                          <p:stCondLst>
                                            <p:cond delay="0"/>
                                          </p:stCondLst>
                                        </p:cTn>
                                        <p:tgtEl>
                                          <p:spTgt spid="4"/>
                                        </p:tgtEl>
                                        <p:attrNameLst>
                                          <p:attrName>style.visibility</p:attrName>
                                        </p:attrNameLst>
                                      </p:cBhvr>
                                      <p:to>
                                        <p:strVal val="visible"/>
                                      </p:to>
                                    </p:set>
                                    <p:anim calcmode="lin" valueType="num">
                                      <p:cBhvr>
                                        <p:cTn id="10" dur="900" fill="hold"/>
                                        <p:tgtEl>
                                          <p:spTgt spid="4"/>
                                        </p:tgtEl>
                                        <p:attrNameLst>
                                          <p:attrName>ppt_y</p:attrName>
                                        </p:attrNameLst>
                                      </p:cBhvr>
                                      <p:tavLst>
                                        <p:tav tm="0">
                                          <p:val>
                                            <p:strVal val="#ppt_y+.05"/>
                                          </p:val>
                                        </p:tav>
                                        <p:tav tm="100000">
                                          <p:val>
                                            <p:strVal val="#ppt_y"/>
                                          </p:val>
                                        </p:tav>
                                      </p:tavLst>
                                    </p:anim>
                                    <p:animEffect transition="in" filter="fade">
                                      <p:cBhvr>
                                        <p:cTn id="11" dur="900"/>
                                        <p:tgtEl>
                                          <p:spTgt spid="4"/>
                                        </p:tgtEl>
                                      </p:cBhvr>
                                    </p:animEffect>
                                  </p:childTnLst>
                                </p:cTn>
                              </p:par>
                              <p:par>
                                <p:cTn id="12" presetID="10" presetClass="entr" presetSubtype="0" fill="hold" grpId="0" nodeType="withEffect">
                                  <p:stCondLst>
                                    <p:cond delay="150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800"/>
                                        <p:tgtEl>
                                          <p:spTgt spid="5"/>
                                        </p:tgtEl>
                                      </p:cBhvr>
                                    </p:animEffect>
                                  </p:childTnLst>
                                </p:cTn>
                              </p:par>
                              <p:par>
                                <p:cTn id="15" presetID="10" presetClass="entr" presetSubtype="0" fill="hold" grpId="0" nodeType="withEffect">
                                  <p:stCondLst>
                                    <p:cond delay="210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700"/>
                                        <p:tgtEl>
                                          <p:spTgt spid="6"/>
                                        </p:tgtEl>
                                      </p:cBhvr>
                                    </p:animEffect>
                                  </p:childTnLst>
                                </p:cTn>
                              </p:par>
                              <p:par>
                                <p:cTn id="18" presetID="10" presetClass="entr" presetSubtype="0" fill="hold" grpId="0" nodeType="withEffect">
                                  <p:stCondLst>
                                    <p:cond delay="250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Lst>
  </p:timing>
</p:sld>
</file>

<file path=ppt/theme/theme1.xml><?xml version="1.0" encoding="utf-8"?>
<a:theme xmlns:a="http://schemas.openxmlformats.org/drawingml/2006/main" name="Lokal Finder">
  <a:themeElements>
    <a:clrScheme name="Lokal Finder">
      <a:dk1>
        <a:srgbClr val="0D2B1A"/>
      </a:dk1>
      <a:lt1>
        <a:srgbClr val="FFFFFF"/>
      </a:lt1>
      <a:dk2>
        <a:srgbClr val="0F4A32"/>
      </a:dk2>
      <a:lt2>
        <a:srgbClr val="F0F7F3"/>
      </a:lt2>
      <a:accent1>
        <a:srgbClr val="0E8A5A"/>
      </a:accent1>
      <a:accent2>
        <a:srgbClr val="12B76A"/>
      </a:accent2>
      <a:accent3>
        <a:srgbClr val="F59E0B"/>
      </a:accent3>
      <a:accent4>
        <a:srgbClr val="1A6B4A"/>
      </a:accent4>
      <a:accent5>
        <a:srgbClr val="6B8F7A"/>
      </a:accent5>
      <a:accent6>
        <a:srgbClr val="F5C842"/>
      </a:accent6>
      <a:hlink>
        <a:srgbClr val="0E8A5A"/>
      </a:hlink>
      <a:folHlink>
        <a:srgbClr val="6B8F7A"/>
      </a:folHlink>
    </a:clrScheme>
    <a:fontScheme name="Lokal Find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Lokal Finder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Lokal Finder: business and product overview</dc:title>
  <dc:subject>Lokal Finder presentation for partners, investors and business stakeholders</dc:subject>
  <dc:creator>Lokal Finder</dc:creator>
  <cp:lastModifiedBy>Lokal Finder</cp:lastModifiedBy>
  <cp:revision>1</cp:revision>
  <dcterms:created xsi:type="dcterms:W3CDTF">2026-10-29T02:58:48Z</dcterms:created>
  <dcterms:modified xsi:type="dcterms:W3CDTF">2026-10-29T02:58:48Z</dcterms:modified>
</cp:coreProperties>
</file>